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6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7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8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9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87a146ac-d641-7dd0-edb3-e39753938cf8}">
          <p14:sldIdLst>
            <p14:sldId id="256"/>
            <p14:sldId id="257"/>
          </p14:sldIdLst>
        </p14:section>
        <p14:section name="Setup &amp; strategy" id="{e61eae66-9b8f-e61c-d482-723951371a0e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Quarterly decisions" id="{ed1ed297-68c1-4374-b58d-b5780be75cad}">
          <p14:sldIdLst>
            <p14:sldId id="264"/>
            <p14:sldId id="265"/>
          </p14:sldIdLst>
        </p14:section>
        <p14:section name="Performance" id="{879a5217-d670-2955-c682-b4827e998a97}">
          <p14:sldIdLst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Review" id="{b270795a-84c4-e4e4-6ae4-99220c2dfbc5}">
          <p14:sldIdLst>
            <p14:sldId id="273"/>
            <p14:sldId id="274"/>
            <p14:sldId id="275"/>
            <p14:sldId id="276"/>
          </p14:sldIdLst>
        </p14:section>
        <p14:section name="Appendix" id="{db5f7e77-07be-b22c-194d-64edabc94045}">
          <p14:sldIdLst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stress (× normal)</c:v>
                </c:pt>
              </c:strCache>
            </c:strRef>
          </c:tx>
          <c:spPr>
            <a:solidFill>
              <a:srgbClr val="7A1F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Y1 Q1</c:v>
                  </c:pt>
                  <c:pt idx="1">
                    <c:v>Y1 Q2</c:v>
                  </c:pt>
                  <c:pt idx="2">
                    <c:v>Y1 Q3</c:v>
                  </c:pt>
                  <c:pt idx="3">
                    <c:v>Y1 Q4</c:v>
                  </c:pt>
                  <c:pt idx="4">
                    <c:v>Y2 Q1</c:v>
                  </c:pt>
                  <c:pt idx="5">
                    <c:v>Y2 Q2</c:v>
                  </c:pt>
                  <c:pt idx="6">
                    <c:v>Y2 Q3</c:v>
                  </c:pt>
                  <c:pt idx="7">
                    <c:v>Y2 Q4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1.4</c:v>
                </c:pt>
                <c:pt idx="1">
                  <c:v>2</c:v>
                </c:pt>
                <c:pt idx="2">
                  <c:v>2.6</c:v>
                </c:pt>
                <c:pt idx="3">
                  <c:v>3</c:v>
                </c:pt>
                <c:pt idx="4">
                  <c:v>2.7</c:v>
                </c:pt>
                <c:pt idx="5">
                  <c:v>2.2</c:v>
                </c:pt>
                <c:pt idx="6">
                  <c:v>1.7</c:v>
                </c:pt>
                <c:pt idx="7">
                  <c:v>1.4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GDP growth (%)</c:v>
                </c:pt>
              </c:strCache>
            </c:strRef>
          </c:tx>
          <c:spPr>
            <a:solidFill>
              <a:srgbClr val="E87722"/>
            </a:solidFill>
            <a:ln w="31750" cap="flat">
              <a:solidFill>
                <a:srgbClr val="E8772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7722"/>
              </a:solidFill>
              <a:ln w="9525" cap="flat">
                <a:solidFill>
                  <a:srgbClr val="E8772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Y1 Q1</c:v>
                  </c:pt>
                  <c:pt idx="1">
                    <c:v>Y1 Q2</c:v>
                  </c:pt>
                  <c:pt idx="2">
                    <c:v>Y1 Q3</c:v>
                  </c:pt>
                  <c:pt idx="3">
                    <c:v>Y1 Q4</c:v>
                  </c:pt>
                  <c:pt idx="4">
                    <c:v>Y2 Q1</c:v>
                  </c:pt>
                  <c:pt idx="5">
                    <c:v>Y2 Q2</c:v>
                  </c:pt>
                  <c:pt idx="6">
                    <c:v>Y2 Q3</c:v>
                  </c:pt>
                  <c:pt idx="7">
                    <c:v>Y2 Q4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4.8</c:v>
                </c:pt>
                <c:pt idx="1">
                  <c:v>3.5</c:v>
                </c:pt>
                <c:pt idx="2">
                  <c:v>2.2</c:v>
                </c:pt>
                <c:pt idx="3">
                  <c:v>1.8</c:v>
                </c:pt>
                <c:pt idx="4">
                  <c:v>2.5</c:v>
                </c:pt>
                <c:pt idx="5">
                  <c:v>3.5</c:v>
                </c:pt>
                <c:pt idx="6">
                  <c:v>4.5</c:v>
                </c:pt>
                <c:pt idx="7">
                  <c:v>5.5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5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95959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95959"/>
                    </a:solidFill>
                    <a:latin typeface="Arial"/>
                  </a:rPr>
                  <a:t>Default stress (×)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7"/>
          <c:min val="0"/>
        </c:scaling>
        <c:delete val="0"/>
        <c:axPos val="r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95959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95959"/>
                    </a:solidFill>
                    <a:latin typeface="Arial"/>
                  </a:rPr>
                  <a:t>GDP growth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 conditions</c:v>
                </c:pt>
              </c:strCache>
            </c:strRef>
          </c:tx>
          <c:spPr>
            <a:solidFill>
              <a:srgbClr val="7A1F2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040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Secured retail</c:v>
                  </c:pt>
                  <c:pt idx="1">
                    <c:v>Unsecured retail</c:v>
                  </c:pt>
                  <c:pt idx="2">
                    <c:v>Business bkg &amp; SME</c:v>
                  </c:pt>
                  <c:pt idx="3">
                    <c:v>Rural &amp; agri</c:v>
                  </c:pt>
                  <c:pt idx="4">
                    <c:v>Corporate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17.3</c:v>
                </c:pt>
                <c:pt idx="1">
                  <c:v>16.7</c:v>
                </c:pt>
                <c:pt idx="2">
                  <c:v>14.5</c:v>
                </c:pt>
                <c:pt idx="3">
                  <c:v>8.8</c:v>
                </c:pt>
                <c:pt idx="4">
                  <c:v>15.9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At the trough (Y1 Q4)</c:v>
                </c:pt>
              </c:strCache>
            </c:strRef>
          </c:tx>
          <c:spPr>
            <a:solidFill>
              <a:srgbClr val="E8772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040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Secured retail</c:v>
                  </c:pt>
                  <c:pt idx="1">
                    <c:v>Unsecured retail</c:v>
                  </c:pt>
                  <c:pt idx="2">
                    <c:v>Business bkg &amp; SME</c:v>
                  </c:pt>
                  <c:pt idx="3">
                    <c:v>Rural &amp; agri</c:v>
                  </c:pt>
                  <c:pt idx="4">
                    <c:v>Corporate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11.3</c:v>
                </c:pt>
                <c:pt idx="1">
                  <c:v>5</c:v>
                </c:pt>
                <c:pt idx="2">
                  <c:v>9</c:v>
                </c:pt>
                <c:pt idx="3">
                  <c:v>-1.1</c:v>
                </c:pt>
                <c:pt idx="4">
                  <c:v>12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40404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95959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95959"/>
                    </a:solidFill>
                    <a:latin typeface="Arial"/>
                  </a:rPr>
                  <a:t>RAROC %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Mar-26 (start)</c:v>
                </c:pt>
              </c:strCache>
            </c:strRef>
          </c:tx>
          <c:spPr>
            <a:solidFill>
              <a:srgbClr val="C9A3A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040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Secured retail</c:v>
                  </c:pt>
                  <c:pt idx="1">
                    <c:v>Unsecured retail</c:v>
                  </c:pt>
                  <c:pt idx="2">
                    <c:v>Business bkg &amp; SME</c:v>
                  </c:pt>
                  <c:pt idx="3">
                    <c:v>Rural &amp; agri</c:v>
                  </c:pt>
                  <c:pt idx="4">
                    <c:v>Corporate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597</c:v>
                </c:pt>
                <c:pt idx="1">
                  <c:v>186</c:v>
                </c:pt>
                <c:pt idx="2">
                  <c:v>301</c:v>
                </c:pt>
                <c:pt idx="3">
                  <c:v>90</c:v>
                </c:pt>
                <c:pt idx="4">
                  <c:v>379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 of Year 2</c:v>
                </c:pt>
              </c:strCache>
            </c:strRef>
          </c:tx>
          <c:spPr>
            <a:solidFill>
              <a:srgbClr val="7A1F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040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Secured retail</c:v>
                  </c:pt>
                  <c:pt idx="1">
                    <c:v>Unsecured retail</c:v>
                  </c:pt>
                  <c:pt idx="2">
                    <c:v>Business bkg &amp; SME</c:v>
                  </c:pt>
                  <c:pt idx="3">
                    <c:v>Rural &amp; agri</c:v>
                  </c:pt>
                  <c:pt idx="4">
                    <c:v>Corporate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695</c:v>
                </c:pt>
                <c:pt idx="1">
                  <c:v>174</c:v>
                </c:pt>
                <c:pt idx="2">
                  <c:v>336</c:v>
                </c:pt>
                <c:pt idx="3">
                  <c:v>95</c:v>
                </c:pt>
                <c:pt idx="4">
                  <c:v>449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40404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95959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95959"/>
                    </a:solidFill>
                    <a:latin typeface="Arial"/>
                  </a:rPr>
                  <a:t>Net advances, ₹ '000 cr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Pre-provision profit</c:v>
                </c:pt>
              </c:strCache>
            </c:strRef>
          </c:tx>
          <c:spPr>
            <a:solidFill>
              <a:srgbClr val="C9A3A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Y1 Q1</c:v>
                  </c:pt>
                  <c:pt idx="1">
                    <c:v>Y1 Q2</c:v>
                  </c:pt>
                  <c:pt idx="2">
                    <c:v>Y1 Q3</c:v>
                  </c:pt>
                  <c:pt idx="3">
                    <c:v>Y1 Q4</c:v>
                  </c:pt>
                  <c:pt idx="4">
                    <c:v>Y2 Q1</c:v>
                  </c:pt>
                  <c:pt idx="5">
                    <c:v>Y2 Q2</c:v>
                  </c:pt>
                  <c:pt idx="6">
                    <c:v>Y2 Q3</c:v>
                  </c:pt>
                  <c:pt idx="7">
                    <c:v>Y2 Q4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17841</c:v>
                </c:pt>
                <c:pt idx="1">
                  <c:v>17724</c:v>
                </c:pt>
                <c:pt idx="2">
                  <c:v>17526</c:v>
                </c:pt>
                <c:pt idx="3">
                  <c:v>16977</c:v>
                </c:pt>
                <c:pt idx="4">
                  <c:v>17297</c:v>
                </c:pt>
                <c:pt idx="5">
                  <c:v>17826</c:v>
                </c:pt>
                <c:pt idx="6">
                  <c:v>18491</c:v>
                </c:pt>
                <c:pt idx="7">
                  <c:v>19490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Provisions</c:v>
                </c:pt>
              </c:strCache>
            </c:strRef>
          </c:tx>
          <c:spPr>
            <a:solidFill>
              <a:srgbClr val="E877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Y1 Q1</c:v>
                  </c:pt>
                  <c:pt idx="1">
                    <c:v>Y1 Q2</c:v>
                  </c:pt>
                  <c:pt idx="2">
                    <c:v>Y1 Q3</c:v>
                  </c:pt>
                  <c:pt idx="3">
                    <c:v>Y1 Q4</c:v>
                  </c:pt>
                  <c:pt idx="4">
                    <c:v>Y2 Q1</c:v>
                  </c:pt>
                  <c:pt idx="5">
                    <c:v>Y2 Q2</c:v>
                  </c:pt>
                  <c:pt idx="6">
                    <c:v>Y2 Q3</c:v>
                  </c:pt>
                  <c:pt idx="7">
                    <c:v>Y2 Q4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4902</c:v>
                </c:pt>
                <c:pt idx="1">
                  <c:v>6956</c:v>
                </c:pt>
                <c:pt idx="2">
                  <c:v>6798</c:v>
                </c:pt>
                <c:pt idx="3">
                  <c:v>6695</c:v>
                </c:pt>
                <c:pt idx="4">
                  <c:v>5453</c:v>
                </c:pt>
                <c:pt idx="5">
                  <c:v>5036</c:v>
                </c:pt>
                <c:pt idx="6">
                  <c:v>3156</c:v>
                </c:pt>
                <c:pt idx="7">
                  <c:v>2614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Net profit</c:v>
                </c:pt>
              </c:strCache>
            </c:strRef>
          </c:tx>
          <c:spPr>
            <a:solidFill>
              <a:srgbClr val="7A1F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Y1 Q1</c:v>
                  </c:pt>
                  <c:pt idx="1">
                    <c:v>Y1 Q2</c:v>
                  </c:pt>
                  <c:pt idx="2">
                    <c:v>Y1 Q3</c:v>
                  </c:pt>
                  <c:pt idx="3">
                    <c:v>Y1 Q4</c:v>
                  </c:pt>
                  <c:pt idx="4">
                    <c:v>Y2 Q1</c:v>
                  </c:pt>
                  <c:pt idx="5">
                    <c:v>Y2 Q2</c:v>
                  </c:pt>
                  <c:pt idx="6">
                    <c:v>Y2 Q3</c:v>
                  </c:pt>
                  <c:pt idx="7">
                    <c:v>Y2 Q4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9682</c:v>
                </c:pt>
                <c:pt idx="1">
                  <c:v>8057</c:v>
                </c:pt>
                <c:pt idx="2">
                  <c:v>8028</c:v>
                </c:pt>
                <c:pt idx="3">
                  <c:v>7694</c:v>
                </c:pt>
                <c:pt idx="4">
                  <c:v>8863</c:v>
                </c:pt>
                <c:pt idx="5">
                  <c:v>9570</c:v>
                </c:pt>
                <c:pt idx="6">
                  <c:v>11475</c:v>
                </c:pt>
                <c:pt idx="7">
                  <c:v>12628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95959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95959"/>
                    </a:solidFill>
                    <a:latin typeface="Arial"/>
                  </a:rPr>
                  <a:t>₹ crore per quarter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Provisions (₹ cr)</c:v>
                </c:pt>
              </c:strCache>
            </c:strRef>
          </c:tx>
          <c:spPr>
            <a:solidFill>
              <a:srgbClr val="E6C3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Start</c:v>
                  </c:pt>
                  <c:pt idx="1">
                    <c:v>Y1 Q1</c:v>
                  </c:pt>
                  <c:pt idx="2">
                    <c:v>Y1 Q2</c:v>
                  </c:pt>
                  <c:pt idx="3">
                    <c:v>Y1 Q3</c:v>
                  </c:pt>
                  <c:pt idx="4">
                    <c:v>Y1 Q4</c:v>
                  </c:pt>
                  <c:pt idx="5">
                    <c:v>Y2 Q1</c:v>
                  </c:pt>
                  <c:pt idx="6">
                    <c:v>Y2 Q2</c:v>
                  </c:pt>
                  <c:pt idx="7">
                    <c:v>Y2 Q3</c:v>
                  </c:pt>
                  <c:pt idx="8">
                    <c:v>Y2 Q4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1345</c:v>
                </c:pt>
                <c:pt idx="1">
                  <c:v>4902</c:v>
                </c:pt>
                <c:pt idx="2">
                  <c:v>6956</c:v>
                </c:pt>
                <c:pt idx="3">
                  <c:v>6798</c:v>
                </c:pt>
                <c:pt idx="4">
                  <c:v>6695</c:v>
                </c:pt>
                <c:pt idx="5">
                  <c:v>5453</c:v>
                </c:pt>
                <c:pt idx="6">
                  <c:v>5036</c:v>
                </c:pt>
                <c:pt idx="7">
                  <c:v>3156</c:v>
                </c:pt>
                <c:pt idx="8">
                  <c:v>2614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Gross NPA %</c:v>
                </c:pt>
              </c:strCache>
            </c:strRef>
          </c:tx>
          <c:spPr>
            <a:solidFill>
              <a:srgbClr val="7A1F2B"/>
            </a:solidFill>
            <a:ln w="31750" cap="flat">
              <a:solidFill>
                <a:srgbClr val="7A1F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A1F2B"/>
              </a:solidFill>
              <a:ln w="9525" cap="flat">
                <a:solidFill>
                  <a:srgbClr val="7A1F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Start</c:v>
                  </c:pt>
                  <c:pt idx="1">
                    <c:v>Y1 Q1</c:v>
                  </c:pt>
                  <c:pt idx="2">
                    <c:v>Y1 Q2</c:v>
                  </c:pt>
                  <c:pt idx="3">
                    <c:v>Y1 Q3</c:v>
                  </c:pt>
                  <c:pt idx="4">
                    <c:v>Y1 Q4</c:v>
                  </c:pt>
                  <c:pt idx="5">
                    <c:v>Y2 Q1</c:v>
                  </c:pt>
                  <c:pt idx="6">
                    <c:v>Y2 Q2</c:v>
                  </c:pt>
                  <c:pt idx="7">
                    <c:v>Y2 Q3</c:v>
                  </c:pt>
                  <c:pt idx="8">
                    <c:v>Y2 Q4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1.4</c:v>
                </c:pt>
                <c:pt idx="1">
                  <c:v>1.56</c:v>
                </c:pt>
                <c:pt idx="2">
                  <c:v>1.87</c:v>
                </c:pt>
                <c:pt idx="3">
                  <c:v>2.29</c:v>
                </c:pt>
                <c:pt idx="4">
                  <c:v>2.74</c:v>
                </c:pt>
                <c:pt idx="5">
                  <c:v>2.98</c:v>
                </c:pt>
                <c:pt idx="6">
                  <c:v>3</c:v>
                </c:pt>
                <c:pt idx="7">
                  <c:v>2.83</c:v>
                </c:pt>
                <c:pt idx="8">
                  <c:v>2.59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95959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95959"/>
                    </a:solidFill>
                    <a:latin typeface="Arial"/>
                  </a:rPr>
                  <a:t>Provisions ₹ cr / qtr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3.5"/>
          <c:min val="0"/>
        </c:scaling>
        <c:delete val="0"/>
        <c:axPos val="r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95959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95959"/>
                    </a:solidFill>
                    <a:latin typeface="Arial"/>
                  </a:rPr>
                  <a:t>Gross NPA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capital (CRAR)</c:v>
                </c:pt>
              </c:strCache>
            </c:strRef>
          </c:tx>
          <c:spPr>
            <a:solidFill>
              <a:srgbClr val="7A1F2B"/>
            </a:solidFill>
            <a:ln w="28575" cap="flat">
              <a:solidFill>
                <a:srgbClr val="7A1F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A1F2B"/>
              </a:solidFill>
              <a:ln w="9525" cap="flat">
                <a:solidFill>
                  <a:srgbClr val="7A1F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Start</c:v>
                  </c:pt>
                  <c:pt idx="1">
                    <c:v>Y1 Q1</c:v>
                  </c:pt>
                  <c:pt idx="2">
                    <c:v>Y1 Q2</c:v>
                  </c:pt>
                  <c:pt idx="3">
                    <c:v>Y1 Q3</c:v>
                  </c:pt>
                  <c:pt idx="4">
                    <c:v>Y1 Q4</c:v>
                  </c:pt>
                  <c:pt idx="5">
                    <c:v>Y2 Q1</c:v>
                  </c:pt>
                  <c:pt idx="6">
                    <c:v>Y2 Q2</c:v>
                  </c:pt>
                  <c:pt idx="7">
                    <c:v>Y2 Q3</c:v>
                  </c:pt>
                  <c:pt idx="8">
                    <c:v>Y2 Q4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17.18</c:v>
                </c:pt>
                <c:pt idx="1">
                  <c:v>17.37</c:v>
                </c:pt>
                <c:pt idx="2">
                  <c:v>17.18</c:v>
                </c:pt>
                <c:pt idx="3">
                  <c:v>17.42</c:v>
                </c:pt>
                <c:pt idx="4">
                  <c:v>17.61</c:v>
                </c:pt>
                <c:pt idx="5">
                  <c:v>17.79</c:v>
                </c:pt>
                <c:pt idx="6">
                  <c:v>17.64</c:v>
                </c:pt>
                <c:pt idx="7">
                  <c:v>17.81</c:v>
                </c:pt>
                <c:pt idx="8">
                  <c:v>17.97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CET-1</c:v>
                </c:pt>
              </c:strCache>
            </c:strRef>
          </c:tx>
          <c:spPr>
            <a:solidFill>
              <a:srgbClr val="E87722"/>
            </a:solidFill>
            <a:ln w="28575" cap="flat">
              <a:solidFill>
                <a:srgbClr val="E8772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87722"/>
              </a:solidFill>
              <a:ln w="9525" cap="flat">
                <a:solidFill>
                  <a:srgbClr val="E8772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Start</c:v>
                  </c:pt>
                  <c:pt idx="1">
                    <c:v>Y1 Q1</c:v>
                  </c:pt>
                  <c:pt idx="2">
                    <c:v>Y1 Q2</c:v>
                  </c:pt>
                  <c:pt idx="3">
                    <c:v>Y1 Q3</c:v>
                  </c:pt>
                  <c:pt idx="4">
                    <c:v>Y1 Q4</c:v>
                  </c:pt>
                  <c:pt idx="5">
                    <c:v>Y2 Q1</c:v>
                  </c:pt>
                  <c:pt idx="6">
                    <c:v>Y2 Q2</c:v>
                  </c:pt>
                  <c:pt idx="7">
                    <c:v>Y2 Q3</c:v>
                  </c:pt>
                  <c:pt idx="8">
                    <c:v>Y2 Q4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16.35</c:v>
                </c:pt>
                <c:pt idx="1">
                  <c:v>16.55</c:v>
                </c:pt>
                <c:pt idx="2">
                  <c:v>16.37</c:v>
                </c:pt>
                <c:pt idx="3">
                  <c:v>16.62</c:v>
                </c:pt>
                <c:pt idx="4">
                  <c:v>16.81</c:v>
                </c:pt>
                <c:pt idx="5">
                  <c:v>17</c:v>
                </c:pt>
                <c:pt idx="6">
                  <c:v>16.87</c:v>
                </c:pt>
                <c:pt idx="7">
                  <c:v>17.04</c:v>
                </c:pt>
                <c:pt idx="8">
                  <c:v>17.22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Minimum CRAR incl. buffers</c:v>
                </c:pt>
              </c:strCache>
            </c:strRef>
          </c:tx>
          <c:spPr>
            <a:solidFill>
              <a:srgbClr val="8C8C8C"/>
            </a:solidFill>
            <a:ln w="28575" cap="flat">
              <a:solidFill>
                <a:srgbClr val="8C8C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C8C8C"/>
              </a:solidFill>
              <a:ln w="9525" cap="flat">
                <a:solidFill>
                  <a:srgbClr val="8C8C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Start</c:v>
                  </c:pt>
                  <c:pt idx="1">
                    <c:v>Y1 Q1</c:v>
                  </c:pt>
                  <c:pt idx="2">
                    <c:v>Y1 Q2</c:v>
                  </c:pt>
                  <c:pt idx="3">
                    <c:v>Y1 Q3</c:v>
                  </c:pt>
                  <c:pt idx="4">
                    <c:v>Y1 Q4</c:v>
                  </c:pt>
                  <c:pt idx="5">
                    <c:v>Y2 Q1</c:v>
                  </c:pt>
                  <c:pt idx="6">
                    <c:v>Y2 Q2</c:v>
                  </c:pt>
                  <c:pt idx="7">
                    <c:v>Y2 Q3</c:v>
                  </c:pt>
                  <c:pt idx="8">
                    <c:v>Y2 Q4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11.7</c:v>
                </c:pt>
                <c:pt idx="1">
                  <c:v>11.7</c:v>
                </c:pt>
                <c:pt idx="2">
                  <c:v>11.7</c:v>
                </c:pt>
                <c:pt idx="3">
                  <c:v>11.7</c:v>
                </c:pt>
                <c:pt idx="4">
                  <c:v>11.7</c:v>
                </c:pt>
                <c:pt idx="5">
                  <c:v>11.7</c:v>
                </c:pt>
                <c:pt idx="6">
                  <c:v>11.7</c:v>
                </c:pt>
                <c:pt idx="7">
                  <c:v>11.7</c:v>
                </c:pt>
                <c:pt idx="8">
                  <c:v>11.7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8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95959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95959"/>
                    </a:solidFill>
                    <a:latin typeface="Arial"/>
                  </a:rPr>
                  <a:t>% of risk-weighted assets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RAROC (annualised)</c:v>
                </c:pt>
              </c:strCache>
            </c:strRef>
          </c:tx>
          <c:spPr>
            <a:solidFill>
              <a:srgbClr val="7A1F2B"/>
            </a:solidFill>
            <a:ln w="31750" cap="flat">
              <a:solidFill>
                <a:srgbClr val="7A1F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A1F2B"/>
              </a:solidFill>
              <a:ln w="9525" cap="flat">
                <a:solidFill>
                  <a:srgbClr val="7A1F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FY26</c:v>
                  </c:pt>
                  <c:pt idx="1">
                    <c:v>Y1 Q1</c:v>
                  </c:pt>
                  <c:pt idx="2">
                    <c:v>Y1 Q2</c:v>
                  </c:pt>
                  <c:pt idx="3">
                    <c:v>Y1 Q3</c:v>
                  </c:pt>
                  <c:pt idx="4">
                    <c:v>Y1 Q4</c:v>
                  </c:pt>
                  <c:pt idx="5">
                    <c:v>Y2 Q1</c:v>
                  </c:pt>
                  <c:pt idx="6">
                    <c:v>Y2 Q2</c:v>
                  </c:pt>
                  <c:pt idx="7">
                    <c:v>Y2 Q3</c:v>
                  </c:pt>
                  <c:pt idx="8">
                    <c:v>Y2 Q4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18.2</c:v>
                </c:pt>
                <c:pt idx="1">
                  <c:v>16.9</c:v>
                </c:pt>
                <c:pt idx="2">
                  <c:v>15.1</c:v>
                </c:pt>
                <c:pt idx="3">
                  <c:v>13.6</c:v>
                </c:pt>
                <c:pt idx="4">
                  <c:v>11.9</c:v>
                </c:pt>
                <c:pt idx="5">
                  <c:v>12.9</c:v>
                </c:pt>
                <c:pt idx="6">
                  <c:v>14.3</c:v>
                </c:pt>
                <c:pt idx="7">
                  <c:v>15.9</c:v>
                </c:pt>
                <c:pt idx="8">
                  <c:v>17.2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Hurdle (cost of equity)</c:v>
                </c:pt>
              </c:strCache>
            </c:strRef>
          </c:tx>
          <c:spPr>
            <a:solidFill>
              <a:srgbClr val="E87722"/>
            </a:solidFill>
            <a:ln w="31750" cap="flat">
              <a:solidFill>
                <a:srgbClr val="E8772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7722"/>
              </a:solidFill>
              <a:ln w="9525" cap="flat">
                <a:solidFill>
                  <a:srgbClr val="E8772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FY26</c:v>
                  </c:pt>
                  <c:pt idx="1">
                    <c:v>Y1 Q1</c:v>
                  </c:pt>
                  <c:pt idx="2">
                    <c:v>Y1 Q2</c:v>
                  </c:pt>
                  <c:pt idx="3">
                    <c:v>Y1 Q3</c:v>
                  </c:pt>
                  <c:pt idx="4">
                    <c:v>Y1 Q4</c:v>
                  </c:pt>
                  <c:pt idx="5">
                    <c:v>Y2 Q1</c:v>
                  </c:pt>
                  <c:pt idx="6">
                    <c:v>Y2 Q2</c:v>
                  </c:pt>
                  <c:pt idx="7">
                    <c:v>Y2 Q3</c:v>
                  </c:pt>
                  <c:pt idx="8">
                    <c:v>Y2 Q4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14</c:v>
                </c:pt>
                <c:pt idx="1">
                  <c:v>14</c:v>
                </c:pt>
                <c:pt idx="2">
                  <c:v>14</c:v>
                </c:pt>
                <c:pt idx="3">
                  <c:v>14</c:v>
                </c:pt>
                <c:pt idx="4">
                  <c:v>14</c:v>
                </c:pt>
                <c:pt idx="5">
                  <c:v>14</c:v>
                </c:pt>
                <c:pt idx="6">
                  <c:v>14</c:v>
                </c:pt>
                <c:pt idx="7">
                  <c:v>14</c:v>
                </c:pt>
                <c:pt idx="8">
                  <c:v>14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8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95959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95959"/>
                    </a:solidFill>
                    <a:latin typeface="Arial"/>
                  </a:rPr>
                  <a:t>%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Credit share</c:v>
                </c:pt>
              </c:strCache>
            </c:strRef>
          </c:tx>
          <c:spPr>
            <a:solidFill>
              <a:srgbClr val="7A1F2B"/>
            </a:solidFill>
            <a:ln w="31750" cap="flat">
              <a:solidFill>
                <a:srgbClr val="7A1F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A1F2B"/>
              </a:solidFill>
              <a:ln w="9525" cap="flat">
                <a:solidFill>
                  <a:srgbClr val="7A1F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Start</c:v>
                  </c:pt>
                  <c:pt idx="1">
                    <c:v>Y1 Q1</c:v>
                  </c:pt>
                  <c:pt idx="2">
                    <c:v>Y1 Q2</c:v>
                  </c:pt>
                  <c:pt idx="3">
                    <c:v>Y1 Q3</c:v>
                  </c:pt>
                  <c:pt idx="4">
                    <c:v>Y1 Q4</c:v>
                  </c:pt>
                  <c:pt idx="5">
                    <c:v>Y2 Q1</c:v>
                  </c:pt>
                  <c:pt idx="6">
                    <c:v>Y2 Q2</c:v>
                  </c:pt>
                  <c:pt idx="7">
                    <c:v>Y2 Q3</c:v>
                  </c:pt>
                  <c:pt idx="8">
                    <c:v>Y2 Q4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7.62</c:v>
                </c:pt>
                <c:pt idx="1">
                  <c:v>7.61</c:v>
                </c:pt>
                <c:pt idx="2">
                  <c:v>7.61</c:v>
                </c:pt>
                <c:pt idx="3">
                  <c:v>7.62</c:v>
                </c:pt>
                <c:pt idx="4">
                  <c:v>7.66</c:v>
                </c:pt>
                <c:pt idx="5">
                  <c:v>7.7</c:v>
                </c:pt>
                <c:pt idx="6">
                  <c:v>7.72</c:v>
                </c:pt>
                <c:pt idx="7">
                  <c:v>7.73</c:v>
                </c:pt>
                <c:pt idx="8">
                  <c:v>7.71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Deposit share</c:v>
                </c:pt>
              </c:strCache>
            </c:strRef>
          </c:tx>
          <c:spPr>
            <a:solidFill>
              <a:srgbClr val="E87722"/>
            </a:solidFill>
            <a:ln w="31750" cap="flat">
              <a:solidFill>
                <a:srgbClr val="E8772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7722"/>
              </a:solidFill>
              <a:ln w="9525" cap="flat">
                <a:solidFill>
                  <a:srgbClr val="E8772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Start</c:v>
                  </c:pt>
                  <c:pt idx="1">
                    <c:v>Y1 Q1</c:v>
                  </c:pt>
                  <c:pt idx="2">
                    <c:v>Y1 Q2</c:v>
                  </c:pt>
                  <c:pt idx="3">
                    <c:v>Y1 Q3</c:v>
                  </c:pt>
                  <c:pt idx="4">
                    <c:v>Y1 Q4</c:v>
                  </c:pt>
                  <c:pt idx="5">
                    <c:v>Y2 Q1</c:v>
                  </c:pt>
                  <c:pt idx="6">
                    <c:v>Y2 Q2</c:v>
                  </c:pt>
                  <c:pt idx="7">
                    <c:v>Y2 Q3</c:v>
                  </c:pt>
                  <c:pt idx="8">
                    <c:v>Y2 Q4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6.84</c:v>
                </c:pt>
                <c:pt idx="1">
                  <c:v>6.85</c:v>
                </c:pt>
                <c:pt idx="2">
                  <c:v>6.87</c:v>
                </c:pt>
                <c:pt idx="3">
                  <c:v>6.89</c:v>
                </c:pt>
                <c:pt idx="4">
                  <c:v>6.91</c:v>
                </c:pt>
                <c:pt idx="5">
                  <c:v>6.93</c:v>
                </c:pt>
                <c:pt idx="6">
                  <c:v>6.94</c:v>
                </c:pt>
                <c:pt idx="7">
                  <c:v>6.95</c:v>
                </c:pt>
                <c:pt idx="8">
                  <c:v>6.96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.9"/>
          <c:min val="6.6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95959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95959"/>
                    </a:solidFill>
                    <a:latin typeface="Arial"/>
                  </a:rPr>
                  <a:t>% of all Indian banks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Year 1 average</c:v>
                </c:pt>
              </c:strCache>
            </c:strRef>
          </c:tx>
          <c:spPr>
            <a:solidFill>
              <a:srgbClr val="C9A3A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040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Safety of my money</c:v>
                  </c:pt>
                  <c:pt idx="1">
                    <c:v>Fair &amp; clear pricing</c:v>
                  </c:pt>
                  <c:pt idx="2">
                    <c:v>Support in repayment difficulty</c:v>
                  </c:pt>
                  <c:pt idx="3">
                    <c:v>Ease of resolving issues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4.38</c:v>
                </c:pt>
                <c:pt idx="1">
                  <c:v>3.82</c:v>
                </c:pt>
                <c:pt idx="2">
                  <c:v>3.75</c:v>
                </c:pt>
                <c:pt idx="3">
                  <c:v>4.11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Year 2 average</c:v>
                </c:pt>
              </c:strCache>
            </c:strRef>
          </c:tx>
          <c:spPr>
            <a:solidFill>
              <a:srgbClr val="7A1F2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040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Safety of my money</c:v>
                  </c:pt>
                  <c:pt idx="1">
                    <c:v>Fair &amp; clear pricing</c:v>
                  </c:pt>
                  <c:pt idx="2">
                    <c:v>Support in repayment difficulty</c:v>
                  </c:pt>
                  <c:pt idx="3">
                    <c:v>Ease of resolving issues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4.42</c:v>
                </c:pt>
                <c:pt idx="1">
                  <c:v>3.9</c:v>
                </c:pt>
                <c:pt idx="2">
                  <c:v>3.67</c:v>
                </c:pt>
                <c:pt idx="3">
                  <c:v>4.04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40404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1"/>
        </c:scaling>
        <c:delete val="0"/>
        <c:axPos val="b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7A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Bank  |  Banking Simulation – CIA 3  |  Simulation-period figures are fictional, not ICICI results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1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5A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722"/>
                </a:solidFill>
              </a:rPr>
              <a:t>BANKING SIMULATION  |  CIA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ICICI Bank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3D9C4"/>
                </a:solidFill>
              </a:rPr>
              <a:t>Steering India's second-largest private bank through a two-year recession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097280" cy="0"/>
          </a:xfrm>
          <a:prstGeom prst="line">
            <a:avLst/>
          </a:prstGeom>
          <a:noFill/>
          <a:ln w="25400">
            <a:solidFill>
              <a:srgbClr val="E8772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697480"/>
            <a:ext cx="5486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7722"/>
                </a:solidFill>
              </a:rPr>
              <a:t>Team members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[Name 1] – CEO &amp; Strategy – [App ID]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[Name 2] – CFO &amp; Treasury – [App ID]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[Name 3] – Chief Risk Officer – [App ID]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[Name 4] – Head of Retail &amp; Deposits – [App ID]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[Name 5] – Head of Customer &amp; Marketing – [App ID]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C9B0"/>
                </a:solidFill>
              </a:rPr>
              <a:t>Faculty: Prof. Apurva Mehta  •  Atlas University  •  Simulation from 21 Oct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A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Profitable every quarter, with more capital and share at exit</a:t>
            </a:r>
            <a:endParaRPr lang="en-US" sz="22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4F2F2"/>
          </a:solidFill>
          <a:ln w="9525">
            <a:solidFill>
              <a:srgbClr val="F4F2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₹42,537 cr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9222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1F"/>
                </a:solidFill>
              </a:rPr>
              <a:t>Year-2 net profit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116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Y1 ₹33,461 cr (−33.3% vs FY26)</a:t>
            </a:r>
            <a:endParaRPr lang="en-US" sz="1000" dirty="0"/>
          </a:p>
        </p:txBody>
      </p:sp>
      <p:sp>
        <p:nvSpPr>
          <p:cNvPr id="8" name="card"/>
          <p:cNvSpPr/>
          <p:nvPr/>
        </p:nvSpPr>
        <p:spPr>
          <a:xfrm>
            <a:off x="2560320" y="118872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4F2F2"/>
          </a:solidFill>
          <a:ln w="9525">
            <a:solidFill>
              <a:srgbClr val="F4F2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97480" y="12984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3.00%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179222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1F"/>
                </a:solidFill>
              </a:rPr>
              <a:t>Peak gross NPA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20116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from 1.40% at start; 2.59% at exit</a:t>
            </a:r>
            <a:endParaRPr lang="en-US" sz="1000" dirty="0"/>
          </a:p>
        </p:txBody>
      </p:sp>
      <p:sp>
        <p:nvSpPr>
          <p:cNvPr id="12" name="card"/>
          <p:cNvSpPr/>
          <p:nvPr/>
        </p:nvSpPr>
        <p:spPr>
          <a:xfrm>
            <a:off x="4663440" y="118872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4F2F2"/>
          </a:solidFill>
          <a:ln w="9525">
            <a:solidFill>
              <a:srgbClr val="F4F2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12984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15.1%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179222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1F"/>
                </a:solidFill>
              </a:rPr>
              <a:t>Year-2 RAROC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20116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vs 14% hurdle; trough 11.9%</a:t>
            </a:r>
            <a:endParaRPr lang="en-US" sz="1000" dirty="0"/>
          </a:p>
        </p:txBody>
      </p:sp>
      <p:sp>
        <p:nvSpPr>
          <p:cNvPr id="16" name="card"/>
          <p:cNvSpPr/>
          <p:nvPr/>
        </p:nvSpPr>
        <p:spPr>
          <a:xfrm>
            <a:off x="6766560" y="118872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4F2F2"/>
          </a:solidFill>
          <a:ln w="9525">
            <a:solidFill>
              <a:srgbClr val="F4F2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03720" y="12984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 bp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179222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1F"/>
                </a:solidFill>
              </a:rPr>
              <a:t>Deposit market share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20116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6.84% → 6.96%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560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A1F2B"/>
                </a:solidFill>
              </a:rPr>
              <a:t>What hit us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103120" y="25603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</a:rPr>
              <a:t>Defaults rose to 3× normal, credit demand stalled and fee income fell; provisions jumped from ₹5,380 cr to ₹25,352 cr in Year 1.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200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A1F2B"/>
                </a:solidFill>
              </a:rPr>
              <a:t>What we did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103120" y="320040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</a:rPr>
              <a:t>Shrank unsecured retail, priced risk, paid a little more for stable deposits, used our ₹13,100 cr contingency buffer at the peak and kept lending to strong borrowers.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840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A1F2B"/>
                </a:solidFill>
              </a:rPr>
              <a:t>Where we ended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103120" y="38404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</a:rPr>
              <a:t>CET-1 17.22% (min 8.2%), customer satisfaction 81%, loan book +12.5% larger with unsecured share down to 9.9%.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STARTING POSITION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A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start from ICICI Bank's real FY2026 balance sheet</a:t>
            </a:r>
            <a:endParaRPr lang="en-US" sz="22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4F2F2"/>
          </a:solidFill>
          <a:ln w="9525">
            <a:solidFill>
              <a:srgbClr val="F4F2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2984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2"/>
                </a:solidFill>
              </a:rPr>
              <a:t>FUNDING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5361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₹17.95 lakh cr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011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deposits, 41.4% CASA; low-cost current &amp; savings accounts are ICICI's moat</a:t>
            </a:r>
            <a:endParaRPr lang="en-US" sz="1100" dirty="0"/>
          </a:p>
        </p:txBody>
      </p:sp>
      <p:sp>
        <p:nvSpPr>
          <p:cNvPr id="8" name="card"/>
          <p:cNvSpPr/>
          <p:nvPr/>
        </p:nvSpPr>
        <p:spPr>
          <a:xfrm>
            <a:off x="3246120" y="118872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4F2F2"/>
          </a:solidFill>
          <a:ln w="9525">
            <a:solidFill>
              <a:srgbClr val="F4F2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10712" y="12984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2"/>
                </a:solidFill>
              </a:rPr>
              <a:t>DEPLOYMENT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410712" y="15361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₹15.54 lakh cr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410712" y="2011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net advances: 50% retail, 19% business banking &amp; SME, 24% corporate, 6% rural</a:t>
            </a:r>
            <a:endParaRPr lang="en-US" sz="1100" dirty="0"/>
          </a:p>
        </p:txBody>
      </p:sp>
      <p:sp>
        <p:nvSpPr>
          <p:cNvPr id="12" name="card"/>
          <p:cNvSpPr/>
          <p:nvPr/>
        </p:nvSpPr>
        <p:spPr>
          <a:xfrm>
            <a:off x="6035040" y="118872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4F2F2"/>
          </a:solidFill>
          <a:ln w="9525">
            <a:solidFill>
              <a:srgbClr val="F4F2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99632" y="12984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2"/>
                </a:solidFill>
              </a:rPr>
              <a:t>EARNINGS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199632" y="15361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₹50,147 cr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199632" y="2011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FY26 profit after tax, +6.2% YoY; NIM 4.32%, cost-to-income 39.7%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154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1.40%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54787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Gross NPA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856232" y="3154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0.33%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856232" y="354787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Net NPA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255264" y="3154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16.35%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255264" y="354787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CET-1 ratio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654296" y="3154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17.18%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654296" y="354787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Total capital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053328" y="3154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₹13,100 cr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053328" y="354787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Contingency buffer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3154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7,511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354787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Branches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</a:rPr>
              <a:t>Initial capital for the simulation: net worth of about ₹3.52 lakh cr on total assets of ₹23.73 lakh cr. ICICI enters the downturn with one of the strongest balance sheets in Indian banking – the question is how to use that strength, not whether it survives.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</a:rPr>
              <a:t>Source: ICICI Bank performance review &amp; Form 6-K, quarter ended 31 Mar 2026 (standalone). Segment mix rounded from ICICI disclosures.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SIMULATION SET-UP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A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quarterly rounds, four decision levers, one scorecard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941832" cy="502920"/>
          </a:xfrm>
          <a:prstGeom prst="roundRect">
            <a:avLst>
              <a:gd name="adj" fmla="val 10909"/>
            </a:avLst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941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Round 1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Y1 Q1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90472" y="1188720"/>
            <a:ext cx="941832" cy="502920"/>
          </a:xfrm>
          <a:prstGeom prst="roundRect">
            <a:avLst>
              <a:gd name="adj" fmla="val 10909"/>
            </a:avLst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90472" y="1188720"/>
            <a:ext cx="941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Round 2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Y1 Q2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23744" y="1188720"/>
            <a:ext cx="941832" cy="502920"/>
          </a:xfrm>
          <a:prstGeom prst="roundRect">
            <a:avLst>
              <a:gd name="adj" fmla="val 10909"/>
            </a:avLst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23744" y="1188720"/>
            <a:ext cx="941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Round 3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Y1 Q3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57016" y="1188720"/>
            <a:ext cx="941832" cy="502920"/>
          </a:xfrm>
          <a:prstGeom prst="roundRect">
            <a:avLst>
              <a:gd name="adj" fmla="val 10909"/>
            </a:avLst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57016" y="1188720"/>
            <a:ext cx="941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Round 4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Y1 Q4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90288" y="1188720"/>
            <a:ext cx="941832" cy="502920"/>
          </a:xfrm>
          <a:prstGeom prst="roundRect">
            <a:avLst>
              <a:gd name="adj" fmla="val 10909"/>
            </a:avLst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90288" y="1188720"/>
            <a:ext cx="941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Round 5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Y2 Q1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23560" y="1188720"/>
            <a:ext cx="941832" cy="502920"/>
          </a:xfrm>
          <a:prstGeom prst="roundRect">
            <a:avLst>
              <a:gd name="adj" fmla="val 10909"/>
            </a:avLst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23560" y="1188720"/>
            <a:ext cx="941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Round 6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Y2 Q2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56832" y="1188720"/>
            <a:ext cx="941832" cy="502920"/>
          </a:xfrm>
          <a:prstGeom prst="roundRect">
            <a:avLst>
              <a:gd name="adj" fmla="val 10909"/>
            </a:avLst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56832" y="1188720"/>
            <a:ext cx="941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Round 7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Y2 Q3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90104" y="1188720"/>
            <a:ext cx="941832" cy="502920"/>
          </a:xfrm>
          <a:prstGeom prst="roundRect">
            <a:avLst>
              <a:gd name="adj" fmla="val 10909"/>
            </a:avLst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90104" y="1188720"/>
            <a:ext cx="941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Round 8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Y2 Q4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19202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722"/>
                </a:solidFill>
              </a:rPr>
              <a:t>DECISION LEVERS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212848"/>
            <a:ext cx="384048" cy="384048"/>
          </a:xfrm>
          <a:prstGeom prst="ellipse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215798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F2B"/>
                </a:solidFill>
              </a:rPr>
              <a:t>Investment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How much to grow each of five loan segments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2761488"/>
            <a:ext cx="384048" cy="384048"/>
          </a:xfrm>
          <a:prstGeom prst="ellipse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60120" y="270662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F2B"/>
                </a:solidFill>
              </a:rPr>
              <a:t>Pricing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Risk premium on loans, rate offers, FD premium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310128"/>
            <a:ext cx="384048" cy="384048"/>
          </a:xfrm>
          <a:prstGeom prst="ellipse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60120" y="325526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F2B"/>
                </a:solidFill>
              </a:rPr>
              <a:t>Marketing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Retention campaigns, digital &amp; service spend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3858768"/>
            <a:ext cx="384048" cy="384048"/>
          </a:xfrm>
          <a:prstGeom prst="ellipse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720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60120" y="380390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F2B"/>
                </a:solidFill>
              </a:rPr>
              <a:t>Risk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Underwriting, collections, coverage, buffer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754880" y="19202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722"/>
                </a:solidFill>
              </a:rPr>
              <a:t>TEAM ROLES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212848"/>
          <a:ext cx="3931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CEO &amp; Strategy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plan, round decisions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CFO &amp; Treasury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P&amp;L, capital, RAROC, liquidity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Chief Risk Officer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Underwriting, NPAs, provisions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– Retail &amp; Deposits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mix, pricing, CASA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– Customer &amp; Marketing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Campaigns, survey,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5" name="Text 32"/>
          <p:cNvSpPr txBox="1"/>
          <p:nvPr/>
        </p:nvSpPr>
        <p:spPr>
          <a:xfrm>
            <a:off x="45720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</a:rPr>
              <a:t>Scorecard per the brief: profitability (net income), customer satisfaction (survey), market share (% of total market) and risk-adjusted return (RAROC).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MARKET CONDITIONS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A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recession: defaults triple, demand stalls, RBI cuts rates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188720"/>
            <a:ext cx="384048" cy="384048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76072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263640" y="11430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A1F2B"/>
                </a:solidFill>
              </a:rPr>
              <a:t>Credit shock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</a:rPr>
              <a:t>Fresh slippages peak at 3.7% of loans (annualised) in Y1 Q4 – 2.5× normal even after tighter underwriting.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760720" y="2240280"/>
            <a:ext cx="384048" cy="384048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76072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263640" y="219456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A1F2B"/>
                </a:solidFill>
              </a:rPr>
              <a:t>Rate cuts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</a:rPr>
              <a:t>RBI repo falls 5.25% → 4.50%, squeezing loan yields faster than deposit costs.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760720" y="3291840"/>
            <a:ext cx="384048" cy="384048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76072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263640" y="32461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A1F2B"/>
                </a:solidFill>
              </a:rPr>
              <a:t>Demand &amp; fees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</a:rPr>
              <a:t>System credit growth slows to ~3% a year; fee activity drops 16% at the trough.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</a:rPr>
              <a:t>Scenario inputs on the Market sheet of our model; we replaced them each round with the conditions announced in class.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STRATEGY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A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plan: protect, price, retain – then rebuild</a:t>
            </a:r>
            <a:endParaRPr lang="en-US" sz="22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1965960" cy="2514600"/>
          </a:xfrm>
          <a:prstGeom prst="roundRect">
            <a:avLst>
              <a:gd name="adj" fmla="val 3721"/>
            </a:avLst>
          </a:prstGeom>
          <a:solidFill>
            <a:srgbClr val="F4F2F2"/>
          </a:solidFill>
          <a:ln w="9525">
            <a:solidFill>
              <a:srgbClr val="F4F2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0934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</a:rPr>
              <a:t>the balance sheet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920240"/>
            <a:ext cx="178308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</a:rPr>
              <a:t>Cut unsecured retail before defaults peak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</a:rPr>
              <a:t>Tighten underwriting up to 15%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</a:rPr>
              <a:t>Build, then spend, the contingency buffer</a:t>
            </a:r>
            <a:endParaRPr lang="en-US" sz="1100" dirty="0"/>
          </a:p>
        </p:txBody>
      </p:sp>
      <p:sp>
        <p:nvSpPr>
          <p:cNvPr id="8" name="card"/>
          <p:cNvSpPr/>
          <p:nvPr/>
        </p:nvSpPr>
        <p:spPr>
          <a:xfrm>
            <a:off x="2560320" y="1188720"/>
            <a:ext cx="1965960" cy="2514600"/>
          </a:xfrm>
          <a:prstGeom prst="roundRect">
            <a:avLst>
              <a:gd name="adj" fmla="val 3721"/>
            </a:avLst>
          </a:prstGeom>
          <a:solidFill>
            <a:srgbClr val="F4F2F2"/>
          </a:solidFill>
          <a:ln w="9525">
            <a:solidFill>
              <a:srgbClr val="F4F2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97480" y="12984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160934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</a:rPr>
              <a:t>risk honestly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670048" y="1920240"/>
            <a:ext cx="178308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</a:rPr>
              <a:t>+25–50 bp on unsecured &amp; SME loans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</a:rPr>
              <a:t>Small discount on home loans to win safe share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</a:rPr>
              <a:t>Reprice back down as losses fall</a:t>
            </a:r>
            <a:endParaRPr lang="en-US" sz="1100" dirty="0"/>
          </a:p>
        </p:txBody>
      </p:sp>
      <p:sp>
        <p:nvSpPr>
          <p:cNvPr id="12" name="card"/>
          <p:cNvSpPr/>
          <p:nvPr/>
        </p:nvSpPr>
        <p:spPr>
          <a:xfrm>
            <a:off x="4663440" y="1188720"/>
            <a:ext cx="1965960" cy="2514600"/>
          </a:xfrm>
          <a:prstGeom prst="roundRect">
            <a:avLst>
              <a:gd name="adj" fmla="val 3721"/>
            </a:avLst>
          </a:prstGeom>
          <a:solidFill>
            <a:srgbClr val="F4F2F2"/>
          </a:solidFill>
          <a:ln w="9525">
            <a:solidFill>
              <a:srgbClr val="F4F2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12984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160934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</a:rPr>
              <a:t>customers &amp; deposits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773168" y="1920240"/>
            <a:ext cx="178308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</a:rPr>
              <a:t>Salary &amp; current-account campaigns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</a:rPr>
              <a:t>10–15 bp FD premium at the peak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</a:rPr>
              <a:t>EMI-relief journeys in the iMobile app</a:t>
            </a:r>
            <a:endParaRPr lang="en-US" sz="1100" dirty="0"/>
          </a:p>
        </p:txBody>
      </p:sp>
      <p:sp>
        <p:nvSpPr>
          <p:cNvPr id="16" name="card"/>
          <p:cNvSpPr/>
          <p:nvPr/>
        </p:nvSpPr>
        <p:spPr>
          <a:xfrm>
            <a:off x="6766560" y="1188720"/>
            <a:ext cx="1965960" cy="2514600"/>
          </a:xfrm>
          <a:prstGeom prst="roundRect">
            <a:avLst>
              <a:gd name="adj" fmla="val 3721"/>
            </a:avLst>
          </a:prstGeom>
          <a:solidFill>
            <a:srgbClr val="F4F2F2"/>
          </a:solidFill>
          <a:ln w="9525">
            <a:solidFill>
              <a:srgbClr val="F4F2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03720" y="12984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7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REBUILD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160934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</a:rPr>
              <a:t>for the upturn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876288" y="1920240"/>
            <a:ext cx="178308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</a:rPr>
              <a:t>Restart SME &amp; rural lending in Year 2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</a:rPr>
              <a:t>Cut dividend ₹12 → ₹10 to retain capital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</a:rPr>
              <a:t>Rebuild the buffer once profits recover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886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1F2B"/>
                </a:solidFill>
              </a:rPr>
              <a:t>Objectives we set before Round 1:  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</a:rPr>
              <a:t>profit in every quarter  •  GNPA below 3.5%  •  CET-1 above 15%  •  RAROC back above 14% within two years  •  customer satisfaction ≥ 78%  •  no loss of market share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CAPITAL ALLOCATION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A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RAROC showed where to cut and where to keep lending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0" y="118872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3A2E"/>
                </a:solidFill>
              </a:rPr>
              <a:t>Shrink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</a:rPr>
              <a:t>Unsecured retail falls from 16.7% to 5.0% RAROC and rural turns negative – these books destroy value in a downturn.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224028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7D4E"/>
                </a:solidFill>
              </a:rPr>
              <a:t>Keep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</a:rPr>
              <a:t>Secured retail and AAA/AA corporate hold up best (11–12%) because collateral and ratings cap the loss.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329184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7722"/>
                </a:solidFill>
              </a:rPr>
              <a:t>Reprice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</a:rPr>
              <a:t>Every segment dips below the 14% hurdle at the trough, so we added risk premium rather than chase volume.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</a:rPr>
              <a:t>Segment RAROC = (yield − funds cost + fees − opex − PD×LGD) × (1 − tax) ÷ (risk weight × 12% economic capital). Model sheet: Segment_RAROC.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INVESTMENT STRATEGY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A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shifted the loan book towards collateral and strong corporates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5943600" y="118872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4F2F2"/>
          </a:solidFill>
          <a:ln w="9525">
            <a:solidFill>
              <a:srgbClr val="F4F2F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80760" y="12984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12.0% → 9.9%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080760" y="179222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1F"/>
                </a:solidFill>
              </a:rPr>
              <a:t>Unsecured share of loans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080760" y="2011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personal loans &amp; cards cut −8.2% by Y1 Q4</a:t>
            </a:r>
            <a:endParaRPr lang="en-US" sz="1000" dirty="0"/>
          </a:p>
        </p:txBody>
      </p:sp>
      <p:sp>
        <p:nvSpPr>
          <p:cNvPr id="9" name="card"/>
          <p:cNvSpPr/>
          <p:nvPr/>
        </p:nvSpPr>
        <p:spPr>
          <a:xfrm>
            <a:off x="5943600" y="246888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4F2F2"/>
          </a:solidFill>
          <a:ln w="9525">
            <a:solidFill>
              <a:srgbClr val="F4F2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80760" y="25786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+12.5%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080760" y="307238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1F"/>
                </a:solidFill>
              </a:rPr>
              <a:t>Total loan growth (2 years)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080760" y="32918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vs system credit +12.3% – we still gained share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</a:rPr>
              <a:t>Growth set each round on the Decisions sheet (investment lever).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QUARTERLY DECISIONS – YEAR 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A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1: get defensive early, then absorb the shock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874520"/>
                <a:gridCol w="3520440"/>
                <a:gridCol w="777240"/>
                <a:gridCol w="685800"/>
                <a:gridCol w="685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market did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decided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RAROC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 Q1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Defaults 1.4×, GDP 4.8%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Shrink unsecured 1%, tighten underwriting 5%, add ₹1,000 cr to buffer, launch salary-account campaign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₹9,682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F7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 Q2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 cut to 5.00%, defaults 2.0×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 bp risk premium, 10 bp FD premium, collections ₹250 cr, pay ₹12 dividend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₹8,057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F7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 Q3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Defaults 2.6×, RAROC &lt; hurdle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Unsecured −3%, underwriting −15%, premium 50 bp, PCR 77%, release ₹1,500 cr buffer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₹8,028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 Q4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Trough: defaults 3.0×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 ₹3,000 cr buffer, PCR 78%, keep secured &amp; corporate growing, freeze branch costs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₹7,694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2245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1420"/>
                </a:solidFill>
              </a:rPr>
              <a:t>Takeaway: quarterly profit fell from ₹9,682 cr to ₹7,694 cr, but never into a loss – the buffer we built in R1–R2 paid for itself in R3–R4.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QUARTERLY DECISIONS – YEAR 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A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2: hold discipline through the peak, then rebuild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874520"/>
                <a:gridCol w="3520440"/>
                <a:gridCol w="777240"/>
                <a:gridCol w="685800"/>
                <a:gridCol w="685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market did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decided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RAROC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Y2 Q1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Defaults easing to 2.7×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 ₹2,000 cr, keep collections strong, restart SME +1% and rural +0.5%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₹8,863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Y2 Q2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Defaults 2.2×, demand returns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Dividend cut to ₹10, premium halved to 25 bp, marketing ₹350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₹9,570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F7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Y2 Q3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 4.5%, fees recover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 all segments, end FD premium, rebuild buffer ₹500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₹11,475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F7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Y2 Q4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 5.5%, RBI hikes 25 bp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growth in secured, SME &amp; corporate; rebuild buffer ₹1,000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₹12,628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F7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2245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1420"/>
                </a:solidFill>
              </a:rPr>
              <a:t>Takeaway: once RAROC cleared 14% again in R6 we loosened carefully; Y2 Q4 profit of ₹12,628 cr is back above the pre-recession run-rate of ~₹12,500 cr a quarter.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PROFITABILITY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A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earnings held up; provisions did the damage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4864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188720"/>
          <a:ext cx="265176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594360"/>
                <a:gridCol w="594360"/>
                <a:gridCol w="5943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FY26 (A)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Y1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Y2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88,075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91,700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95,856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71,599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70,068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73,105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25,352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16,260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profit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50,147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33,461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42,537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035040" y="274320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7A1F2B"/>
                </a:solidFill>
              </a:rPr>
              <a:t>ROE 15.1% → 9.2% → 10.8%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</a:rPr>
              <a:t>Cost-to-income stayed near 42% even with ₹2,900 cr of extra marketing, digital and collections spend in Year 1.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</a:rPr>
              <a:t>₹ crore. FY26 = ICICI reported standalone. Y1–Y2 = simulation.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ASSET QUALITY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A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Gross NPAs doubled to 3.0%, then turned; coverage kept rising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5943600" y="114300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4F2F2"/>
          </a:solidFill>
          <a:ln w="9525">
            <a:solidFill>
              <a:srgbClr val="F4F2F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80760" y="12527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1.40% → 3.00%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080760" y="17465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1F"/>
                </a:solidFill>
              </a:rPr>
              <a:t>Gross NPA (peak Y2 Q2)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080760" y="1965960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net NPA peaked at only 0.68%</a:t>
            </a:r>
            <a:endParaRPr lang="en-US" sz="1000" dirty="0"/>
          </a:p>
        </p:txBody>
      </p:sp>
      <p:sp>
        <p:nvSpPr>
          <p:cNvPr id="9" name="card"/>
          <p:cNvSpPr/>
          <p:nvPr/>
        </p:nvSpPr>
        <p:spPr>
          <a:xfrm>
            <a:off x="5943600" y="2267712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4F2F2"/>
          </a:solidFill>
          <a:ln w="9525">
            <a:solidFill>
              <a:srgbClr val="F4F2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80760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75.8% → 78%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080760" y="28712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1F"/>
                </a:solidFill>
              </a:rPr>
              <a:t>Provision coverage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080760" y="3090672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we raised coverage while NPAs rose</a:t>
            </a:r>
            <a:endParaRPr lang="en-US" sz="1000" dirty="0"/>
          </a:p>
        </p:txBody>
      </p:sp>
      <p:sp>
        <p:nvSpPr>
          <p:cNvPr id="13" name="card"/>
          <p:cNvSpPr/>
          <p:nvPr/>
        </p:nvSpPr>
        <p:spPr>
          <a:xfrm>
            <a:off x="5943600" y="3392424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4F2F2"/>
          </a:solidFill>
          <a:ln w="9525">
            <a:solidFill>
              <a:srgbClr val="F4F2F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080760" y="35021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₹13,100 → ₹8,100 cr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080760" y="39959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1F"/>
                </a:solidFill>
              </a:rPr>
              <a:t>Contingency buffer used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080760" y="4215384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₹5,000 cr released at the peak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CAPITAL &amp; LIQUIDITY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A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 never came close to the regulatory floor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5943600" y="114300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4F2F2"/>
          </a:solidFill>
          <a:ln w="9525">
            <a:solidFill>
              <a:srgbClr val="F4F2F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80760" y="12527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17.97%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080760" y="17465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1F"/>
                </a:solidFill>
              </a:rPr>
              <a:t>Total capital at exit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080760" y="1965960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+6.3 pp above the 11.7% requirement</a:t>
            </a:r>
            <a:endParaRPr lang="en-US" sz="1000" dirty="0"/>
          </a:p>
        </p:txBody>
      </p:sp>
      <p:sp>
        <p:nvSpPr>
          <p:cNvPr id="9" name="card"/>
          <p:cNvSpPr/>
          <p:nvPr/>
        </p:nvSpPr>
        <p:spPr>
          <a:xfrm>
            <a:off x="5943600" y="2267712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4F2F2"/>
          </a:solidFill>
          <a:ln w="9525">
            <a:solidFill>
              <a:srgbClr val="F4F2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80760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86.6% → 80.0%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080760" y="28712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1F"/>
                </a:solidFill>
              </a:rPr>
              <a:t>Loan-to-deposit ratio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080760" y="3090672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deposits grew faster than loans</a:t>
            </a:r>
            <a:endParaRPr lang="en-US" sz="1000" dirty="0"/>
          </a:p>
        </p:txBody>
      </p:sp>
      <p:sp>
        <p:nvSpPr>
          <p:cNvPr id="13" name="card"/>
          <p:cNvSpPr/>
          <p:nvPr/>
        </p:nvSpPr>
        <p:spPr>
          <a:xfrm>
            <a:off x="5943600" y="3392424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4F2F2"/>
          </a:solidFill>
          <a:ln w="9525">
            <a:solidFill>
              <a:srgbClr val="F4F2F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080760" y="35021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41.4% → 40.1% → 41.1%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080760" y="39959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1F"/>
                </a:solidFill>
              </a:rPr>
              <a:t>CASA ratio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080760" y="4215384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dipped as savers chased FDs, then recovered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RISK-ADJUSTED RETURN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A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RAROC fell below our 14% hurdle for three rounds, and we acted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5943600" y="118872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4F2F2"/>
          </a:solidFill>
          <a:ln w="9525">
            <a:solidFill>
              <a:srgbClr val="F4F2F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80760" y="1261872"/>
            <a:ext cx="25146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A1F2B"/>
                </a:solidFill>
              </a:rPr>
              <a:t>How we calculate 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RAROC = (pre-provision profit − expected loss) × (1 − 25.17% tax) ÷ economic capital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Expected loss = PD × LGD × exposure, by segment. Economic capital = 12% of RWA.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2743200"/>
          <a:ext cx="27432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FY26 (actual base)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F7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Year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F7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Trough (Y1 Q4)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Year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F7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94360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1420"/>
                </a:solidFill>
              </a:rPr>
              <a:t>Below hurdle in R3–R5 → we repriced and cut weak segments rather than grow.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MARKET SHARE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A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gained share in deposits and loans through the downturn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5943600" y="118872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4F2F2"/>
          </a:solidFill>
          <a:ln w="9525">
            <a:solidFill>
              <a:srgbClr val="F4F2F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80760" y="12984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6.84% → 6.96%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080760" y="179222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1F"/>
                </a:solidFill>
              </a:rPr>
              <a:t>Deposit market share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080760" y="2011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+12 bp: 'safe bank' campaign + FD premium</a:t>
            </a:r>
            <a:endParaRPr lang="en-US" sz="1000" dirty="0"/>
          </a:p>
        </p:txBody>
      </p:sp>
      <p:sp>
        <p:nvSpPr>
          <p:cNvPr id="9" name="card"/>
          <p:cNvSpPr/>
          <p:nvPr/>
        </p:nvSpPr>
        <p:spPr>
          <a:xfrm>
            <a:off x="5943600" y="242316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4F2F2"/>
          </a:solidFill>
          <a:ln w="9525">
            <a:solidFill>
              <a:srgbClr val="F4F2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80760" y="25328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7.62% → 7.71%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080760" y="302666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1F"/>
                </a:solidFill>
              </a:rPr>
              <a:t>Credit market share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080760" y="3246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+9 bp: kept lending to strong borrowers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0" y="37033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95959"/>
                </a:solidFill>
              </a:rPr>
              <a:t>Denominator: RBI scheduled commercial banks – deposits ₹262.3 lakh cr and credit ~₹206 lakh cr at Mar-26, grown with the scenario's system growth rates.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CUSTOMER SATISFACTION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A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 felt the recession; hardship support scored lowest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1206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5760720" y="1188720"/>
            <a:ext cx="2926080" cy="1143000"/>
          </a:xfrm>
          <a:prstGeom prst="roundRect">
            <a:avLst>
              <a:gd name="adj" fmla="val 6400"/>
            </a:avLst>
          </a:prstGeom>
          <a:solidFill>
            <a:srgbClr val="F4F2F2"/>
          </a:solidFill>
          <a:ln w="9525">
            <a:solidFill>
              <a:srgbClr val="F4F2F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97880" y="129844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81%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897880" y="179222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1F"/>
                </a:solidFill>
              </a:rPr>
              <a:t>Satisfaction index (R8)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897880" y="20116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low of 79% in R5; target ≥ 78% met</a:t>
            </a:r>
            <a:endParaRPr lang="en-US" sz="1000" dirty="0"/>
          </a:p>
        </p:txBody>
      </p:sp>
      <p:sp>
        <p:nvSpPr>
          <p:cNvPr id="9" name="card"/>
          <p:cNvSpPr/>
          <p:nvPr/>
        </p:nvSpPr>
        <p:spPr>
          <a:xfrm>
            <a:off x="5760720" y="2423160"/>
            <a:ext cx="2926080" cy="1143000"/>
          </a:xfrm>
          <a:prstGeom prst="roundRect">
            <a:avLst>
              <a:gd name="adj" fmla="val 6400"/>
            </a:avLst>
          </a:prstGeom>
          <a:solidFill>
            <a:srgbClr val="F4F2F2"/>
          </a:solidFill>
          <a:ln w="9525">
            <a:solidFill>
              <a:srgbClr val="F4F2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97880" y="25328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+54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5897880" y="302666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1F"/>
                </a:solidFill>
              </a:rPr>
              <a:t>Net Promoter Score (R8)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897880" y="32461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fell to +34 at the trough, recovered by R8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</a:rPr>
              <a:t>Simulated survey: 50 customers per round, 1–5 scale plus 0–10 NPS. Scores move with our decisions (risk premium lowers 'fair pricing', collections and digital spend lift 'support'). Full questionnaire in the model.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SCORECARD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A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Scorecard: market share up; profit and RAROC still recovering</a:t>
            </a:r>
            <a:endParaRPr lang="en-US" sz="2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143000"/>
                <a:gridCol w="1143000"/>
                <a:gridCol w="1143000"/>
                <a:gridCol w="26974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FY26 (actual)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Year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Year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profit (₹ cr)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50,147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33,461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42,537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1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Profitable every quarter; Y2 −15% vs FY26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1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 above 14% hurdle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 market share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1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 bp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market share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1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 bp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satisfaction index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1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 78%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NPA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1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3.5% limit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CET-1 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16.35%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1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Stronger than at start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on equity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1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below pre-recession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SWOT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A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simulation revealed about ICICI Bank</a:t>
            </a:r>
            <a:endParaRPr lang="en-US" sz="2200" dirty="0"/>
          </a:p>
        </p:txBody>
      </p:sp>
      <p:sp>
        <p:nvSpPr>
          <p:cNvPr id="4" name="card"/>
          <p:cNvSpPr/>
          <p:nvPr/>
        </p:nvSpPr>
        <p:spPr>
          <a:xfrm>
            <a:off x="457200" y="1143000"/>
            <a:ext cx="4023360" cy="1572768"/>
          </a:xfrm>
          <a:prstGeom prst="roundRect">
            <a:avLst>
              <a:gd name="adj" fmla="val 4651"/>
            </a:avLst>
          </a:prstGeom>
          <a:solidFill>
            <a:srgbClr val="F4F2F2"/>
          </a:solidFill>
          <a:ln w="9525">
            <a:solidFill>
              <a:srgbClr val="F4F2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7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27048"/>
            <a:ext cx="379476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</a:rPr>
              <a:t>Capital: CET-1 never below 16.4% (min 8.2%)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</a:rPr>
              <a:t>Pre-provision profit ~₹17,000–19,500 cr a quarter absorbed the shock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</a:rPr>
              <a:t>41% CASA franchise kept funding cheap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</a:rPr>
              <a:t>₹13,100 cr buffer gave room to act</a:t>
            </a:r>
            <a:endParaRPr lang="en-US" sz="1100" dirty="0"/>
          </a:p>
        </p:txBody>
      </p:sp>
      <p:sp>
        <p:nvSpPr>
          <p:cNvPr id="7" name="card"/>
          <p:cNvSpPr/>
          <p:nvPr/>
        </p:nvSpPr>
        <p:spPr>
          <a:xfrm>
            <a:off x="4617720" y="1143000"/>
            <a:ext cx="4023360" cy="1572768"/>
          </a:xfrm>
          <a:prstGeom prst="roundRect">
            <a:avLst>
              <a:gd name="adj" fmla="val 4651"/>
            </a:avLst>
          </a:prstGeom>
          <a:solidFill>
            <a:srgbClr val="F4F2F2"/>
          </a:solidFill>
          <a:ln w="9525">
            <a:solidFill>
              <a:srgbClr val="F4F2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5488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WEAKNESSES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727448" y="1527048"/>
            <a:ext cx="379476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</a:rPr>
              <a:t>Year-1 profit −33.3% vs FY26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</a:rPr>
              <a:t>Unsecured retail RAROC collapsed to 5% under stress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</a:rPr>
              <a:t>NIM squeezed as 60% of loans repriced with repo cuts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</a:rPr>
              <a:t>Hardship support was the lowest survey score</a:t>
            </a:r>
            <a:endParaRPr lang="en-US" sz="1100" dirty="0"/>
          </a:p>
        </p:txBody>
      </p:sp>
      <p:sp>
        <p:nvSpPr>
          <p:cNvPr id="10" name="card"/>
          <p:cNvSpPr/>
          <p:nvPr/>
        </p:nvSpPr>
        <p:spPr>
          <a:xfrm>
            <a:off x="457200" y="2834640"/>
            <a:ext cx="4023360" cy="1572768"/>
          </a:xfrm>
          <a:prstGeom prst="roundRect">
            <a:avLst>
              <a:gd name="adj" fmla="val 4651"/>
            </a:avLst>
          </a:prstGeom>
          <a:solidFill>
            <a:srgbClr val="F4F2F2"/>
          </a:solidFill>
          <a:ln w="9525">
            <a:solidFill>
              <a:srgbClr val="F4F2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3218688"/>
            <a:ext cx="379476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</a:rPr>
              <a:t>Gained market share as weaker lenders retreated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</a:rPr>
              <a:t>Secured retail &amp; AAA corporate grew at acceptable returns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</a:rPr>
              <a:t>Digital EMI-relief journeys lift satisfaction cheaply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</a:rPr>
              <a:t>Restart SME lending early in the recovery</a:t>
            </a:r>
            <a:endParaRPr lang="en-US" sz="1100" dirty="0"/>
          </a:p>
        </p:txBody>
      </p:sp>
      <p:sp>
        <p:nvSpPr>
          <p:cNvPr id="13" name="card"/>
          <p:cNvSpPr/>
          <p:nvPr/>
        </p:nvSpPr>
        <p:spPr>
          <a:xfrm>
            <a:off x="4617720" y="2834640"/>
            <a:ext cx="4023360" cy="1572768"/>
          </a:xfrm>
          <a:prstGeom prst="roundRect">
            <a:avLst>
              <a:gd name="adj" fmla="val 4651"/>
            </a:avLst>
          </a:prstGeom>
          <a:solidFill>
            <a:srgbClr val="F4F2F2"/>
          </a:solidFill>
          <a:ln w="9525">
            <a:solidFill>
              <a:srgbClr val="F4F2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5488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727448" y="3218688"/>
            <a:ext cx="379476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</a:rPr>
              <a:t>A longer recession would exhaust the buffer (₹8,100 cr left)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</a:rPr>
              <a:t>Deposit price war if competitors chase FDs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</a:rPr>
              <a:t>Rural &amp; agri books destroy value in a downturn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</a:rPr>
              <a:t>Regulatory tightening on unsecured risk weights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ETHICS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A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profit and fairness pulled apart, how we decided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" cy="384048"/>
          </a:xfrm>
          <a:prstGeom prst="ellipse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143000"/>
            <a:ext cx="7726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1F2B"/>
                </a:solidFill>
              </a:rPr>
              <a:t>Fair pricing, not profiteering  </a:t>
            </a:r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</a:rPr>
              <a:t>We priced the extra risk (+25–50 bp) on unsecured and SME lending openly, and unwound the premium as soon as expected losses fell.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847088"/>
            <a:ext cx="384048" cy="384048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801368"/>
            <a:ext cx="7726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1F2B"/>
                </a:solidFill>
              </a:rPr>
              <a:t>Hardship before recovery agents  </a:t>
            </a:r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</a:rPr>
              <a:t>Collections spend went into early-warning calls and restructuring desks first; field recovery only after customers were offered EMI relief.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505456"/>
            <a:ext cx="384048" cy="384048"/>
          </a:xfrm>
          <a:prstGeom prst="ellipse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459736"/>
            <a:ext cx="7726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1F2B"/>
                </a:solidFill>
              </a:rPr>
              <a:t>Honest provisioning  </a:t>
            </a:r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</a:rPr>
              <a:t>We raised coverage from 75.8% to 78% while NPAs rose, rather than under-provisioning to flatter quarterly profit.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163824"/>
            <a:ext cx="384048" cy="384048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118104"/>
            <a:ext cx="7726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1F2B"/>
                </a:solidFill>
              </a:rPr>
              <a:t>Transparent use of the buffer  </a:t>
            </a:r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</a:rPr>
              <a:t>Releasing ₹5,000 cr of contingency provisions boosted reported profit – we disclose it explicitly so investors are not misled.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822192"/>
            <a:ext cx="384048" cy="384048"/>
          </a:xfrm>
          <a:prstGeom prst="ellipse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776472"/>
            <a:ext cx="7726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1F2B"/>
                </a:solidFill>
              </a:rPr>
              <a:t>Shareholders vs depositors  </a:t>
            </a:r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</a:rPr>
              <a:t>We cut the dividend from ₹12 to ₹10 in Year 2 to keep capital for depositors and new lending.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CHALLENGES &amp; LESSONS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A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would tell the next team facing a recession</a:t>
            </a:r>
            <a:endParaRPr lang="en-US" sz="2200" dirty="0"/>
          </a:p>
        </p:txBody>
      </p:sp>
      <p:sp>
        <p:nvSpPr>
          <p:cNvPr id="4" name="card"/>
          <p:cNvSpPr/>
          <p:nvPr/>
        </p:nvSpPr>
        <p:spPr>
          <a:xfrm>
            <a:off x="457200" y="114300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F4F2F2"/>
          </a:solidFill>
          <a:ln w="9525">
            <a:solidFill>
              <a:srgbClr val="F4F2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52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we faced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600200"/>
            <a:ext cx="2450592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</a:rPr>
              <a:t>Defaults rose faster than we expected in R2–R3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</a:rPr>
              <a:t>Rate cuts squeezed margins just when credit costs peaked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</a:rPr>
              <a:t>Every lever had a cost: FD premium hurt NIM, risk premium hurt satisfaction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</a:rPr>
              <a:t>Balancing shareholder payout against capital in R2</a:t>
            </a:r>
            <a:endParaRPr lang="en-US" sz="1100" dirty="0"/>
          </a:p>
        </p:txBody>
      </p:sp>
      <p:sp>
        <p:nvSpPr>
          <p:cNvPr id="7" name="card"/>
          <p:cNvSpPr/>
          <p:nvPr/>
        </p:nvSpPr>
        <p:spPr>
          <a:xfrm>
            <a:off x="3246120" y="114300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F7ECEC"/>
          </a:solidFill>
          <a:ln w="9525">
            <a:solidFill>
              <a:srgbClr val="F7EC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252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worked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355848" y="1600200"/>
            <a:ext cx="2450592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</a:rPr>
              <a:t>Moving first: shrinking unsecured in R1 before NPAs showed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</a:rPr>
              <a:t>Building the buffer early and spending it at the trough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</a:rPr>
              <a:t>Using segment RAROC, not just profit, to allocate capital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</a:rPr>
              <a:t>Keeping marketing on – share gains came cheapest in the downturn</a:t>
            </a:r>
            <a:endParaRPr lang="en-US" sz="1100" dirty="0"/>
          </a:p>
        </p:txBody>
      </p:sp>
      <p:sp>
        <p:nvSpPr>
          <p:cNvPr id="10" name="card"/>
          <p:cNvSpPr/>
          <p:nvPr/>
        </p:nvSpPr>
        <p:spPr>
          <a:xfrm>
            <a:off x="6035040" y="114300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F4F2F2"/>
          </a:solidFill>
          <a:ln w="9525">
            <a:solidFill>
              <a:srgbClr val="F4F2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252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would change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144768" y="1600200"/>
            <a:ext cx="2450592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</a:rPr>
              <a:t>Cut rural exposure earlier – it was the only segment with negative stress RAROC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</a:rPr>
              <a:t>Raise hardship support sooner – lowest customer score all simulation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</a:rPr>
              <a:t>Hold some FD premium longer to defend CASA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1420"/>
                </a:solidFill>
              </a:rPr>
              <a:t>Central lesson: a strong bank does not avoid a recession – it uses its strength early, measures returns after risk, and treats customers fairly when they are struggling.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INDIVIDUAL CONTRIBUTION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A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did what</a:t>
            </a:r>
            <a:endParaRPr lang="en-US" sz="2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737360"/>
                <a:gridCol w="3931920"/>
                <a:gridCol w="6400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(App ID)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 to the simulation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 1] ([App ID])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CEO &amp; Strategy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objectives, led round decisions, decision log, final presentation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 2] ([App ID])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CFO &amp; Treasury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P&amp;L, balance sheet and RAROC model; capital &amp; liquidity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 3] ([App ID])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Chief Risk Officer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Slippage &amp; provision model, segment RAROC, underwriting and buffer calls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 4] ([App ID])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– Retail &amp; Deposits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mix and pricing decisions, deposit/CASA strategy, market share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 5] ([App ID])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– Customer &amp; Marketing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survey design and results, campaigns, SWOT &amp; ethics slides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3A2E"/>
                </a:solidFill>
              </a:rPr>
              <a:t>Members who did not contribute: [None / name and App ID]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297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</a:rPr>
              <a:t>Required by the brief: list every member, including anyone who did not contribute.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A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Model, definitions and sources</a:t>
            </a:r>
            <a:endParaRPr lang="en-US" sz="2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475488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3429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RAROC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(PPOP − expected loss) × (1 − tax) ÷ (12% × RWA); hurdle 14%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segment balance × PD (slippage rate × stress) × LGD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/ net NPA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GNPA ÷ gross advances; (GNPA − specific provisions) ÷ net advances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share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deposits (advances) ÷ all scheduled commercial banks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Satisfaction index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of four 1–5 survey scores ÷ 5; NPS = % promoters − % detractors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labels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FY25–FY26 = ICICI reported (A). Simulation years = fictional (S).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0" y="114300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7A1F2B"/>
                </a:solidFill>
              </a:rPr>
              <a:t>Sources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1F1F"/>
                </a:solidFill>
              </a:rPr>
              <a:t>ICICI Bank performance review &amp; Form 6-K, Q4 FY2026 (Apr 2026)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1F1F"/>
                </a:solidFill>
              </a:rPr>
              <a:t>ICICI Bank Q4 FY26 investor presentation &amp; earnings call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1F1F"/>
                </a:solidFill>
              </a:rPr>
              <a:t>ICICI Bank FY2025 results (Apr 2025)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1F1F"/>
                </a:solidFill>
              </a:rPr>
              <a:t>RBI statement of scheduled commercial banks, 31 Mar 2026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1F1F"/>
                </a:solidFill>
              </a:rPr>
              <a:t>RBI Basel III capital regulations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1F1F"/>
                </a:solidFill>
              </a:rPr>
              <a:t>Model: ICICI_Bank_Recession_Simulation_Model.xlsx (16 sheets, every number formula-linked)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43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</a:rPr>
              <a:t>Disclaimer: an academic simulation. ICICI Bank's real Q2 FY27 results (PAT ₹14,843 cr, GNPA 1.20%) show no recession; the scenario is hypothetical.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9744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23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3D9C4"/>
                </a:solidFill>
              </a:rPr>
              <a:t>Protect capital and customers first; grow only when the return beats the risk.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722"/>
                </a:solidFill>
              </a:rPr>
              <a:t>Questions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CICI Simulation">
  <a:themeElements>
    <a:clrScheme name="ICICI Simulation">
      <a:dk1>
        <a:srgbClr val="1F1F1F"/>
      </a:dk1>
      <a:lt1>
        <a:srgbClr val="FFFFFF"/>
      </a:lt1>
      <a:dk2>
        <a:srgbClr val="5A1420"/>
      </a:dk2>
      <a:lt2>
        <a:srgbClr val="F4F2F2"/>
      </a:lt2>
      <a:accent1>
        <a:srgbClr val="7A1F2B"/>
      </a:accent1>
      <a:accent2>
        <a:srgbClr val="E87722"/>
      </a:accent2>
      <a:accent3>
        <a:srgbClr val="B8860B"/>
      </a:accent3>
      <a:accent4>
        <a:srgbClr val="2E6E8E"/>
      </a:accent4>
      <a:accent5>
        <a:srgbClr val="8C8C8C"/>
      </a:accent5>
      <a:accent6>
        <a:srgbClr val="3F7D4E"/>
      </a:accent6>
      <a:hlink>
        <a:srgbClr val="7A1F2B"/>
      </a:hlink>
      <a:folHlink>
        <a:srgbClr val="5A1420"/>
      </a:folHlink>
    </a:clrScheme>
    <a:fontScheme name="ICICI Simula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ICICI Bank – Banking Simulation (CIA 3)</dc:title>
  <dc:subject>PptxGenJS Presentation</dc:subject>
  <dc:creator>Team ICICI Bank</dc:creator>
  <cp:lastModifiedBy>Team ICICI Bank</cp:lastModifiedBy>
  <cp:revision>1</cp:revision>
  <dcterms:created xsi:type="dcterms:W3CDTF">2026-10-26T16:28:03Z</dcterms:created>
  <dcterms:modified xsi:type="dcterms:W3CDTF">2026-10-26T16:28:03Z</dcterms:modified>
</cp:coreProperties>
</file>