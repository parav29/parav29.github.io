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033c6b6-71a5-94d7-8168-3d70bb2aab8f}">
          <p14:sldIdLst>
            <p14:sldId id="256"/>
          </p14:sldIdLst>
        </p14:section>
        <p14:section name="The model" id="{eafd4165-8bb9-f098-121d-37dbffc14656}">
          <p14:sldIdLst>
            <p14:sldId id="257"/>
            <p14:sldId id="258"/>
            <p14:sldId id="259"/>
          </p14:sldIdLst>
        </p14:section>
        <p14:section name="Formulation" id="{a8e0aceb-7683-edbc-748b-7614dedd76fd}">
          <p14:sldIdLst>
            <p14:sldId id="260"/>
            <p14:sldId id="261"/>
          </p14:sldIdLst>
        </p14:section>
        <p14:section name="Results" id="{57825bbd-ae63-d3e4-9cec-6dbbc2ceaf1f}">
          <p14:sldIdLst>
            <p14:sldId id="262"/>
            <p14:sldId id="263"/>
            <p14:sldId id="264"/>
            <p14:sldId id="265"/>
            <p14:sldId id="266"/>
          </p14:sldIdLst>
        </p14:section>
        <p14:section name="Close" id="{e2f49850-e5a4-4fea-e5db-6da1e85dd236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A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A30"/>
                </a:solidFill>
                <a:latin typeface="+mn-lt"/>
              </a:rPr>
              <a:t>Chair use, % of 08:00–18:00 (higher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C9A97"/>
            </a:solidFill>
            <a:effectLst/>
          </c:spPr>
          <c:invertIfNegative val="0"/>
          <c:dLbls>
            <c:numFmt formatCode="0.0;-0.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 Everyone at 08:00</c:v>
                  </c:pt>
                  <c:pt idx="1">
                    <c:v>2  Longest first</c:v>
                  </c:pt>
                  <c:pt idx="2">
                    <c:v>3  Shortest first</c:v>
                  </c:pt>
                  <c:pt idx="3">
                    <c:v>4  Optimiser</c:v>
                  </c:pt>
                  <c:pt idx="4">
                    <c:v>5  Buffer rule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42.4</c:v>
                </c:pt>
                <c:pt idx="1">
                  <c:v>47.8</c:v>
                </c:pt>
                <c:pt idx="2">
                  <c:v>36.8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Readiness-based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;-0.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 Everyone at 08:00</c:v>
                  </c:pt>
                  <c:pt idx="1">
                    <c:v>2  Longest first</c:v>
                  </c:pt>
                  <c:pt idx="2">
                    <c:v>3  Shortest first</c:v>
                  </c:pt>
                  <c:pt idx="3">
                    <c:v>4  Optimiser</c:v>
                  </c:pt>
                  <c:pt idx="4">
                    <c:v>5  Buffer rule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51.5</c:v>
                </c:pt>
                <c:pt idx="4">
                  <c:v>51</c:v>
                </c:pt>
              </c:numCache>
            </c:numRef>
          </c:val>
        </c:ser>
        <c:dLbls>
          <c:numFmt formatCode="0.0;-0.0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A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A30"/>
                </a:solidFill>
                <a:latin typeface="+mn-lt"/>
              </a:rPr>
              <a:t>Sent home per day, no chair in time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C9A97"/>
            </a:solidFill>
            <a:effectLst/>
          </c:spPr>
          <c:invertIfNegative val="0"/>
          <c:dLbls>
            <c:numFmt formatCode="0.0;-0.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 Everyone at 08:00</c:v>
                  </c:pt>
                  <c:pt idx="1">
                    <c:v>2  Longest first</c:v>
                  </c:pt>
                  <c:pt idx="2">
                    <c:v>3  Shortest first</c:v>
                  </c:pt>
                  <c:pt idx="3">
                    <c:v>4  Optimiser</c:v>
                  </c:pt>
                  <c:pt idx="4">
                    <c:v>5  Buffer rule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28.7</c:v>
                </c:pt>
                <c:pt idx="1">
                  <c:v>29.4</c:v>
                </c:pt>
                <c:pt idx="2">
                  <c:v>27.8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Readiness-based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;-0.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 Everyone at 08:00</c:v>
                  </c:pt>
                  <c:pt idx="1">
                    <c:v>2  Longest first</c:v>
                  </c:pt>
                  <c:pt idx="2">
                    <c:v>3  Shortest first</c:v>
                  </c:pt>
                  <c:pt idx="3">
                    <c:v>4  Optimiser</c:v>
                  </c:pt>
                  <c:pt idx="4">
                    <c:v>5  Buffer rule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4.2</c:v>
                </c:pt>
                <c:pt idx="4">
                  <c:v>7.1</c:v>
                </c:pt>
              </c:numCache>
            </c:numRef>
          </c:val>
        </c:ser>
        <c:dLbls>
          <c:numFmt formatCode="0.0;-0.0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A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A30"/>
                </a:solidFill>
                <a:latin typeface="+mn-lt"/>
              </a:rPr>
              <a:t>More patients pre-cleared → fewer sent home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 home / day</c:v>
                </c:pt>
              </c:strCache>
            </c:strRef>
          </c:tx>
          <c:spPr>
            <a:solidFill>
              <a:srgbClr val="0F766E"/>
            </a:solidFill>
            <a:ln w="381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15.6</c:v>
                </c:pt>
                <c:pt idx="1">
                  <c:v>12.9</c:v>
                </c:pt>
                <c:pt idx="2">
                  <c:v>8.8</c:v>
                </c:pt>
                <c:pt idx="3">
                  <c:v>7.1</c:v>
                </c:pt>
                <c:pt idx="4">
                  <c:v>5.8</c:v>
                </c:pt>
                <c:pt idx="5">
                  <c:v>5.8</c:v>
                </c:pt>
                <c:pt idx="6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E7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E6E73"/>
                    </a:solidFill>
                    <a:latin typeface="+mn-lt"/>
                  </a:rPr>
                  <a:t>% of patients who did blood + doctor the day before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3E8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E7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E6E73"/>
                    </a:solidFill>
                    <a:latin typeface="+mn-lt"/>
                  </a:rPr>
                  <a:t>sent home / day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A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A30"/>
                </a:solidFill>
                <a:latin typeface="+mn-lt"/>
              </a:rPr>
              <a:t>More nurses → fewer sent home, up to 7–8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 home / day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9</c:v>
                  </c:pt>
                  <c:pt idx="6">
                    <c:v>10</c:v>
                  </c:pt>
                  <c:pt idx="7">
                    <c:v>11</c:v>
                  </c:pt>
                  <c:pt idx="8">
                    <c:v>12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28.1</c:v>
                </c:pt>
                <c:pt idx="1">
                  <c:v>24.7</c:v>
                </c:pt>
                <c:pt idx="2">
                  <c:v>7.1</c:v>
                </c:pt>
                <c:pt idx="3">
                  <c:v>4.5</c:v>
                </c:pt>
                <c:pt idx="4">
                  <c:v>4.3</c:v>
                </c:pt>
                <c:pt idx="5">
                  <c:v>3.9</c:v>
                </c:pt>
                <c:pt idx="6">
                  <c:v>4.3</c:v>
                </c:pt>
                <c:pt idx="7">
                  <c:v>3.6</c:v>
                </c:pt>
                <c:pt idx="8">
                  <c:v>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E7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E6E73"/>
                    </a:solidFill>
                    <a:latin typeface="+mn-lt"/>
                  </a:rPr>
                  <a:t>number of nurses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3E8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E73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E6E73"/>
                    </a:solidFill>
                    <a:latin typeface="+mn-lt"/>
                  </a:rPr>
                  <a:t>sent home / day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3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rgbClr val="9FC9C3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78638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D7EAE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25780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9FC9C3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0F766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E6E73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73"/>
                </a:solidFill>
              </a:rPr>
              <a:t>Team INFUCINQ · IE301 Operations Analysis · Final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9FC9C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C3"/>
                </a:solidFill>
              </a:rPr>
              <a:t>Team INFUCINQ · IE301 Operations Analysis · Final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9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hyperlink" Target="https://ie301-infucinq.iitbresume.workers.dev/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9C3"/>
                </a:solidFill>
              </a:rPr>
              <a:t>IE301 · TOPIC 1 · FINAL PRESENTATION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analysis of a day-care chemotherapy unit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EAE6"/>
                </a:solidFill>
              </a:rPr>
              <a:t>Simulation, evening optimiser and results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257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C9C3"/>
                </a:solidFill>
              </a:rPr>
              <a:t>Team INFUCINQ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FC9C3"/>
                </a:solidFill>
              </a:rPr>
              <a:t>Parav · Sahasra · Siddhesh · Vaibhav · Kartikya</a:t>
            </a:r>
            <a:endParaRPr lang="en-US" sz="1400" dirty="0"/>
          </a:p>
        </p:txBody>
      </p:sp>
      <p:sp>
        <p:nvSpPr>
          <p:cNvPr id="6" name="chip1"/>
          <p:cNvSpPr/>
          <p:nvPr/>
        </p:nvSpPr>
        <p:spPr>
          <a:xfrm>
            <a:off x="8732520" y="1371600"/>
            <a:ext cx="2880360" cy="1234440"/>
          </a:xfrm>
          <a:prstGeom prst="roundRect">
            <a:avLst>
              <a:gd name="adj" fmla="val 8889"/>
            </a:avLst>
          </a:prstGeom>
          <a:solidFill>
            <a:srgbClr val="1C4541"/>
          </a:solidFill>
          <a:ln/>
        </p:spPr>
      </p:sp>
      <p:sp>
        <p:nvSpPr>
          <p:cNvPr id="7" name="iconbg2"/>
          <p:cNvSpPr/>
          <p:nvPr/>
        </p:nvSpPr>
        <p:spPr>
          <a:xfrm>
            <a:off x="896112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1821" y="1748333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46920" y="1627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46920" y="1965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linked days of the unit</a:t>
            </a:r>
            <a:endParaRPr lang="en-US" sz="1250" dirty="0"/>
          </a:p>
        </p:txBody>
      </p:sp>
      <p:sp>
        <p:nvSpPr>
          <p:cNvPr id="11" name="chip3"/>
          <p:cNvSpPr/>
          <p:nvPr/>
        </p:nvSpPr>
        <p:spPr>
          <a:xfrm>
            <a:off x="8732520" y="2834640"/>
            <a:ext cx="2880360" cy="1234440"/>
          </a:xfrm>
          <a:prstGeom prst="roundRect">
            <a:avLst>
              <a:gd name="adj" fmla="val 8889"/>
            </a:avLst>
          </a:prstGeom>
          <a:solidFill>
            <a:srgbClr val="1C4541"/>
          </a:solidFill>
          <a:ln/>
        </p:spPr>
      </p:sp>
      <p:sp>
        <p:nvSpPr>
          <p:cNvPr id="12" name="iconbg4"/>
          <p:cNvSpPr/>
          <p:nvPr/>
        </p:nvSpPr>
        <p:spPr>
          <a:xfrm>
            <a:off x="8961120" y="30906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1821" y="3211373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646920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optimiser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9646920" y="3429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tomorrow's chairs and doctors</a:t>
            </a:r>
            <a:endParaRPr lang="en-US" sz="1250" dirty="0"/>
          </a:p>
        </p:txBody>
      </p:sp>
      <p:sp>
        <p:nvSpPr>
          <p:cNvPr id="16" name="chip5"/>
          <p:cNvSpPr/>
          <p:nvPr/>
        </p:nvSpPr>
        <p:spPr>
          <a:xfrm>
            <a:off x="8732520" y="4297680"/>
            <a:ext cx="2880360" cy="1234440"/>
          </a:xfrm>
          <a:prstGeom prst="roundRect">
            <a:avLst>
              <a:gd name="adj" fmla="val 8889"/>
            </a:avLst>
          </a:prstGeom>
          <a:solidFill>
            <a:srgbClr val="1C4541"/>
          </a:solidFill>
          <a:ln/>
        </p:spPr>
      </p:sp>
      <p:sp>
        <p:nvSpPr>
          <p:cNvPr id="17" name="iconbg6"/>
          <p:cNvSpPr/>
          <p:nvPr/>
        </p:nvSpPr>
        <p:spPr>
          <a:xfrm>
            <a:off x="8961120" y="45537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821" y="4674413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646920" y="4553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experiments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9646920" y="48920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days each, same patients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WHERE WE 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Tata Memorial visit to a working model</a:t>
            </a:r>
            <a:endParaRPr lang="en-US" sz="3200" dirty="0"/>
          </a:p>
        </p:txBody>
      </p:sp>
      <p:sp>
        <p:nvSpPr>
          <p:cNvPr id="4" name="card7"/>
          <p:cNvSpPr/>
          <p:nvPr/>
        </p:nvSpPr>
        <p:spPr>
          <a:xfrm>
            <a:off x="548640" y="1600200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EEF3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300–400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 day at TMH</a:t>
            </a:r>
            <a:endParaRPr lang="en-US" sz="1350" dirty="0"/>
          </a:p>
        </p:txBody>
      </p:sp>
      <p:sp>
        <p:nvSpPr>
          <p:cNvPr id="7" name="card8"/>
          <p:cNvSpPr/>
          <p:nvPr/>
        </p:nvSpPr>
        <p:spPr>
          <a:xfrm>
            <a:off x="2880360" y="1600200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EEF3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0896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70–80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4231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chairs, slots booked by hand</a:t>
            </a:r>
            <a:endParaRPr lang="en-US" sz="1350" dirty="0"/>
          </a:p>
        </p:txBody>
      </p:sp>
      <p:sp>
        <p:nvSpPr>
          <p:cNvPr id="10" name="card9"/>
          <p:cNvSpPr/>
          <p:nvPr/>
        </p:nvSpPr>
        <p:spPr>
          <a:xfrm>
            <a:off x="5212080" y="1600200"/>
            <a:ext cx="2148840" cy="1508760"/>
          </a:xfrm>
          <a:prstGeom prst="roundRect">
            <a:avLst>
              <a:gd name="adj" fmla="val 7273"/>
            </a:avLst>
          </a:prstGeom>
          <a:solidFill>
            <a:srgbClr val="EEF3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4068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days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4231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a slot is missed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1900" dirty="0"/>
          </a:p>
        </p:txBody>
      </p:sp>
      <p:sp>
        <p:nvSpPr>
          <p:cNvPr id="14" name="iconbg10"/>
          <p:cNvSpPr/>
          <p:nvPr/>
        </p:nvSpPr>
        <p:spPr>
          <a:xfrm>
            <a:off x="7680960" y="20574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7404" y="2133844"/>
            <a:ext cx="194584" cy="194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138160" y="20574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 of the unit over many linked days: cycles, unfit patients, rebooking</a:t>
            </a:r>
            <a:endParaRPr lang="en-US" sz="1250" dirty="0"/>
          </a:p>
        </p:txBody>
      </p:sp>
      <p:sp>
        <p:nvSpPr>
          <p:cNvPr id="17" name="iconbg11"/>
          <p:cNvSpPr/>
          <p:nvPr/>
        </p:nvSpPr>
        <p:spPr>
          <a:xfrm>
            <a:off x="7680960" y="25146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404" y="2591044"/>
            <a:ext cx="194584" cy="1945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138160" y="25146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evening optimiser that books tomorrow's chairs and doctors</a:t>
            </a:r>
            <a:endParaRPr lang="en-US" sz="1250" dirty="0"/>
          </a:p>
        </p:txBody>
      </p:sp>
      <p:sp>
        <p:nvSpPr>
          <p:cNvPr id="20" name="iconbg12"/>
          <p:cNvSpPr/>
          <p:nvPr/>
        </p:nvSpPr>
        <p:spPr>
          <a:xfrm>
            <a:off x="7680960" y="29718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404" y="3048244"/>
            <a:ext cx="194584" cy="1945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38160" y="29718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experiments: booking rules, pre-clearance, reserved chairs, nurses, robustness, 24/7; 120 days each</a:t>
            </a:r>
            <a:endParaRPr lang="en-US" sz="1250" dirty="0"/>
          </a:p>
        </p:txBody>
      </p:sp>
      <p:sp>
        <p:nvSpPr>
          <p:cNvPr id="23" name="iconbg13"/>
          <p:cNvSpPr/>
          <p:nvPr/>
        </p:nvSpPr>
        <p:spPr>
          <a:xfrm>
            <a:off x="7680960" y="35661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404" y="3642604"/>
            <a:ext cx="194584" cy="1945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38160" y="35661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that plays any day minute by minute</a:t>
            </a:r>
            <a:endParaRPr lang="en-US" sz="1250" dirty="0"/>
          </a:p>
        </p:txBody>
      </p:sp>
      <p:sp>
        <p:nvSpPr>
          <p:cNvPr id="26" name="pipe14"/>
          <p:cNvSpPr/>
          <p:nvPr/>
        </p:nvSpPr>
        <p:spPr>
          <a:xfrm>
            <a:off x="548640" y="4069080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EEF3F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49808" y="418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550" dirty="0"/>
          </a:p>
        </p:txBody>
      </p:sp>
      <p:sp>
        <p:nvSpPr>
          <p:cNvPr id="28" name="Text 22"/>
          <p:cNvSpPr txBox="1"/>
          <p:nvPr/>
        </p:nvSpPr>
        <p:spPr>
          <a:xfrm>
            <a:off x="749808" y="4526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new patients a day, 5–8 cycles each</a:t>
            </a:r>
            <a:endParaRPr lang="en-US" sz="1250" dirty="0"/>
          </a:p>
        </p:txBody>
      </p:sp>
      <p:sp>
        <p:nvSpPr>
          <p:cNvPr id="29" name="arrow15"/>
          <p:cNvSpPr/>
          <p:nvPr/>
        </p:nvSpPr>
        <p:spPr>
          <a:xfrm>
            <a:off x="3108960" y="4434840"/>
            <a:ext cx="201168" cy="237744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30" name="pipe16"/>
          <p:cNvSpPr/>
          <p:nvPr/>
        </p:nvSpPr>
        <p:spPr>
          <a:xfrm>
            <a:off x="3364992" y="4069080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EEF3F1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3566160" y="418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550" dirty="0"/>
          </a:p>
        </p:txBody>
      </p:sp>
      <p:sp>
        <p:nvSpPr>
          <p:cNvPr id="32" name="Text 26"/>
          <p:cNvSpPr txBox="1"/>
          <p:nvPr/>
        </p:nvSpPr>
        <p:spPr>
          <a:xfrm>
            <a:off x="3566160" y="4526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times, chair slots, doctors</a:t>
            </a:r>
            <a:endParaRPr lang="en-US" sz="1250" dirty="0"/>
          </a:p>
        </p:txBody>
      </p:sp>
      <p:sp>
        <p:nvSpPr>
          <p:cNvPr id="33" name="arrow17"/>
          <p:cNvSpPr/>
          <p:nvPr/>
        </p:nvSpPr>
        <p:spPr>
          <a:xfrm>
            <a:off x="5925312" y="4434840"/>
            <a:ext cx="201168" cy="237744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34" name="pipe18"/>
          <p:cNvSpPr/>
          <p:nvPr/>
        </p:nvSpPr>
        <p:spPr>
          <a:xfrm>
            <a:off x="6181344" y="4069080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EEF3F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382512" y="418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day</a:t>
            </a:r>
            <a:endParaRPr lang="en-US" sz="1550" dirty="0"/>
          </a:p>
        </p:txBody>
      </p:sp>
      <p:sp>
        <p:nvSpPr>
          <p:cNvPr id="36" name="Text 30"/>
          <p:cNvSpPr txBox="1"/>
          <p:nvPr/>
        </p:nvSpPr>
        <p:spPr>
          <a:xfrm>
            <a:off x="6382512" y="4526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stage times, queues, unfit</a:t>
            </a:r>
            <a:endParaRPr lang="en-US" sz="1250" dirty="0"/>
          </a:p>
        </p:txBody>
      </p:sp>
      <p:sp>
        <p:nvSpPr>
          <p:cNvPr id="37" name="arrow19"/>
          <p:cNvSpPr/>
          <p:nvPr/>
        </p:nvSpPr>
        <p:spPr>
          <a:xfrm>
            <a:off x="8741664" y="4434840"/>
            <a:ext cx="201168" cy="237744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38" name="pipe20"/>
          <p:cNvSpPr/>
          <p:nvPr/>
        </p:nvSpPr>
        <p:spPr>
          <a:xfrm>
            <a:off x="8997696" y="4069080"/>
            <a:ext cx="2514600" cy="960120"/>
          </a:xfrm>
          <a:prstGeom prst="roundRect">
            <a:avLst>
              <a:gd name="adj" fmla="val 11429"/>
            </a:avLst>
          </a:prstGeom>
          <a:solidFill>
            <a:srgbClr val="D9EEEA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9198864" y="418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550" dirty="0"/>
          </a:p>
        </p:txBody>
      </p:sp>
      <p:sp>
        <p:nvSpPr>
          <p:cNvPr id="40" name="Text 34"/>
          <p:cNvSpPr txBox="1"/>
          <p:nvPr/>
        </p:nvSpPr>
        <p:spPr>
          <a:xfrm>
            <a:off x="9198864" y="4526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chairs, doctors, sent home, limits</a:t>
            </a:r>
            <a:endParaRPr lang="en-US" sz="1250" dirty="0"/>
          </a:p>
        </p:txBody>
      </p:sp>
      <p:sp>
        <p:nvSpPr>
          <p:cNvPr id="41" name="Text 35"/>
          <p:cNvSpPr txBox="1"/>
          <p:nvPr/>
        </p:nvSpPr>
        <p:spPr>
          <a:xfrm>
            <a:off x="548640" y="5120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every evening, for 30 warm-up + 120 reported days</a:t>
            </a:r>
            <a:endParaRPr lang="en-US" sz="1300" dirty="0"/>
          </a:p>
        </p:txBody>
      </p:sp>
      <p:sp>
        <p:nvSpPr>
          <p:cNvPr id="42" name="takeaway21"/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2302D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generic Indian public unit (20 chairs). TMH is where we observe; every input is a placeholder until TMH data.</a:t>
            </a:r>
            <a:endParaRPr lang="en-US" sz="1600" dirty="0"/>
          </a:p>
        </p:txBody>
      </p:sp>
      <p:sp>
        <p:nvSpPr>
          <p:cNvPr id="4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PATIENT FLOW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comes, and what they are told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E73"/>
                </a:solidFill>
              </a:rPr>
              <a:t>Patients are never told a chair time, only when to arrive</a:t>
            </a:r>
            <a:endParaRPr lang="en-US" sz="1500" dirty="0"/>
          </a:p>
        </p:txBody>
      </p:sp>
      <p:sp>
        <p:nvSpPr>
          <p:cNvPr id="5" name="cls22"/>
          <p:cNvSpPr/>
          <p:nvPr/>
        </p:nvSpPr>
        <p:spPr>
          <a:xfrm>
            <a:off x="548640" y="1938528"/>
            <a:ext cx="182880" cy="182880"/>
          </a:xfrm>
          <a:prstGeom prst="ellipse">
            <a:avLst/>
          </a:prstGeom>
          <a:solidFill>
            <a:srgbClr val="C264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56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Pre-clearance visit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−1</a:t>
            </a:r>
            <a:endParaRPr lang="en-US" sz="1200" dirty="0"/>
          </a:p>
        </p:txBody>
      </p:sp>
      <p:sp>
        <p:nvSpPr>
          <p:cNvPr id="8" name="step23"/>
          <p:cNvSpPr/>
          <p:nvPr/>
        </p:nvSpPr>
        <p:spPr>
          <a:xfrm>
            <a:off x="2971800" y="18288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81528" y="1920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50" dirty="0"/>
          </a:p>
        </p:txBody>
      </p:sp>
      <p:sp>
        <p:nvSpPr>
          <p:cNvPr id="10" name="arrow24"/>
          <p:cNvSpPr/>
          <p:nvPr/>
        </p:nvSpPr>
        <p:spPr>
          <a:xfrm>
            <a:off x="4535424" y="20939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11" name="step25"/>
          <p:cNvSpPr/>
          <p:nvPr/>
        </p:nvSpPr>
        <p:spPr>
          <a:xfrm>
            <a:off x="4709160" y="18288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18888" y="1920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lang="en-US" sz="1350" dirty="0"/>
          </a:p>
        </p:txBody>
      </p:sp>
      <p:sp>
        <p:nvSpPr>
          <p:cNvPr id="13" name="arrow26"/>
          <p:cNvSpPr/>
          <p:nvPr/>
        </p:nvSpPr>
        <p:spPr>
          <a:xfrm>
            <a:off x="6272784" y="20939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14" name="step27"/>
          <p:cNvSpPr/>
          <p:nvPr/>
        </p:nvSpPr>
        <p:spPr>
          <a:xfrm>
            <a:off x="6446520" y="18288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DEBE2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56248" y="1920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56248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min</a:t>
            </a:r>
            <a:endParaRPr lang="en-US" sz="1150" dirty="0"/>
          </a:p>
        </p:txBody>
      </p:sp>
      <p:sp>
        <p:nvSpPr>
          <p:cNvPr id="17" name="arrow28"/>
          <p:cNvSpPr/>
          <p:nvPr/>
        </p:nvSpPr>
        <p:spPr>
          <a:xfrm>
            <a:off x="8010144" y="20939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18" name="step29"/>
          <p:cNvSpPr/>
          <p:nvPr/>
        </p:nvSpPr>
        <p:spPr>
          <a:xfrm>
            <a:off x="8183880" y="18288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93608" y="1920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93608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or unfit</a:t>
            </a:r>
            <a:endParaRPr lang="en-US" sz="1150" dirty="0"/>
          </a:p>
        </p:txBody>
      </p:sp>
      <p:sp>
        <p:nvSpPr>
          <p:cNvPr id="21" name="arrow30"/>
          <p:cNvSpPr/>
          <p:nvPr/>
        </p:nvSpPr>
        <p:spPr>
          <a:xfrm>
            <a:off x="9747504" y="20939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22" name="step31"/>
          <p:cNvSpPr/>
          <p:nvPr/>
        </p:nvSpPr>
        <p:spPr>
          <a:xfrm>
            <a:off x="9921240" y="18288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30968" y="19202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030968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tomorrow</a:t>
            </a:r>
            <a:endParaRPr lang="en-US" sz="1150" dirty="0"/>
          </a:p>
        </p:txBody>
      </p:sp>
      <p:sp>
        <p:nvSpPr>
          <p:cNvPr id="25" name="cls32"/>
          <p:cNvSpPr/>
          <p:nvPr/>
        </p:nvSpPr>
        <p:spPr>
          <a:xfrm>
            <a:off x="548640" y="2852928"/>
            <a:ext cx="182880" cy="182880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2770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patient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+ some local</a:t>
            </a:r>
            <a:endParaRPr lang="en-US" sz="1200" dirty="0"/>
          </a:p>
        </p:txBody>
      </p:sp>
      <p:sp>
        <p:nvSpPr>
          <p:cNvPr id="28" name="step33"/>
          <p:cNvSpPr/>
          <p:nvPr/>
        </p:nvSpPr>
        <p:spPr>
          <a:xfrm>
            <a:off x="2971800" y="27432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81528" y="28346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50" dirty="0"/>
          </a:p>
        </p:txBody>
      </p:sp>
      <p:sp>
        <p:nvSpPr>
          <p:cNvPr id="30" name="arrow34"/>
          <p:cNvSpPr/>
          <p:nvPr/>
        </p:nvSpPr>
        <p:spPr>
          <a:xfrm>
            <a:off x="4535424" y="30083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31" name="step35"/>
          <p:cNvSpPr/>
          <p:nvPr/>
        </p:nvSpPr>
        <p:spPr>
          <a:xfrm>
            <a:off x="4709160" y="27432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DEBE2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18888" y="28346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+ lab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4818888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min</a:t>
            </a:r>
            <a:endParaRPr lang="en-US" sz="1150" dirty="0"/>
          </a:p>
        </p:txBody>
      </p:sp>
      <p:sp>
        <p:nvSpPr>
          <p:cNvPr id="34" name="arrow36"/>
          <p:cNvSpPr/>
          <p:nvPr/>
        </p:nvSpPr>
        <p:spPr>
          <a:xfrm>
            <a:off x="6272784" y="30083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35" name="step37"/>
          <p:cNvSpPr/>
          <p:nvPr/>
        </p:nvSpPr>
        <p:spPr>
          <a:xfrm>
            <a:off x="6446520" y="27432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56248" y="28346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556248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or unfit</a:t>
            </a:r>
            <a:endParaRPr lang="en-US" sz="1150" dirty="0"/>
          </a:p>
        </p:txBody>
      </p:sp>
      <p:sp>
        <p:nvSpPr>
          <p:cNvPr id="38" name="arrow38"/>
          <p:cNvSpPr/>
          <p:nvPr/>
        </p:nvSpPr>
        <p:spPr>
          <a:xfrm>
            <a:off x="8010144" y="30083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39" name="step39"/>
          <p:cNvSpPr/>
          <p:nvPr/>
        </p:nvSpPr>
        <p:spPr>
          <a:xfrm>
            <a:off x="8183880" y="27432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293608" y="28346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+ drug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293608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40–75 min</a:t>
            </a:r>
            <a:endParaRPr lang="en-US" sz="1150" dirty="0"/>
          </a:p>
        </p:txBody>
      </p:sp>
      <p:sp>
        <p:nvSpPr>
          <p:cNvPr id="42" name="arrow40"/>
          <p:cNvSpPr/>
          <p:nvPr/>
        </p:nvSpPr>
        <p:spPr>
          <a:xfrm>
            <a:off x="9747504" y="30083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43" name="step41"/>
          <p:cNvSpPr/>
          <p:nvPr/>
        </p:nvSpPr>
        <p:spPr>
          <a:xfrm>
            <a:off x="9921240" y="27432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030968" y="28346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10030968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– 10 h</a:t>
            </a:r>
            <a:endParaRPr lang="en-US" sz="1150" dirty="0"/>
          </a:p>
        </p:txBody>
      </p:sp>
      <p:sp>
        <p:nvSpPr>
          <p:cNvPr id="46" name="cls42"/>
          <p:cNvSpPr/>
          <p:nvPr/>
        </p:nvSpPr>
        <p:spPr>
          <a:xfrm>
            <a:off x="548640" y="3767328"/>
            <a:ext cx="182880" cy="1828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41248" y="3685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Pre-cleared patient</a:t>
            </a:r>
            <a:endParaRPr lang="en-US" sz="1450" dirty="0"/>
          </a:p>
        </p:txBody>
      </p:sp>
      <p:sp>
        <p:nvSpPr>
          <p:cNvPr id="48" name="Text 46"/>
          <p:cNvSpPr txBox="1"/>
          <p:nvPr/>
        </p:nvSpPr>
        <p:spPr>
          <a:xfrm>
            <a:off x="841248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</a:t>
            </a:r>
            <a:endParaRPr lang="en-US" sz="1200" dirty="0"/>
          </a:p>
        </p:txBody>
      </p:sp>
      <p:sp>
        <p:nvSpPr>
          <p:cNvPr id="49" name="step43"/>
          <p:cNvSpPr/>
          <p:nvPr/>
        </p:nvSpPr>
        <p:spPr>
          <a:xfrm>
            <a:off x="2971800" y="36576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081528" y="37490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50" dirty="0"/>
          </a:p>
        </p:txBody>
      </p:sp>
      <p:sp>
        <p:nvSpPr>
          <p:cNvPr id="51" name="arrow44"/>
          <p:cNvSpPr/>
          <p:nvPr/>
        </p:nvSpPr>
        <p:spPr>
          <a:xfrm>
            <a:off x="4535424" y="39227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52" name="step45"/>
          <p:cNvSpPr/>
          <p:nvPr/>
        </p:nvSpPr>
        <p:spPr>
          <a:xfrm>
            <a:off x="4709160" y="36576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818888" y="37490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4818888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</a:t>
            </a:r>
            <a:endParaRPr lang="en-US" sz="1150" dirty="0"/>
          </a:p>
        </p:txBody>
      </p:sp>
      <p:sp>
        <p:nvSpPr>
          <p:cNvPr id="55" name="arrow46"/>
          <p:cNvSpPr/>
          <p:nvPr/>
        </p:nvSpPr>
        <p:spPr>
          <a:xfrm>
            <a:off x="6272784" y="39227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56" name="step47"/>
          <p:cNvSpPr/>
          <p:nvPr/>
        </p:nvSpPr>
        <p:spPr>
          <a:xfrm>
            <a:off x="6446520" y="36576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EEF3F1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56248" y="37490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6556248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25–60 min</a:t>
            </a:r>
            <a:endParaRPr lang="en-US" sz="1150" dirty="0"/>
          </a:p>
        </p:txBody>
      </p:sp>
      <p:sp>
        <p:nvSpPr>
          <p:cNvPr id="59" name="arrow48"/>
          <p:cNvSpPr/>
          <p:nvPr/>
        </p:nvSpPr>
        <p:spPr>
          <a:xfrm>
            <a:off x="8010144" y="3922776"/>
            <a:ext cx="146304" cy="18288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60" name="step49"/>
          <p:cNvSpPr/>
          <p:nvPr/>
        </p:nvSpPr>
        <p:spPr>
          <a:xfrm>
            <a:off x="8183880" y="3657600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DEBE2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93608" y="37490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350" dirty="0"/>
          </a:p>
        </p:txBody>
      </p:sp>
      <p:sp>
        <p:nvSpPr>
          <p:cNvPr id="62" name="Text 60"/>
          <p:cNvSpPr txBox="1"/>
          <p:nvPr/>
        </p:nvSpPr>
        <p:spPr>
          <a:xfrm>
            <a:off x="8293608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– 10 h</a:t>
            </a:r>
            <a:endParaRPr lang="en-US" sz="1150" dirty="0"/>
          </a:p>
        </p:txBody>
      </p:sp>
      <p:sp>
        <p:nvSpPr>
          <p:cNvPr id="63" name="card50"/>
          <p:cNvSpPr/>
          <p:nvPr/>
        </p:nvSpPr>
        <p:spPr>
          <a:xfrm>
            <a:off x="548640" y="4553712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EEF3F1"/>
          </a:solidFill>
          <a:ln/>
        </p:spPr>
      </p:sp>
      <p:sp>
        <p:nvSpPr>
          <p:cNvPr id="64" name="iconbg51"/>
          <p:cNvSpPr/>
          <p:nvPr/>
        </p:nvSpPr>
        <p:spPr>
          <a:xfrm>
            <a:off x="731520" y="4709160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5" name="icon5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81" y="4805721"/>
            <a:ext cx="245791" cy="245791"/>
          </a:xfrm>
          <a:prstGeom prst="rect">
            <a:avLst/>
          </a:prstGeom>
        </p:spPr>
      </p:pic>
      <p:sp>
        <p:nvSpPr>
          <p:cNvPr id="66" name="Text 63"/>
          <p:cNvSpPr txBox="1"/>
          <p:nvPr/>
        </p:nvSpPr>
        <p:spPr>
          <a:xfrm>
            <a:off x="1298448" y="4626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rebook</a:t>
            </a:r>
            <a:endParaRPr lang="en-US" sz="1400" dirty="0"/>
          </a:p>
        </p:txBody>
      </p:sp>
      <p:sp>
        <p:nvSpPr>
          <p:cNvPr id="67" name="Text 64"/>
          <p:cNvSpPr txBox="1"/>
          <p:nvPr/>
        </p:nvSpPr>
        <p:spPr>
          <a:xfrm>
            <a:off x="1298448" y="491032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 cycle (unfit, then fit; or sent home). Skips the long chair queue. Uses reserved chairs.</a:t>
            </a:r>
            <a:endParaRPr lang="en-US" sz="1100" dirty="0"/>
          </a:p>
        </p:txBody>
      </p:sp>
      <p:sp>
        <p:nvSpPr>
          <p:cNvPr id="68" name="card52"/>
          <p:cNvSpPr/>
          <p:nvPr/>
        </p:nvSpPr>
        <p:spPr>
          <a:xfrm>
            <a:off x="4297680" y="4553712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EEF3F1"/>
          </a:solidFill>
          <a:ln/>
        </p:spPr>
      </p:sp>
      <p:sp>
        <p:nvSpPr>
          <p:cNvPr id="69" name="iconbg53"/>
          <p:cNvSpPr/>
          <p:nvPr/>
        </p:nvSpPr>
        <p:spPr>
          <a:xfrm>
            <a:off x="4480560" y="470916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0" name="icon5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121" y="4805721"/>
            <a:ext cx="245791" cy="245791"/>
          </a:xfrm>
          <a:prstGeom prst="rect">
            <a:avLst/>
          </a:prstGeom>
        </p:spPr>
      </p:pic>
      <p:sp>
        <p:nvSpPr>
          <p:cNvPr id="71" name="Text 67"/>
          <p:cNvSpPr txBox="1"/>
          <p:nvPr/>
        </p:nvSpPr>
        <p:spPr>
          <a:xfrm>
            <a:off x="5047488" y="4626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</a:t>
            </a:r>
            <a:endParaRPr lang="en-US" sz="1400" dirty="0"/>
          </a:p>
        </p:txBody>
      </p:sp>
      <p:sp>
        <p:nvSpPr>
          <p:cNvPr id="72" name="Text 68"/>
          <p:cNvSpPr txBox="1"/>
          <p:nvPr/>
        </p:nvSpPr>
        <p:spPr>
          <a:xfrm>
            <a:off x="5047488" y="491032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extra to fill chairs left by no-shows. Seated only after every planned patient.</a:t>
            </a:r>
            <a:endParaRPr lang="en-US" sz="1100" dirty="0"/>
          </a:p>
        </p:txBody>
      </p:sp>
      <p:sp>
        <p:nvSpPr>
          <p:cNvPr id="73" name="card54"/>
          <p:cNvSpPr/>
          <p:nvPr/>
        </p:nvSpPr>
        <p:spPr>
          <a:xfrm>
            <a:off x="8046720" y="4553712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EEF3F1"/>
          </a:solidFill>
          <a:ln/>
        </p:spPr>
      </p:sp>
      <p:sp>
        <p:nvSpPr>
          <p:cNvPr id="74" name="iconbg55"/>
          <p:cNvSpPr/>
          <p:nvPr/>
        </p:nvSpPr>
        <p:spPr>
          <a:xfrm>
            <a:off x="8229600" y="470916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5" name="icon5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161" y="4805721"/>
            <a:ext cx="245791" cy="245791"/>
          </a:xfrm>
          <a:prstGeom prst="rect">
            <a:avLst/>
          </a:prstGeom>
        </p:spPr>
      </p:pic>
      <p:sp>
        <p:nvSpPr>
          <p:cNvPr id="76" name="Text 71"/>
          <p:cNvSpPr txBox="1"/>
          <p:nvPr/>
        </p:nvSpPr>
        <p:spPr>
          <a:xfrm>
            <a:off x="8796528" y="4626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No-chair (10%)</a:t>
            </a:r>
            <a:endParaRPr lang="en-US" sz="1400" dirty="0"/>
          </a:p>
        </p:txBody>
      </p:sp>
      <p:sp>
        <p:nvSpPr>
          <p:cNvPr id="77" name="Text 72"/>
          <p:cNvSpPr txBox="1"/>
          <p:nvPr/>
        </p:nvSpPr>
        <p:spPr>
          <a:xfrm>
            <a:off x="8796528" y="491032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only: nurse setup, no chair. Known after the doctor review.</a:t>
            </a:r>
            <a:endParaRPr lang="en-US" sz="1100" dirty="0"/>
          </a:p>
        </p:txBody>
      </p:sp>
      <p:sp>
        <p:nvSpPr>
          <p:cNvPr id="78" name="takeaway56"/>
          <p:cNvSpPr/>
          <p:nvPr/>
        </p:nvSpPr>
        <p:spPr>
          <a:xfrm>
            <a:off x="548640" y="566928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2302D"/>
          </a:solidFill>
          <a:ln/>
        </p:spPr>
      </p:sp>
      <p:sp>
        <p:nvSpPr>
          <p:cNvPr id="79" name="Text 74"/>
          <p:cNvSpPr txBox="1"/>
          <p:nvPr/>
        </p:nvSpPr>
        <p:spPr>
          <a:xfrm>
            <a:off x="822960" y="566928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Pre-clearance lets the unit know, the evening before, who is fit and how long their drip 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INPUTS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and distributions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E73"/>
                </a:solidFill>
              </a:rPr>
              <a:t>Stage ranges from Presentation 3 · all placeholders until TMH data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17320"/>
                <a:gridCol w="2377440"/>
                <a:gridCol w="114300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vs told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draw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2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15–40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Lognormal (median 24.5)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/ insurance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(15 ± 2.5)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preparation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25–60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Lognormal (median 38.7)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+ pre-meds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20–40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 – 10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mix × lognormal drift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mix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6" name="card57"/>
          <p:cNvSpPr/>
          <p:nvPr/>
        </p:nvSpPr>
        <p:spPr>
          <a:xfrm>
            <a:off x="7818120" y="1783080"/>
            <a:ext cx="3794760" cy="1691640"/>
          </a:xfrm>
          <a:prstGeom prst="roundRect">
            <a:avLst>
              <a:gd name="adj" fmla="val 6486"/>
            </a:avLst>
          </a:prstGeom>
          <a:solidFill>
            <a:srgbClr val="EEF3F1"/>
          </a:solidFill>
          <a:ln/>
        </p:spPr>
      </p:sp>
      <p:sp>
        <p:nvSpPr>
          <p:cNvPr id="7" name="iconbg58"/>
          <p:cNvSpPr/>
          <p:nvPr/>
        </p:nvSpPr>
        <p:spPr>
          <a:xfrm>
            <a:off x="8046720" y="1965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7246" y="2056486"/>
            <a:ext cx="230429" cy="23042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245059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new patients a day, 5–8 cycles, 2/3/4 weeks apart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52 cycles reach their day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far · 10% no-chair · 5% no-show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unfit · 2% pass away per cycle</a:t>
            </a:r>
            <a:endParaRPr lang="en-US" sz="1250" dirty="0"/>
          </a:p>
        </p:txBody>
      </p:sp>
      <p:sp>
        <p:nvSpPr>
          <p:cNvPr id="11" name="card59"/>
          <p:cNvSpPr/>
          <p:nvPr/>
        </p:nvSpPr>
        <p:spPr>
          <a:xfrm>
            <a:off x="7818120" y="3611880"/>
            <a:ext cx="3794760" cy="1783080"/>
          </a:xfrm>
          <a:prstGeom prst="roundRect">
            <a:avLst>
              <a:gd name="adj" fmla="val 6154"/>
            </a:avLst>
          </a:prstGeom>
          <a:solidFill>
            <a:srgbClr val="12302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046720" y="3767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lognormal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4114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reviews and preparations are quick, a few run long. Median = √(low × high); the range covers 9 in 10 patients.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8046720" y="48280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Doctor: √(15 × 40) = 24.5 min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Drug: √(25 × 60) = 38.7 min</a:t>
            </a:r>
            <a:endParaRPr lang="en-US" sz="1350" dirty="0"/>
          </a:p>
        </p:txBody>
      </p:sp>
      <p:sp>
        <p:nvSpPr>
          <p:cNvPr id="15" name="takeaway60"/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2302D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random numbers for every policy: each rule is tested on exactly the same patients.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OBJECTIVE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day means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E73"/>
                </a:solidFill>
              </a:rPr>
              <a:t>Team decision: use chairs and doctors fully; patient waiting is not the goal</a:t>
            </a:r>
            <a:endParaRPr lang="en-US" sz="1500" dirty="0"/>
          </a:p>
        </p:txBody>
      </p:sp>
      <p:sp>
        <p:nvSpPr>
          <p:cNvPr id="5" name="card61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1230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 = 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pPr algn="ctr" indent="0" marL="0">
              <a:buNone/>
            </a:pPr>
            <a:r>
              <a:rPr lang="en-US" sz="24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chair use 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0.30</a:t>
            </a:r>
            <a:pPr algn="ctr" indent="0" marL="0">
              <a:buNone/>
            </a:pPr>
            <a:r>
              <a:rPr lang="en-US" sz="24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doctor use 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0.10</a:t>
            </a:r>
            <a:pPr algn="ctr" indent="0" marL="0">
              <a:buNone/>
            </a:pPr>
            <a:r>
              <a:rPr lang="en-US" sz="2400" b="1" dirty="0">
                <a:solidFill>
                  <a:srgbClr val="F6A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share sent home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on a 0–1 scale. Chairs and doctors carry 90% of the weight, chairs twice as much as doctors.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limits: a plan that breaks one is out</a:t>
            </a:r>
            <a:endParaRPr lang="en-US" sz="1500" dirty="0"/>
          </a:p>
        </p:txBody>
      </p:sp>
      <p:sp>
        <p:nvSpPr>
          <p:cNvPr id="9" name="card62"/>
          <p:cNvSpPr/>
          <p:nvPr/>
        </p:nvSpPr>
        <p:spPr>
          <a:xfrm>
            <a:off x="548640" y="370332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EEF3F1"/>
          </a:solidFill>
          <a:ln/>
        </p:spPr>
      </p:sp>
      <p:sp>
        <p:nvSpPr>
          <p:cNvPr id="10" name="iconbg63"/>
          <p:cNvSpPr/>
          <p:nvPr/>
        </p:nvSpPr>
        <p:spPr>
          <a:xfrm>
            <a:off x="731520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3959352"/>
            <a:ext cx="256032" cy="25603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3785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 min past the effective close</a:t>
            </a:r>
            <a:endParaRPr lang="en-US" sz="1250" dirty="0"/>
          </a:p>
        </p:txBody>
      </p:sp>
      <p:sp>
        <p:nvSpPr>
          <p:cNvPr id="14" name="card64"/>
          <p:cNvSpPr/>
          <p:nvPr/>
        </p:nvSpPr>
        <p:spPr>
          <a:xfrm>
            <a:off x="4297680" y="370332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EEF3F1"/>
          </a:solidFill>
          <a:ln/>
        </p:spPr>
      </p:sp>
      <p:sp>
        <p:nvSpPr>
          <p:cNvPr id="15" name="iconbg65"/>
          <p:cNvSpPr/>
          <p:nvPr/>
        </p:nvSpPr>
        <p:spPr>
          <a:xfrm>
            <a:off x="4480560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6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395935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74920" y="3785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90th-percentile wait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07492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 h, arrival to drip</a:t>
            </a:r>
            <a:endParaRPr lang="en-US" sz="1250" dirty="0"/>
          </a:p>
        </p:txBody>
      </p:sp>
      <p:sp>
        <p:nvSpPr>
          <p:cNvPr id="19" name="card66"/>
          <p:cNvSpPr/>
          <p:nvPr/>
        </p:nvSpPr>
        <p:spPr>
          <a:xfrm>
            <a:off x="8046720" y="370332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EEF3F1"/>
          </a:solidFill>
          <a:ln/>
        </p:spPr>
      </p:sp>
      <p:sp>
        <p:nvSpPr>
          <p:cNvPr id="20" name="iconbg67"/>
          <p:cNvSpPr/>
          <p:nvPr/>
        </p:nvSpPr>
        <p:spPr>
          <a:xfrm>
            <a:off x="8229600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6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39593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823960" y="37856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rule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82396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missed cycle given within 3 days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rule</a:t>
            </a:r>
            <a:endParaRPr lang="en-US" sz="1500" dirty="0"/>
          </a:p>
        </p:txBody>
      </p:sp>
      <p:sp>
        <p:nvSpPr>
          <p:cNvPr id="25" name="far68"/>
          <p:cNvSpPr/>
          <p:nvPr/>
        </p:nvSpPr>
        <p:spPr>
          <a:xfrm>
            <a:off x="548640" y="5029200"/>
            <a:ext cx="4226560" cy="274320"/>
          </a:xfrm>
          <a:prstGeom prst="roundRect">
            <a:avLst>
              <a:gd name="adj" fmla="val 16667"/>
            </a:avLst>
          </a:prstGeom>
          <a:solidFill>
            <a:srgbClr val="C2649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4008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patient: may run to 18:20</a:t>
            </a:r>
            <a:endParaRPr lang="en-US" sz="1150" dirty="0"/>
          </a:p>
        </p:txBody>
      </p:sp>
      <p:sp>
        <p:nvSpPr>
          <p:cNvPr id="27" name="local69"/>
          <p:cNvSpPr/>
          <p:nvPr/>
        </p:nvSpPr>
        <p:spPr>
          <a:xfrm>
            <a:off x="1869440" y="5349240"/>
            <a:ext cx="2905760" cy="274320"/>
          </a:xfrm>
          <a:prstGeom prst="roundRect">
            <a:avLst>
              <a:gd name="adj" fmla="val 16667"/>
            </a:avLst>
          </a:prstGeom>
          <a:solidFill>
            <a:srgbClr val="E3A008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9608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seated, ends by 18:20</a:t>
            </a:r>
            <a:endParaRPr lang="en-US" sz="1150" dirty="0"/>
          </a:p>
        </p:txBody>
      </p:sp>
      <p:sp>
        <p:nvSpPr>
          <p:cNvPr id="29" name="close70"/>
          <p:cNvSpPr/>
          <p:nvPr/>
        </p:nvSpPr>
        <p:spPr>
          <a:xfrm>
            <a:off x="3718560" y="4956048"/>
            <a:ext cx="0" cy="731520"/>
          </a:xfrm>
          <a:prstGeom prst="line">
            <a:avLst/>
          </a:prstGeom>
          <a:noFill/>
          <a:ln w="15875">
            <a:solidFill>
              <a:srgbClr val="1C2A30"/>
            </a:solidFill>
            <a:prstDash val="solid"/>
          </a:ln>
        </p:spPr>
      </p:sp>
      <p:sp>
        <p:nvSpPr>
          <p:cNvPr id="30" name="max71"/>
          <p:cNvSpPr/>
          <p:nvPr/>
        </p:nvSpPr>
        <p:spPr>
          <a:xfrm>
            <a:off x="5303520" y="4956048"/>
            <a:ext cx="0" cy="731520"/>
          </a:xfrm>
          <a:prstGeom prst="line">
            <a:avLst/>
          </a:prstGeom>
          <a:noFill/>
          <a:ln w="15875">
            <a:solidFill>
              <a:srgbClr val="EB6834"/>
            </a:solidFill>
            <a:prstDash val="dash"/>
          </a:ln>
        </p:spPr>
      </p:sp>
      <p:sp>
        <p:nvSpPr>
          <p:cNvPr id="31" name="Text 26"/>
          <p:cNvSpPr txBox="1"/>
          <p:nvPr/>
        </p:nvSpPr>
        <p:spPr>
          <a:xfrm>
            <a:off x="3444240" y="5715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4892040" y="5715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 max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5760720" y="47091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seated patient always finishes. 18:00 stretches only for far patients; a local patient may use a free chair if they finish before the far patient does. Otherwise: sent home, urgent rebook.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5760720" y="5532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at most 5 patients told the same time; nurses are a variable, the model reports how many are needed.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FORMULATION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optimiser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E73"/>
                </a:solidFill>
              </a:rPr>
              <a:t>Integer programme, solved every evening for tomorrow (HiGHS, 15-min slots)</a:t>
            </a:r>
            <a:endParaRPr lang="en-US" sz="1500" dirty="0"/>
          </a:p>
        </p:txBody>
      </p:sp>
      <p:sp>
        <p:nvSpPr>
          <p:cNvPr id="5" name="card72"/>
          <p:cNvSpPr/>
          <p:nvPr/>
        </p:nvSpPr>
        <p:spPr>
          <a:xfrm>
            <a:off x="548640" y="178308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EEF3F1"/>
          </a:solidFill>
          <a:ln/>
        </p:spPr>
      </p:sp>
      <p:sp>
        <p:nvSpPr>
          <p:cNvPr id="6" name="iconbg7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7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665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patient's chair slot (internal)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left out of the plan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slots for same-day reviews and tomorrow's pre-clearance visits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arrival = slot − buffer</a:t>
            </a:r>
            <a:endParaRPr lang="en-US" sz="1300" dirty="0"/>
          </a:p>
        </p:txBody>
      </p:sp>
      <p:sp>
        <p:nvSpPr>
          <p:cNvPr id="10" name="card74"/>
          <p:cNvSpPr/>
          <p:nvPr/>
        </p:nvSpPr>
        <p:spPr>
          <a:xfrm>
            <a:off x="4297680" y="178308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EEF3F1"/>
          </a:solidFill>
          <a:ln/>
        </p:spPr>
      </p:sp>
      <p:sp>
        <p:nvSpPr>
          <p:cNvPr id="11" name="iconbg75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7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0665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2064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606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 ≤ 20; reserved chairs kept for urgent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Nurses: 4 × setups + drips ≤ 4 × 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Doctors: reviews ≤ what 2 doctors can finish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by the close; ≤ 5 told the same time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out more urgent patients than greedy</a:t>
            </a:r>
            <a:endParaRPr lang="en-US" sz="1300" dirty="0"/>
          </a:p>
        </p:txBody>
      </p:sp>
      <p:sp>
        <p:nvSpPr>
          <p:cNvPr id="15" name="card76"/>
          <p:cNvSpPr/>
          <p:nvPr/>
        </p:nvSpPr>
        <p:spPr>
          <a:xfrm>
            <a:off x="8046720" y="178308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12302D"/>
          </a:solidFill>
          <a:ln/>
        </p:spPr>
      </p:sp>
      <p:sp>
        <p:nvSpPr>
          <p:cNvPr id="16" name="iconbg77"/>
          <p:cNvSpPr/>
          <p:nvPr/>
        </p:nvSpPr>
        <p:spPr>
          <a:xfrm>
            <a:off x="8275320" y="1965960"/>
            <a:ext cx="457200" cy="457200"/>
          </a:xfrm>
          <a:prstGeom prst="ellipse">
            <a:avLst/>
          </a:prstGeom>
          <a:solidFill>
            <a:srgbClr val="1C4541"/>
          </a:solidFill>
          <a:ln/>
        </p:spPr>
      </p:sp>
      <p:pic>
        <p:nvPicPr>
          <p:cNvPr id="17" name="icon7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06654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6968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Maximises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6060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× chair-minutes used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+ 0.30 × doctor minutes used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− 0.10 × patients left out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tie-break: earlier finishes</a:t>
            </a:r>
            <a:endParaRPr lang="en-US" sz="1300" dirty="0"/>
          </a:p>
        </p:txBody>
      </p:sp>
      <p:sp>
        <p:nvSpPr>
          <p:cNvPr id="20" name="card78"/>
          <p:cNvSpPr/>
          <p:nvPr/>
        </p:nvSpPr>
        <p:spPr>
          <a:xfrm>
            <a:off x="548640" y="461772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EEF3F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77240" y="4681728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buffer  </a:t>
            </a:r>
            <a:pPr indent="0" marL="0">
              <a:buNone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 patient needs to become ready, set so 8 in 10 are ready by their slot: pre-cleared and urgent 1 h 30 m · same-day 5 h</a:t>
            </a:r>
            <a:endParaRPr lang="en-US" sz="1250" dirty="0"/>
          </a:p>
        </p:txBody>
      </p:sp>
      <p:sp>
        <p:nvSpPr>
          <p:cNvPr id="22" name="card79"/>
          <p:cNvSpPr/>
          <p:nvPr/>
        </p:nvSpPr>
        <p:spPr>
          <a:xfrm>
            <a:off x="6172200" y="4617720"/>
            <a:ext cx="5440680" cy="868680"/>
          </a:xfrm>
          <a:prstGeom prst="roundRect">
            <a:avLst>
              <a:gd name="adj" fmla="val 12632"/>
            </a:avLst>
          </a:prstGeom>
          <a:solidFill>
            <a:srgbClr val="EEF3F1"/>
          </a:solidFill>
          <a:ln/>
        </p:spPr>
      </p:sp>
      <p:sp>
        <p:nvSpPr>
          <p:cNvPr id="23" name="iconbg80"/>
          <p:cNvSpPr/>
          <p:nvPr/>
        </p:nvSpPr>
        <p:spPr>
          <a:xfrm>
            <a:off x="6355080" y="4818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8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91947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468172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 </a:t>
            </a:r>
            <a:pPr indent="0" marL="0">
              <a:buNone/>
            </a:pPr>
            <a:r>
              <a:rPr lang="en-US" sz="12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constraint re-verified on 20 days (20/20) · equals brute force on 6 small cases (6/6) · never below greedy on its own plan (20/20)</a:t>
            </a:r>
            <a:endParaRPr lang="en-US" sz="1250" dirty="0"/>
          </a:p>
        </p:txBody>
      </p:sp>
      <p:sp>
        <p:nvSpPr>
          <p:cNvPr id="26" name="takeaway81"/>
          <p:cNvSpPr/>
          <p:nvPr/>
        </p:nvSpPr>
        <p:spPr>
          <a:xfrm>
            <a:off x="548640" y="566928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2302D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566928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chair slot 11:30, same-day buffer 5 h → patient told to come at 06:30.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RESULT 1 · BOOKING RULES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better rule beat today's practice?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E73"/>
                </a:solidFill>
              </a:rPr>
              <a:t>Five ways to tell patients when to come · 120 days each, same patients for every rule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63640" y="1783080"/>
          <a:ext cx="53492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919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Everyone at 08:00   </a:t>
            </a:r>
            <a:pPr indent="0" marL="0">
              <a:buNone/>
            </a:pPr>
            <a:r>
              <a:rPr lang="en-US" sz="12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practice: all told 08:00, first come first served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4919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 Longest / shortest first   </a:t>
            </a:r>
            <a:pPr indent="0" marL="0">
              <a:buNone/>
            </a:pPr>
            <a:r>
              <a:rPr lang="en-US" sz="12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(or shortest) drips go first; told 1 h before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2303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Optimiser   </a:t>
            </a:r>
            <a:pPr indent="0" marL="0">
              <a:buNone/>
            </a:pPr>
            <a:r>
              <a:rPr lang="en-US" sz="12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rule, but the evening optimiser picks the best slots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172200" y="52303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Buffer rule   </a:t>
            </a:r>
            <a:pPr indent="0" marL="0">
              <a:buNone/>
            </a:pPr>
            <a:r>
              <a:rPr lang="en-US" sz="12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time = chair slot − time needed to get ready</a:t>
            </a:r>
            <a:endParaRPr lang="en-US" sz="1200" dirty="0"/>
          </a:p>
        </p:txBody>
      </p:sp>
      <p:sp>
        <p:nvSpPr>
          <p:cNvPr id="11" name="takeaway82"/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2302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each patient a time based on their own readiness: +9 points chair use and ~22 fewer sent home a day. The simple buffer rule does as well as the optimiser.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RESULT 2 · WHAT THE UNIT CAN CHANGE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Pre-clearance and nurses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E73"/>
                </a:solidFill>
              </a:rPr>
              <a:t>Each point = mean of 120 days, buffer rule + optimiser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63640" y="1783080"/>
          <a:ext cx="5349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864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→ 60% pre-cleared: </a:t>
            </a:r>
            <a:pPr indent="0" marL="0">
              <a:buNone/>
            </a:pPr>
            <a:r>
              <a:rPr lang="en-US" sz="13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home 15.6 → 6.0 a day. Chair use barely moves (51%).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486460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6 nurses the unit breaks; </a:t>
            </a:r>
            <a:pPr indent="0" marL="0">
              <a:buNone/>
            </a:pPr>
            <a:r>
              <a:rPr lang="en-US" sz="13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 extra nurses change almost nothing.</a:t>
            </a:r>
            <a:endParaRPr lang="en-US" sz="1300" dirty="0"/>
          </a:p>
        </p:txBody>
      </p:sp>
      <p:sp>
        <p:nvSpPr>
          <p:cNvPr id="9" name="takeaway83"/>
          <p:cNvSpPr/>
          <p:nvPr/>
        </p:nvSpPr>
        <p:spPr>
          <a:xfrm>
            <a:off x="548640" y="539496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2302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22960" y="53949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change the unit controls: pre-clear 60% + 7 nurses → 2.9 sent home a day.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tested: reserved chairs and standby patients matter little once the pharmacy has 4 hoods (best: 3 reserved, 5 standby). Robustness: the conclusions hold when every input is halved or doubled.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RESULT 3 · BOTTLENECK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bottleneck is the pharmacy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E73"/>
                </a:solidFill>
              </a:rPr>
              <a:t>Found while checking why the cycle rule failed</a:t>
            </a:r>
            <a:endParaRPr lang="en-US" sz="1500" dirty="0"/>
          </a:p>
        </p:txBody>
      </p:sp>
      <p:sp>
        <p:nvSpPr>
          <p:cNvPr id="5" name="card84"/>
          <p:cNvSpPr/>
          <p:nvPr/>
        </p:nvSpPr>
        <p:spPr>
          <a:xfrm>
            <a:off x="548640" y="178308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EEF3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hoods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missed cycles given in 3 days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home a day</a:t>
            </a:r>
            <a:endParaRPr lang="en-US" sz="1250" dirty="0"/>
          </a:p>
        </p:txBody>
      </p:sp>
      <p:sp>
        <p:nvSpPr>
          <p:cNvPr id="11" name="arrow85"/>
          <p:cNvSpPr/>
          <p:nvPr/>
        </p:nvSpPr>
        <p:spPr>
          <a:xfrm>
            <a:off x="3401568" y="3017520"/>
            <a:ext cx="329184" cy="365760"/>
          </a:xfrm>
          <a:prstGeom prst="rightArrow">
            <a:avLst/>
          </a:prstGeom>
          <a:solidFill>
            <a:srgbClr val="B8C5C1"/>
          </a:solidFill>
          <a:ln/>
        </p:spPr>
      </p:sp>
      <p:sp>
        <p:nvSpPr>
          <p:cNvPr id="12" name="card86"/>
          <p:cNvSpPr/>
          <p:nvPr/>
        </p:nvSpPr>
        <p:spPr>
          <a:xfrm>
            <a:off x="3840480" y="178308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1230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1480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hoods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99.6%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missed cycles given in 3 days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home a day</a:t>
            </a:r>
            <a:endParaRPr lang="en-US" sz="1250" dirty="0"/>
          </a:p>
        </p:txBody>
      </p:sp>
      <p:sp>
        <p:nvSpPr>
          <p:cNvPr id="18" name="iconbg87"/>
          <p:cNvSpPr/>
          <p:nvPr/>
        </p:nvSpPr>
        <p:spPr>
          <a:xfrm>
            <a:off x="6949440" y="1783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con8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0024" y="1883664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543800" y="1856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23774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drugs a day × ~40 min = 2,000 hood-minutes; 3 hoods give only 1,800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patients waited ~4 h 30 m at the pharmacy, missed the close, were sent home again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chairs (best 16%) and extra nurses did not fix it; one more hood did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missed cycles traced end to end: the rebooking logic is correct</a:t>
            </a:r>
            <a:endParaRPr lang="en-US" sz="1350" dirty="0"/>
          </a:p>
        </p:txBody>
      </p:sp>
      <p:sp>
        <p:nvSpPr>
          <p:cNvPr id="22" name="card88"/>
          <p:cNvSpPr/>
          <p:nvPr/>
        </p:nvSpPr>
        <p:spPr>
          <a:xfrm>
            <a:off x="548640" y="47548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EF3F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4773168"/>
            <a:ext cx="10652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chair use stays near 51%   </a:t>
            </a:r>
            <a:pPr indent="0" marL="0">
              <a:buNone/>
            </a:pPr>
            <a:r>
              <a:rPr lang="en-US" sz="1200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not the schedule: 8 new patients a day fill only 6,120 of 12,000 chair-minutes. Idle time is mostly mornings, while same-day patients are still in lab. For 85% use the unit needs ~13 new patients a day, then a 3rd doctor and a 5th hood.</a:t>
            </a:r>
            <a:endParaRPr lang="en-US" sz="1200" dirty="0"/>
          </a:p>
        </p:txBody>
      </p:sp>
      <p:sp>
        <p:nvSpPr>
          <p:cNvPr id="24" name="takeaway89"/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2302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pharmacy hood matters more than extra chairs, nurses or reserved slots.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RESULT 4 · CHAIR TIME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chair time goes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E73"/>
                </a:solidFill>
              </a:rPr>
              <a:t>One day: 20 chairs × 10 h = 12,000 chair-minutes · base case, mean of 120 days</a:t>
            </a:r>
            <a:endParaRPr lang="en-US" sz="1500" dirty="0"/>
          </a:p>
        </p:txBody>
      </p:sp>
      <p:sp>
        <p:nvSpPr>
          <p:cNvPr id="5" name="seg90"/>
          <p:cNvSpPr/>
          <p:nvPr/>
        </p:nvSpPr>
        <p:spPr>
          <a:xfrm>
            <a:off x="548640" y="1828800"/>
            <a:ext cx="5606186" cy="10515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54141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50592"/>
            <a:ext cx="5368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6,120 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55513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treatment</a:t>
            </a:r>
            <a:endParaRPr lang="en-US" sz="1250" dirty="0"/>
          </a:p>
        </p:txBody>
      </p:sp>
      <p:sp>
        <p:nvSpPr>
          <p:cNvPr id="9" name="seg91"/>
          <p:cNvSpPr/>
          <p:nvPr/>
        </p:nvSpPr>
        <p:spPr>
          <a:xfrm>
            <a:off x="6191402" y="1828800"/>
            <a:ext cx="3725266" cy="105156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8562" y="1920240"/>
            <a:ext cx="35332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28562" y="2450592"/>
            <a:ext cx="34875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 min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91402" y="2971800"/>
            <a:ext cx="36704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here, not ready yet</a:t>
            </a:r>
            <a:endParaRPr lang="en-US" sz="1250" dirty="0"/>
          </a:p>
        </p:txBody>
      </p:sp>
      <p:sp>
        <p:nvSpPr>
          <p:cNvPr id="13" name="seg92"/>
          <p:cNvSpPr/>
          <p:nvPr/>
        </p:nvSpPr>
        <p:spPr>
          <a:xfrm>
            <a:off x="9953244" y="1828800"/>
            <a:ext cx="1069848" cy="1051560"/>
          </a:xfrm>
          <a:prstGeom prst="rect">
            <a:avLst/>
          </a:prstGeom>
          <a:solidFill>
            <a:srgbClr val="8C9A9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90404" y="192024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865108" y="29718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left to seat</a:t>
            </a:r>
            <a:endParaRPr lang="en-US" sz="1250" dirty="0"/>
          </a:p>
        </p:txBody>
      </p:sp>
      <p:sp>
        <p:nvSpPr>
          <p:cNvPr id="16" name="seg93"/>
          <p:cNvSpPr/>
          <p:nvPr/>
        </p:nvSpPr>
        <p:spPr>
          <a:xfrm>
            <a:off x="11059668" y="1828800"/>
            <a:ext cx="516636" cy="1051560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96828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nurse</a:t>
            </a:r>
            <a:endParaRPr lang="en-US" sz="1250" dirty="0"/>
          </a:p>
        </p:txBody>
      </p:sp>
      <p:sp>
        <p:nvSpPr>
          <p:cNvPr id="19" name="card94"/>
          <p:cNvSpPr/>
          <p:nvPr/>
        </p:nvSpPr>
        <p:spPr>
          <a:xfrm>
            <a:off x="548640" y="3657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DEBE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 yet: 34%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mornings, while same-day patients are still in lab (~3 h), doctor and pharmacy.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pre-clear patients the day before; faster lab results</a:t>
            </a:r>
            <a:endParaRPr lang="en-US" sz="1250" dirty="0"/>
          </a:p>
        </p:txBody>
      </p:sp>
      <p:sp>
        <p:nvSpPr>
          <p:cNvPr id="23" name="card95"/>
          <p:cNvSpPr/>
          <p:nvPr/>
        </p:nvSpPr>
        <p:spPr>
          <a:xfrm>
            <a:off x="4297680" y="3657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EF3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2628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left to seat: 10%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new patients a day is not enough to fill 20 chairs.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more patients (≈13 a day for 85% use), or fewer chairs</a:t>
            </a:r>
            <a:endParaRPr lang="en-US" sz="1250" dirty="0"/>
          </a:p>
        </p:txBody>
      </p:sp>
      <p:sp>
        <p:nvSpPr>
          <p:cNvPr id="27" name="card96"/>
          <p:cNvSpPr/>
          <p:nvPr/>
        </p:nvSpPr>
        <p:spPr>
          <a:xfrm>
            <a:off x="8046720" y="3657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EF3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7532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nurse: 5%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chair is free and a patient ready, but every nurse is busy setting up.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846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7 nurses instead of 6</a:t>
            </a:r>
            <a:endParaRPr lang="en-US" sz="1250" dirty="0"/>
          </a:p>
        </p:txBody>
      </p:sp>
      <p:sp>
        <p:nvSpPr>
          <p:cNvPr id="31" name="takeaway97"/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2302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62356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 mostly wait for patients to become ready. Getting patients ready earlier is the biggest lever.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</a:rPr>
              <a:t>LIVE DEMO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simulator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E73"/>
                </a:solidFill>
              </a:rPr>
              <a:t>Every day the model plays out, minute by minute, in the browser</a:t>
            </a:r>
            <a:endParaRPr lang="en-US" sz="1500" dirty="0"/>
          </a:p>
        </p:txBody>
      </p:sp>
      <p:sp>
        <p:nvSpPr>
          <p:cNvPr id="5" name="card98"/>
          <p:cNvSpPr/>
          <p:nvPr/>
        </p:nvSpPr>
        <p:spPr>
          <a:xfrm>
            <a:off x="548640" y="1783080"/>
            <a:ext cx="7452360" cy="3703320"/>
          </a:xfrm>
          <a:prstGeom prst="roundRect">
            <a:avLst>
              <a:gd name="adj" fmla="val 2963"/>
            </a:avLst>
          </a:prstGeom>
          <a:solidFill>
            <a:srgbClr val="EEF3F1"/>
          </a:solidFill>
          <a:ln/>
        </p:spPr>
      </p:sp>
      <p:pic>
        <p:nvPicPr>
          <p:cNvPr id="6" name="screensh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38528"/>
            <a:ext cx="7086600" cy="3455981"/>
          </a:xfrm>
          <a:prstGeom prst="rect">
            <a:avLst/>
          </a:prstGeom>
        </p:spPr>
      </p:pic>
      <p:sp>
        <p:nvSpPr>
          <p:cNvPr id="7" name="card99"/>
          <p:cNvSpPr/>
          <p:nvPr/>
        </p:nvSpPr>
        <p:spPr>
          <a:xfrm>
            <a:off x="8229600" y="1783080"/>
            <a:ext cx="3383280" cy="1143000"/>
          </a:xfrm>
          <a:prstGeom prst="roundRect">
            <a:avLst>
              <a:gd name="adj" fmla="val 9600"/>
            </a:avLst>
          </a:prstGeom>
          <a:solidFill>
            <a:srgbClr val="EEF3F1"/>
          </a:solidFill>
          <a:ln/>
        </p:spPr>
      </p:sp>
      <p:sp>
        <p:nvSpPr>
          <p:cNvPr id="8" name="iconbg100"/>
          <p:cNvSpPr/>
          <p:nvPr/>
        </p:nvSpPr>
        <p:spPr>
          <a:xfrm>
            <a:off x="8412480" y="194767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10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006" y="2038198"/>
            <a:ext cx="230429" cy="23042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6112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24048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Clock, chair use, doctor use, sent home; station queues; 20 chair tiles that fill as the drip runs; doctor and nurse chips</a:t>
            </a:r>
            <a:endParaRPr lang="en-US" sz="1100" dirty="0"/>
          </a:p>
        </p:txBody>
      </p:sp>
      <p:sp>
        <p:nvSpPr>
          <p:cNvPr id="12" name="card101"/>
          <p:cNvSpPr/>
          <p:nvPr/>
        </p:nvSpPr>
        <p:spPr>
          <a:xfrm>
            <a:off x="8229600" y="3044952"/>
            <a:ext cx="3383280" cy="1143000"/>
          </a:xfrm>
          <a:prstGeom prst="roundRect">
            <a:avLst>
              <a:gd name="adj" fmla="val 9600"/>
            </a:avLst>
          </a:prstGeom>
          <a:solidFill>
            <a:srgbClr val="EEF3F1"/>
          </a:solidFill>
          <a:ln/>
        </p:spPr>
      </p:sp>
      <p:sp>
        <p:nvSpPr>
          <p:cNvPr id="13" name="iconbg102"/>
          <p:cNvSpPr/>
          <p:nvPr/>
        </p:nvSpPr>
        <p:spPr>
          <a:xfrm>
            <a:off x="8412480" y="320954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10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006" y="3300070"/>
            <a:ext cx="230429" cy="23042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961120" y="3227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412480" y="36667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experiments, each with one chart and a one-line answer</a:t>
            </a:r>
            <a:endParaRPr lang="en-US" sz="1100" dirty="0"/>
          </a:p>
        </p:txBody>
      </p:sp>
      <p:sp>
        <p:nvSpPr>
          <p:cNvPr id="17" name="card103"/>
          <p:cNvSpPr/>
          <p:nvPr/>
        </p:nvSpPr>
        <p:spPr>
          <a:xfrm>
            <a:off x="8229600" y="4306824"/>
            <a:ext cx="3383280" cy="1143000"/>
          </a:xfrm>
          <a:prstGeom prst="roundRect">
            <a:avLst>
              <a:gd name="adj" fmla="val 9600"/>
            </a:avLst>
          </a:prstGeom>
          <a:solidFill>
            <a:srgbClr val="EEF3F1"/>
          </a:solidFill>
          <a:ln/>
        </p:spPr>
      </p:sp>
      <p:sp>
        <p:nvSpPr>
          <p:cNvPr id="18" name="iconbg104"/>
          <p:cNvSpPr/>
          <p:nvPr/>
        </p:nvSpPr>
        <p:spPr>
          <a:xfrm>
            <a:off x="8412480" y="447141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10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006" y="4561942"/>
            <a:ext cx="230429" cy="23042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61120" y="4489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412480" y="49286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Flow, closing rule, every input with its source; Python and website give identical numbers</a:t>
            </a:r>
            <a:endParaRPr lang="en-US" sz="1100" dirty="0"/>
          </a:p>
        </p:txBody>
      </p:sp>
      <p:sp>
        <p:nvSpPr>
          <p:cNvPr id="22" name="url105"/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2302D"/>
          </a:solidFill>
          <a:ln/>
        </p:spPr>
      </p:sp>
      <p:sp>
        <p:nvSpPr>
          <p:cNvPr id="23" name="iconbg106"/>
          <p:cNvSpPr/>
          <p:nvPr/>
        </p:nvSpPr>
        <p:spPr>
          <a:xfrm>
            <a:off x="731520" y="573328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10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5821802"/>
            <a:ext cx="225308" cy="2253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25880" y="5623560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https://ie301-infucinq.iitbresume.workers.dev/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9C3"/>
                </a:solidFill>
              </a:rPr>
              <a:t>WHAT WE FOUND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answers from 120 simulated days</a:t>
            </a:r>
            <a:endParaRPr lang="en-US" sz="3200" dirty="0"/>
          </a:p>
        </p:txBody>
      </p:sp>
      <p:sp>
        <p:nvSpPr>
          <p:cNvPr id="4" name="card107"/>
          <p:cNvSpPr/>
          <p:nvPr/>
        </p:nvSpPr>
        <p:spPr>
          <a:xfrm>
            <a:off x="548640" y="16459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C4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 pts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use, and ~22 fewer sent home a day, by telling each patient a time based on their own readiness</a:t>
            </a:r>
            <a:endParaRPr lang="en-US" sz="1500" dirty="0"/>
          </a:p>
        </p:txBody>
      </p:sp>
      <p:sp>
        <p:nvSpPr>
          <p:cNvPr id="7" name="card108"/>
          <p:cNvSpPr/>
          <p:nvPr/>
        </p:nvSpPr>
        <p:spPr>
          <a:xfrm>
            <a:off x="6172200" y="16459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C4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874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home a day with 60% pre-cleared and 7 nurses: the best change the unit controls</a:t>
            </a:r>
            <a:endParaRPr lang="en-US" sz="1500" dirty="0"/>
          </a:p>
        </p:txBody>
      </p:sp>
      <p:sp>
        <p:nvSpPr>
          <p:cNvPr id="10" name="card109"/>
          <p:cNvSpPr/>
          <p:nvPr/>
        </p:nvSpPr>
        <p:spPr>
          <a:xfrm>
            <a:off x="548640" y="37947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C4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023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6A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 → 99.6%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46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cycles given within 3 days, from one extra pharmacy hood</a:t>
            </a:r>
            <a:endParaRPr lang="en-US" sz="1500" dirty="0"/>
          </a:p>
        </p:txBody>
      </p:sp>
      <p:sp>
        <p:nvSpPr>
          <p:cNvPr id="13" name="card110"/>
          <p:cNvSpPr/>
          <p:nvPr/>
        </p:nvSpPr>
        <p:spPr>
          <a:xfrm>
            <a:off x="6172200" y="37947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C4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4023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846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chair time is lost to patients who are here but not ready: the biggest lever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C9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9C3"/>
                </a:solidFill>
              </a:rPr>
              <a:t>TEAM INFUCINQ · IE301 OPERATIONS ANALYSIS · TOPIC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6916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257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C9C3"/>
                </a:solidFill>
              </a:rPr>
              <a:t>Parav · Sahasra · Siddhesh · Vaibhav · Kartikya</a:t>
            </a:r>
            <a:endParaRPr lang="en-US" sz="1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UCINQ Final">
  <a:themeElements>
    <a:clrScheme name="INFUCINQ Final">
      <a:dk1>
        <a:srgbClr val="1C2A30"/>
      </a:dk1>
      <a:lt1>
        <a:srgbClr val="FFFFFF"/>
      </a:lt1>
      <a:dk2>
        <a:srgbClr val="12302D"/>
      </a:dk2>
      <a:lt2>
        <a:srgbClr val="EEF3F1"/>
      </a:lt2>
      <a:accent1>
        <a:srgbClr val="0F766E"/>
      </a:accent1>
      <a:accent2>
        <a:srgbClr val="EB6834"/>
      </a:accent2>
      <a:accent3>
        <a:srgbClr val="2A78D6"/>
      </a:accent3>
      <a:accent4>
        <a:srgbClr val="E3A008"/>
      </a:accent4>
      <a:accent5>
        <a:srgbClr val="C2649A"/>
      </a:accent5>
      <a:accent6>
        <a:srgbClr val="1BAF7A"/>
      </a:accent6>
      <a:hlink>
        <a:srgbClr val="0F766E"/>
      </a:hlink>
      <a:folHlink>
        <a:srgbClr val="6250D6"/>
      </a:folHlink>
    </a:clrScheme>
    <a:fontScheme name="INFUCINQ Fi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IE301 Operations Analysis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analysis of a day-care chemotherapy unit</dc:title>
  <dc:subject>PptxGenJS Presentation</dc:subject>
  <dc:creator>Team INFUCINQ</dc:creator>
  <cp:lastModifiedBy>Team INFUCINQ</cp:lastModifiedBy>
  <cp:revision>1</cp:revision>
  <dcterms:created xsi:type="dcterms:W3CDTF">2026-10-28T02:12:23Z</dcterms:created>
  <dcterms:modified xsi:type="dcterms:W3CDTF">2026-10-28T02:12:23Z</dcterms:modified>
</cp:coreProperties>
</file>