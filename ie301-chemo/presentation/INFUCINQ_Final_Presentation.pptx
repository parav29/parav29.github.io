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103f818-4b69-7ee6-60b9-2def925126d1}">
          <p14:sldIdLst>
            <p14:sldId id="256"/>
          </p14:sldIdLst>
        </p14:section>
        <p14:section name="The problem" id="{c95cab9f-e7fe-d868-6ce2-059eea656bb5}">
          <p14:sldIdLst>
            <p14:sldId id="257"/>
            <p14:sldId id="258"/>
          </p14:sldIdLst>
        </p14:section>
        <p14:section name="Our proposal" id="{e3a41821-b0f4-94ba-2701-3b6e55b1c6d0}">
          <p14:sldIdLst>
            <p14:sldId id="259"/>
            <p14:sldId id="260"/>
          </p14:sldIdLst>
        </p14:section>
        <p14:section name="Data and simulation" id="{0a35d6cc-5c42-8b38-f629-c669f238059e}">
          <p14:sldIdLst>
            <p14:sldId id="261"/>
            <p14:sldId id="262"/>
          </p14:sldIdLst>
        </p14:section>
        <p14:section name="Formulation" id="{dd208e83-37d2-d898-6dd9-26edd5f85817}">
          <p14:sldIdLst>
            <p14:sldId id="263"/>
            <p14:sldId id="264"/>
          </p14:sldIdLst>
        </p14:section>
        <p14:section name="Results" id="{e9ae3657-a5e2-8afd-22c2-a0735ac42086}">
          <p14:sldIdLst>
            <p14:sldId id="265"/>
            <p14:sldId id="266"/>
            <p14:sldId id="267"/>
            <p14:sldId id="268"/>
            <p14:sldId id="269"/>
          </p14:sldIdLst>
        </p14:section>
        <p14:section name="Close" id="{85d1fc91-d9a7-65de-bb59-7a794499e26a}">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A30"/>
                </a:solidFill>
                <a:latin typeface="+mn-lt"/>
              </a:defRPr>
            </a:pPr>
            <a:r>
              <a:rPr sz="1400" b="0" i="0" u="none" strike="noStrike">
                <a:solidFill>
                  <a:srgbClr val="1C2A30"/>
                </a:solidFill>
                <a:latin typeface="+mn-lt"/>
              </a:rPr>
              <a:t>Overtime after 18:00 (min per day)</a:t>
            </a:r>
          </a:p>
        </c:rich>
      </c:tx>
      <c:layout/>
      <c:overlay val="0"/>
    </c:title>
    <c:autoTitleDeleted val="0"/>
    <c:plotArea>
      <c:layout/>
      <c:barChart>
        <c:barDir val="bar"/>
        <c:grouping val="stacked"/>
        <c:varyColors val="0"/>
        <c:ser>
          <c:idx val="0"/>
          <c:order val="0"/>
          <c:tx>
            <c:strRef>
              <c:f>Sheet1!$B$1</c:f>
              <c:strCache>
                <c:ptCount val="1"/>
                <c:pt idx="0">
                  <c:v>Other rules</c:v>
                </c:pt>
              </c:strCache>
            </c:strRef>
          </c:tx>
          <c:spPr>
            <a:solidFill>
              <a:srgbClr val="8C9A97"/>
            </a:solidFill>
            <a:effectLst/>
          </c:spPr>
          <c:invertIfNegative val="0"/>
          <c:dLbls>
            <c:numFmt formatCode="0;-0;"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Sheet1!$A$2:$A$6</c:f>
              <c:multiLvlStrCache>
                <c:ptCount val="5"/>
                <c:lvl>
                  <c:pt idx="0">
                    <c:v>Everyone at 08:00</c:v>
                  </c:pt>
                  <c:pt idx="1">
                    <c:v>Longest first, 1 h early</c:v>
                  </c:pt>
                  <c:pt idx="2">
                    <c:v>Shortest first, 1 h early</c:v>
                  </c:pt>
                  <c:pt idx="3">
                    <c:v>Two times, greedy</c:v>
                  </c:pt>
                  <c:pt idx="4">
                    <c:v>Two times, MIP</c:v>
                  </c:pt>
                </c:lvl>
              </c:multiLvlStrCache>
            </c:multiLvlStrRef>
          </c:cat>
          <c:val>
            <c:numRef>
              <c:f>Sheet1!$B$2:$B$6</c:f>
              <c:numCache>
                <c:formatCode>General</c:formatCode>
                <c:ptCount val="5"/>
                <c:pt idx="0">
                  <c:v>127</c:v>
                </c:pt>
                <c:pt idx="1">
                  <c:v>106</c:v>
                </c:pt>
                <c:pt idx="2">
                  <c:v>264</c:v>
                </c:pt>
                <c:pt idx="3">
                  <c:v>60</c:v>
                </c:pt>
                <c:pt idx="4">
                  <c:v>0</c:v>
                </c:pt>
              </c:numCache>
            </c:numRef>
          </c:val>
        </c:ser>
        <c:ser>
          <c:idx val="1"/>
          <c:order val="1"/>
          <c:tx>
            <c:strRef>
              <c:f>Sheet1!$C$1</c:f>
              <c:strCache>
                <c:ptCount val="1"/>
                <c:pt idx="0">
                  <c:v>Two times, MIP</c:v>
                </c:pt>
              </c:strCache>
            </c:strRef>
          </c:tx>
          <c:spPr>
            <a:solidFill>
              <a:srgbClr val="0F766E"/>
            </a:solidFill>
            <a:effectLst/>
          </c:spPr>
          <c:invertIfNegative val="0"/>
          <c:dLbls>
            <c:numFmt formatCode="0;-0;"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Sheet1!$A$2:$A$6</c:f>
              <c:multiLvlStrCache>
                <c:ptCount val="5"/>
                <c:lvl>
                  <c:pt idx="0">
                    <c:v>Everyone at 08:00</c:v>
                  </c:pt>
                  <c:pt idx="1">
                    <c:v>Longest first, 1 h early</c:v>
                  </c:pt>
                  <c:pt idx="2">
                    <c:v>Shortest first, 1 h early</c:v>
                  </c:pt>
                  <c:pt idx="3">
                    <c:v>Two times, greedy</c:v>
                  </c:pt>
                  <c:pt idx="4">
                    <c:v>Two times, MIP</c:v>
                  </c:pt>
                </c:lvl>
              </c:multiLvlStrCache>
            </c:multiLvlStrRef>
          </c:cat>
          <c:val>
            <c:numRef>
              <c:f>Sheet1!$C$2:$C$6</c:f>
              <c:numCache>
                <c:formatCode>General</c:formatCode>
                <c:ptCount val="5"/>
                <c:pt idx="0">
                  <c:v>0</c:v>
                </c:pt>
                <c:pt idx="1">
                  <c:v>0</c:v>
                </c:pt>
                <c:pt idx="2">
                  <c:v>0</c:v>
                </c:pt>
                <c:pt idx="3">
                  <c:v>0</c:v>
                </c:pt>
                <c:pt idx="4">
                  <c:v>37</c:v>
                </c:pt>
              </c:numCache>
            </c:numRef>
          </c:val>
        </c:ser>
        <c:dLbls>
          <c:numFmt formatCode="0;-0;"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E6E7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E6E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A30"/>
                </a:solidFill>
                <a:latin typeface="+mn-lt"/>
              </a:defRPr>
            </a:pPr>
            <a:r>
              <a:rPr sz="1400" b="0" i="0" u="none" strike="noStrike">
                <a:solidFill>
                  <a:srgbClr val="1C2A30"/>
                </a:solidFill>
                <a:latin typeface="+mn-lt"/>
              </a:rPr>
              <a:t>Mean wait, arrival to drip (min)</a:t>
            </a:r>
          </a:p>
        </c:rich>
      </c:tx>
      <c:layout/>
      <c:overlay val="0"/>
    </c:title>
    <c:autoTitleDeleted val="0"/>
    <c:plotArea>
      <c:layout/>
      <c:barChart>
        <c:barDir val="bar"/>
        <c:grouping val="stacked"/>
        <c:varyColors val="0"/>
        <c:ser>
          <c:idx val="0"/>
          <c:order val="0"/>
          <c:tx>
            <c:strRef>
              <c:f>Sheet1!$B$1</c:f>
              <c:strCache>
                <c:ptCount val="1"/>
                <c:pt idx="0">
                  <c:v>Other rules</c:v>
                </c:pt>
              </c:strCache>
            </c:strRef>
          </c:tx>
          <c:spPr>
            <a:solidFill>
              <a:srgbClr val="8C9A97"/>
            </a:solidFill>
            <a:effectLst/>
          </c:spPr>
          <c:invertIfNegative val="0"/>
          <c:dLbls>
            <c:numFmt formatCode="0;-0;"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Sheet1!$A$2:$A$6</c:f>
              <c:multiLvlStrCache>
                <c:ptCount val="5"/>
                <c:lvl>
                  <c:pt idx="0">
                    <c:v>Everyone at 08:00</c:v>
                  </c:pt>
                  <c:pt idx="1">
                    <c:v>Longest first, 1 h early</c:v>
                  </c:pt>
                  <c:pt idx="2">
                    <c:v>Shortest first, 1 h early</c:v>
                  </c:pt>
                  <c:pt idx="3">
                    <c:v>Two times, greedy</c:v>
                  </c:pt>
                  <c:pt idx="4">
                    <c:v>Two times, MIP</c:v>
                  </c:pt>
                </c:lvl>
              </c:multiLvlStrCache>
            </c:multiLvlStrRef>
          </c:cat>
          <c:val>
            <c:numRef>
              <c:f>Sheet1!$B$2:$B$6</c:f>
              <c:numCache>
                <c:formatCode>General</c:formatCode>
                <c:ptCount val="5"/>
                <c:pt idx="0">
                  <c:v>316</c:v>
                </c:pt>
                <c:pt idx="1">
                  <c:v>206</c:v>
                </c:pt>
                <c:pt idx="2">
                  <c:v>208</c:v>
                </c:pt>
                <c:pt idx="3">
                  <c:v>208</c:v>
                </c:pt>
                <c:pt idx="4">
                  <c:v>0</c:v>
                </c:pt>
              </c:numCache>
            </c:numRef>
          </c:val>
        </c:ser>
        <c:ser>
          <c:idx val="1"/>
          <c:order val="1"/>
          <c:tx>
            <c:strRef>
              <c:f>Sheet1!$C$1</c:f>
              <c:strCache>
                <c:ptCount val="1"/>
                <c:pt idx="0">
                  <c:v>Two times, MIP</c:v>
                </c:pt>
              </c:strCache>
            </c:strRef>
          </c:tx>
          <c:spPr>
            <a:solidFill>
              <a:srgbClr val="0F766E"/>
            </a:solidFill>
            <a:effectLst/>
          </c:spPr>
          <c:invertIfNegative val="0"/>
          <c:dLbls>
            <c:numFmt formatCode="0;-0;"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Sheet1!$A$2:$A$6</c:f>
              <c:multiLvlStrCache>
                <c:ptCount val="5"/>
                <c:lvl>
                  <c:pt idx="0">
                    <c:v>Everyone at 08:00</c:v>
                  </c:pt>
                  <c:pt idx="1">
                    <c:v>Longest first, 1 h early</c:v>
                  </c:pt>
                  <c:pt idx="2">
                    <c:v>Shortest first, 1 h early</c:v>
                  </c:pt>
                  <c:pt idx="3">
                    <c:v>Two times, greedy</c:v>
                  </c:pt>
                  <c:pt idx="4">
                    <c:v>Two times, MIP</c:v>
                  </c:pt>
                </c:lvl>
              </c:multiLvlStrCache>
            </c:multiLvlStrRef>
          </c:cat>
          <c:val>
            <c:numRef>
              <c:f>Sheet1!$C$2:$C$6</c:f>
              <c:numCache>
                <c:formatCode>General</c:formatCode>
                <c:ptCount val="5"/>
                <c:pt idx="0">
                  <c:v>0</c:v>
                </c:pt>
                <c:pt idx="1">
                  <c:v>0</c:v>
                </c:pt>
                <c:pt idx="2">
                  <c:v>0</c:v>
                </c:pt>
                <c:pt idx="3">
                  <c:v>0</c:v>
                </c:pt>
                <c:pt idx="4">
                  <c:v>213</c:v>
                </c:pt>
              </c:numCache>
            </c:numRef>
          </c:val>
        </c:ser>
        <c:dLbls>
          <c:numFmt formatCode="0;-0;"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1"/>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E6E7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E6E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A30"/>
                </a:solidFill>
                <a:latin typeface="+mn-lt"/>
              </a:defRPr>
            </a:pPr>
            <a:r>
              <a:rPr sz="1400" b="0" i="0" u="none" strike="noStrike">
                <a:solidFill>
                  <a:srgbClr val="1C2A30"/>
                </a:solidFill>
                <a:latin typeface="+mn-lt"/>
              </a:rPr>
              <a:t>Overtime (min per day) by share of patients pre-cleared the day before</a:t>
            </a:r>
          </a:p>
        </c:rich>
      </c:tx>
      <c:layout/>
      <c:overlay val="0"/>
    </c:title>
    <c:autoTitleDeleted val="0"/>
    <c:plotArea>
      <c:layout/>
      <c:lineChart>
        <c:varyColors val="0"/>
        <c:ser>
          <c:idx val="0"/>
          <c:order val="0"/>
          <c:tx>
            <c:strRef>
              <c:f>Sheet1!$B$1</c:f>
              <c:strCache>
                <c:ptCount val="1"/>
                <c:pt idx="0">
                  <c:v>Everyone at 08:00</c:v>
                </c:pt>
              </c:strCache>
            </c:strRef>
          </c:tx>
          <c:spPr>
            <a:solidFill>
              <a:srgbClr val="8C9A97"/>
            </a:solidFill>
            <a:ln w="38100" cap="flat">
              <a:solidFill>
                <a:srgbClr val="8C9A97"/>
              </a:solidFill>
              <a:prstDash val="solid"/>
              <a:round/>
            </a:ln>
            <a:effectLst/>
          </c:spPr>
          <c:invertIfNegative val="0"/>
          <c:dLbls>
            <c:numFmt formatCode="#,##0" sourceLinked="0"/>
            <c:txPr>
              <a:bodyPr/>
              <a:lstStyle/>
              <a:p>
                <a:pPr>
                  <a:defRPr b="0" i="0" strike="noStrike" sz="1200" u="none">
                    <a:solidFill>
                      <a:srgbClr val="1C2A30"/>
                    </a:solidFill>
                    <a:latin typeface="+mn-lt"/>
                  </a:defRPr>
                </a:pPr>
              </a:p>
            </c:txPr>
            <c:dLblPos val="t"/>
            <c:showLegendKey val="0"/>
            <c:showVal val="1"/>
            <c:showCatName val="0"/>
            <c:showSerName val="0"/>
            <c:showPercent val="0"/>
            <c:showBubbleSize val="0"/>
            <c:showLeaderLines val="0"/>
          </c:dLbls>
          <c:marker>
            <c:symbol val="circle"/>
            <c:size val="9"/>
            <c:spPr>
              <a:solidFill>
                <a:srgbClr val="8C9A97"/>
              </a:solidFill>
              <a:ln w="9525" cap="flat">
                <a:solidFill>
                  <a:srgbClr val="8C9A97"/>
                </a:solidFill>
                <a:prstDash val="solid"/>
                <a:round/>
              </a:ln>
              <a:effectLst/>
            </c:spPr>
          </c:marker>
          <c:cat>
            <c:multiLvlStrRef>
              <c:f>Sheet1!$A$2:$A$7</c:f>
              <c:multiLvlStrCache>
                <c:ptCount val="6"/>
                <c:lvl>
                  <c:pt idx="0">
                    <c:v>0%</c:v>
                  </c:pt>
                  <c:pt idx="1">
                    <c:v>20%</c:v>
                  </c:pt>
                  <c:pt idx="2">
                    <c:v>40%</c:v>
                  </c:pt>
                  <c:pt idx="3">
                    <c:v>60%</c:v>
                  </c:pt>
                  <c:pt idx="4">
                    <c:v>80%</c:v>
                  </c:pt>
                  <c:pt idx="5">
                    <c:v>100%</c:v>
                  </c:pt>
                </c:lvl>
              </c:multiLvlStrCache>
            </c:multiLvlStrRef>
          </c:cat>
          <c:val>
            <c:numRef>
              <c:f>Sheet1!$B$2:$B$7</c:f>
              <c:numCache>
                <c:formatCode>General</c:formatCode>
                <c:ptCount val="6"/>
                <c:pt idx="0">
                  <c:v>185</c:v>
                </c:pt>
                <c:pt idx="1">
                  <c:v>141</c:v>
                </c:pt>
                <c:pt idx="2">
                  <c:v>107</c:v>
                </c:pt>
                <c:pt idx="3">
                  <c:v>79</c:v>
                </c:pt>
                <c:pt idx="4">
                  <c:v>67</c:v>
                </c:pt>
                <c:pt idx="5">
                  <c:v>58</c:v>
                </c:pt>
              </c:numCache>
            </c:numRef>
          </c:val>
          <c:smooth val="0"/>
        </c:ser>
        <c:ser>
          <c:idx val="1"/>
          <c:order val="1"/>
          <c:tx>
            <c:strRef>
              <c:f>Sheet1!$C$1</c:f>
              <c:strCache>
                <c:ptCount val="1"/>
                <c:pt idx="0">
                  <c:v>Two times, MIP</c:v>
                </c:pt>
              </c:strCache>
            </c:strRef>
          </c:tx>
          <c:spPr>
            <a:solidFill>
              <a:srgbClr val="0F766E"/>
            </a:solidFill>
            <a:ln w="38100" cap="flat">
              <a:solidFill>
                <a:srgbClr val="0F766E"/>
              </a:solidFill>
              <a:prstDash val="solid"/>
              <a:round/>
            </a:ln>
            <a:effectLst/>
          </c:spPr>
          <c:invertIfNegative val="0"/>
          <c:dLbls>
            <c:numFmt formatCode="#,##0" sourceLinked="0"/>
            <c:txPr>
              <a:bodyPr/>
              <a:lstStyle/>
              <a:p>
                <a:pPr>
                  <a:defRPr b="0" i="0" strike="noStrike" sz="1200" u="none">
                    <a:solidFill>
                      <a:srgbClr val="1C2A30"/>
                    </a:solidFill>
                    <a:latin typeface="+mn-lt"/>
                  </a:defRPr>
                </a:pPr>
              </a:p>
            </c:txPr>
            <c:dLblPos val="t"/>
            <c:showLegendKey val="0"/>
            <c:showVal val="1"/>
            <c:showCatName val="0"/>
            <c:showSerName val="0"/>
            <c:showPercent val="0"/>
            <c:showBubbleSize val="0"/>
            <c:showLeaderLines val="0"/>
          </c:dLbls>
          <c:marker>
            <c:symbol val="circle"/>
            <c:size val="9"/>
            <c:spPr>
              <a:solidFill>
                <a:srgbClr val="0F766E"/>
              </a:solidFill>
              <a:ln w="9525" cap="flat">
                <a:solidFill>
                  <a:srgbClr val="0F766E"/>
                </a:solidFill>
                <a:prstDash val="solid"/>
                <a:round/>
              </a:ln>
              <a:effectLst/>
            </c:spPr>
          </c:marker>
          <c:cat>
            <c:multiLvlStrRef>
              <c:f>Sheet1!$A$2:$A$7</c:f>
              <c:multiLvlStrCache>
                <c:ptCount val="6"/>
                <c:lvl>
                  <c:pt idx="0">
                    <c:v>0%</c:v>
                  </c:pt>
                  <c:pt idx="1">
                    <c:v>20%</c:v>
                  </c:pt>
                  <c:pt idx="2">
                    <c:v>40%</c:v>
                  </c:pt>
                  <c:pt idx="3">
                    <c:v>60%</c:v>
                  </c:pt>
                  <c:pt idx="4">
                    <c:v>80%</c:v>
                  </c:pt>
                  <c:pt idx="5">
                    <c:v>100%</c:v>
                  </c:pt>
                </c:lvl>
              </c:multiLvlStrCache>
            </c:multiLvlStrRef>
          </c:cat>
          <c:val>
            <c:numRef>
              <c:f>Sheet1!$C$2:$C$7</c:f>
              <c:numCache>
                <c:formatCode>General</c:formatCode>
                <c:ptCount val="6"/>
                <c:pt idx="0">
                  <c:v>100</c:v>
                </c:pt>
                <c:pt idx="1">
                  <c:v>48</c:v>
                </c:pt>
                <c:pt idx="2">
                  <c:v>27</c:v>
                </c:pt>
                <c:pt idx="3">
                  <c:v>15</c:v>
                </c:pt>
                <c:pt idx="4">
                  <c:v>8</c:v>
                </c:pt>
                <c:pt idx="5">
                  <c:v>3.5</c:v>
                </c:pt>
              </c:numCache>
            </c:numRef>
          </c:val>
          <c:smooth val="0"/>
        </c:ser>
        <c:dLbls>
          <c:numFmt formatCode="#,##0" sourceLinked="0"/>
          <c:txPr>
            <a:bodyPr/>
            <a:lstStyle/>
            <a:p>
              <a:pPr>
                <a:defRPr b="0" i="0" strike="noStrike" sz="1200" u="none">
                  <a:solidFill>
                    <a:srgbClr val="1C2A30"/>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E6E73"/>
                </a:solidFill>
                <a:latin typeface="+mn-lt"/>
              </a:defRPr>
            </a:pPr>
            <a:endParaRPr lang="en-US"/>
          </a:p>
        </c:txPr>
        <c:crossAx val="2094734552"/>
        <c:crosses val="autoZero"/>
        <c:auto val="1"/>
        <c:lblAlgn val="ctr"/>
        <c:noMultiLvlLbl val="1"/>
      </c:catAx>
      <c:valAx>
        <c:axId val="2094734552"/>
        <c:scaling>
          <c:orientation val="minMax"/>
          <c:max val="200"/>
          <c:min val="0"/>
        </c:scaling>
        <c:delete val="0"/>
        <c:axPos val="l"/>
        <c:majorGridlines>
          <c:spPr>
            <a:ln w="9525" cap="flat">
              <a:solidFill>
                <a:srgbClr val="E3E8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E6E73"/>
                </a:solidFill>
                <a:latin typeface="+mn-lt"/>
              </a:defRPr>
            </a:pPr>
            <a:endParaRPr lang="en-US"/>
          </a:p>
        </c:txPr>
        <c:crossAx val="2094734554"/>
        <c:crosses val="autoZero"/>
        <c:crossBetween val="between"/>
        <c:majorUnit val="50"/>
      </c:valAx>
      <c:spPr>
        <a:noFill/>
        <a:ln>
          <a:noFill/>
        </a:ln>
        <a:effectLst/>
      </c:spPr>
    </c:plotArea>
    <c:legend>
      <c:legendPos val="b"/>
      <c:overlay val="0"/>
      <c:txPr>
        <a:bodyPr/>
        <a:lstStyle/>
        <a:p>
          <a:pPr>
            <a:defRPr sz="1200">
              <a:solidFill>
                <a:srgbClr val="1C2A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A30"/>
                </a:solidFill>
                <a:latin typeface="+mn-lt"/>
              </a:defRPr>
            </a:pPr>
            <a:r>
              <a:rPr sz="1400" b="0" i="0" u="none" strike="noStrike">
                <a:solidFill>
                  <a:srgbClr val="1C2A30"/>
                </a:solidFill>
                <a:latin typeface="+mn-lt"/>
              </a:rPr>
              <a:t>Overtime after 18:00 (min per day), 100 days</a:t>
            </a:r>
          </a:p>
        </c:rich>
      </c:tx>
      <c:layout/>
      <c:overlay val="0"/>
    </c:title>
    <c:autoTitleDeleted val="0"/>
    <c:plotArea>
      <c:layout/>
      <c:barChart>
        <c:barDir val="bar"/>
        <c:grouping val="stacked"/>
        <c:varyColors val="0"/>
        <c:ser>
          <c:idx val="0"/>
          <c:order val="0"/>
          <c:tx>
            <c:strRef>
              <c:f>Sheet1!$B$1</c:f>
              <c:strCache>
                <c:ptCount val="1"/>
                <c:pt idx="0">
                  <c:v>Other</c:v>
                </c:pt>
              </c:strCache>
            </c:strRef>
          </c:tx>
          <c:spPr>
            <a:solidFill>
              <a:srgbClr val="8C9A97"/>
            </a:solidFill>
            <a:effectLst/>
          </c:spPr>
          <c:invertIfNegative val="0"/>
          <c:dLbls>
            <c:numFmt formatCode="0;-0;"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Sheet1!$A$2:$A$9</c:f>
              <c:multiLvlStrCache>
                <c:ptCount val="8"/>
                <c:lvl>
                  <c:pt idx="0">
                    <c:v>Base: two times, MIP</c:v>
                  </c:pt>
                  <c:pt idx="1">
                    <c:v>Pre-clear 60% + pre-compound</c:v>
                  </c:pt>
                  <c:pt idx="2">
                    <c:v>Pre-clear 60%</c:v>
                  </c:pt>
                  <c:pt idx="3">
                    <c:v>+1 registration desk</c:v>
                  </c:pt>
                  <c:pt idx="4">
                    <c:v>+1 doctor</c:v>
                  </c:pt>
                  <c:pt idx="5">
                    <c:v>+1 pharmacy hood</c:v>
                  </c:pt>
                  <c:pt idx="6">
                    <c:v>+4 chairs</c:v>
                  </c:pt>
                  <c:pt idx="7">
                    <c:v>+2 nurses (no arrival cap)</c:v>
                  </c:pt>
                </c:lvl>
              </c:multiLvlStrCache>
            </c:multiLvlStrRef>
          </c:cat>
          <c:val>
            <c:numRef>
              <c:f>Sheet1!$B$2:$B$9</c:f>
              <c:numCache>
                <c:formatCode>General</c:formatCode>
                <c:ptCount val="8"/>
                <c:pt idx="0">
                  <c:v>37</c:v>
                </c:pt>
                <c:pt idx="1">
                  <c:v>0</c:v>
                </c:pt>
                <c:pt idx="2">
                  <c:v>0</c:v>
                </c:pt>
                <c:pt idx="3">
                  <c:v>25</c:v>
                </c:pt>
                <c:pt idx="4">
                  <c:v>30</c:v>
                </c:pt>
                <c:pt idx="5">
                  <c:v>34</c:v>
                </c:pt>
                <c:pt idx="6">
                  <c:v>38</c:v>
                </c:pt>
                <c:pt idx="7">
                  <c:v>52</c:v>
                </c:pt>
              </c:numCache>
            </c:numRef>
          </c:val>
        </c:ser>
        <c:ser>
          <c:idx val="1"/>
          <c:order val="1"/>
          <c:tx>
            <c:strRef>
              <c:f>Sheet1!$C$1</c:f>
              <c:strCache>
                <c:ptCount val="1"/>
                <c:pt idx="0">
                  <c:v>Process change</c:v>
                </c:pt>
              </c:strCache>
            </c:strRef>
          </c:tx>
          <c:spPr>
            <a:solidFill>
              <a:srgbClr val="0F766E"/>
            </a:solidFill>
            <a:effectLst/>
          </c:spPr>
          <c:invertIfNegative val="0"/>
          <c:dLbls>
            <c:numFmt formatCode="0;-0;"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Sheet1!$A$2:$A$9</c:f>
              <c:multiLvlStrCache>
                <c:ptCount val="8"/>
                <c:lvl>
                  <c:pt idx="0">
                    <c:v>Base: two times, MIP</c:v>
                  </c:pt>
                  <c:pt idx="1">
                    <c:v>Pre-clear 60% + pre-compound</c:v>
                  </c:pt>
                  <c:pt idx="2">
                    <c:v>Pre-clear 60%</c:v>
                  </c:pt>
                  <c:pt idx="3">
                    <c:v>+1 registration desk</c:v>
                  </c:pt>
                  <c:pt idx="4">
                    <c:v>+1 doctor</c:v>
                  </c:pt>
                  <c:pt idx="5">
                    <c:v>+1 pharmacy hood</c:v>
                  </c:pt>
                  <c:pt idx="6">
                    <c:v>+4 chairs</c:v>
                  </c:pt>
                  <c:pt idx="7">
                    <c:v>+2 nurses (no arrival cap)</c:v>
                  </c:pt>
                </c:lvl>
              </c:multiLvlStrCache>
            </c:multiLvlStrRef>
          </c:cat>
          <c:val>
            <c:numRef>
              <c:f>Sheet1!$C$2:$C$9</c:f>
              <c:numCache>
                <c:formatCode>General</c:formatCode>
                <c:ptCount val="8"/>
                <c:pt idx="0">
                  <c:v>0</c:v>
                </c:pt>
                <c:pt idx="1">
                  <c:v>10</c:v>
                </c:pt>
                <c:pt idx="2">
                  <c:v>15</c:v>
                </c:pt>
                <c:pt idx="3">
                  <c:v>0</c:v>
                </c:pt>
                <c:pt idx="4">
                  <c:v>0</c:v>
                </c:pt>
                <c:pt idx="5">
                  <c:v>0</c:v>
                </c:pt>
                <c:pt idx="6">
                  <c:v>0</c:v>
                </c:pt>
                <c:pt idx="7">
                  <c:v>0</c:v>
                </c:pt>
              </c:numCache>
            </c:numRef>
          </c:val>
        </c:ser>
        <c:dLbls>
          <c:numFmt formatCode="0;-0;"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E6E7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E6E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A30"/>
                </a:solidFill>
                <a:latin typeface="+mn-lt"/>
              </a:defRPr>
            </a:pPr>
            <a:r>
              <a:rPr sz="1400" b="0" i="0" u="none" strike="noStrike">
                <a:solidFill>
                  <a:srgbClr val="1C2A30"/>
                </a:solidFill>
                <a:latin typeface="+mn-lt"/>
              </a:rPr>
              <a:t>Overtime (min per day) when reality differs from the plan</a:t>
            </a:r>
          </a:p>
        </c:rich>
      </c:tx>
      <c:layout/>
      <c:overlay val="0"/>
    </c:title>
    <c:autoTitleDeleted val="0"/>
    <c:plotArea>
      <c:layout/>
      <c:barChart>
        <c:barDir val="col"/>
        <c:grouping val="clustered"/>
        <c:varyColors val="0"/>
        <c:ser>
          <c:idx val="0"/>
          <c:order val="0"/>
          <c:tx>
            <c:strRef>
              <c:f>Sheet1!$B$1</c:f>
              <c:strCache>
                <c:ptCount val="1"/>
                <c:pt idx="0">
                  <c:v>Everyone at 08:00</c:v>
                </c:pt>
              </c:strCache>
            </c:strRef>
          </c:tx>
          <c:spPr>
            <a:solidFill>
              <a:srgbClr val="8C9A97"/>
            </a:solidFill>
            <a:effectLst/>
          </c:spPr>
          <c:invertIfNegative val="0"/>
          <c:dLbls>
            <c:numFmt formatCode="#,##0" sourceLinked="0"/>
            <c:txPr>
              <a:bodyPr/>
              <a:lstStyle/>
              <a:p>
                <a:pPr>
                  <a:defRPr b="0" i="0" strike="noStrike" sz="1200" u="none">
                    <a:solidFill>
                      <a:srgbClr val="1C2A30"/>
                    </a:solidFill>
                    <a:latin typeface="+mn-lt"/>
                  </a:defRPr>
                </a:pPr>
              </a:p>
            </c:txPr>
            <c:showLegendKey val="0"/>
            <c:showVal val="1"/>
            <c:showCatName val="0"/>
            <c:showSerName val="0"/>
            <c:showPercent val="0"/>
            <c:showBubbleSize val="0"/>
            <c:showLeaderLines val="0"/>
          </c:dLbls>
          <c:cat>
            <c:multiLvlStrRef>
              <c:f>Sheet1!$A$2:$A$7</c:f>
              <c:multiLvlStrCache>
                <c:ptCount val="6"/>
                <c:lvl>
                  <c:pt idx="0">
                    <c:v>As planned</c:v>
                  </c:pt>
                  <c:pt idx="1">
                    <c:v>Stage spread ×0.5</c:v>
                  </c:pt>
                  <c:pt idx="2">
                    <c:v>Stage spread ×2</c:v>
                  </c:pt>
                  <c:pt idx="3">
                    <c:v>Lateness ×0.5</c:v>
                  </c:pt>
                  <c:pt idx="4">
                    <c:v>Lateness ×2</c:v>
                  </c:pt>
                  <c:pt idx="5">
                    <c:v>Lab 2–4 h (TMH)</c:v>
                  </c:pt>
                </c:lvl>
              </c:multiLvlStrCache>
            </c:multiLvlStrRef>
          </c:cat>
          <c:val>
            <c:numRef>
              <c:f>Sheet1!$B$2:$B$7</c:f>
              <c:numCache>
                <c:formatCode>General</c:formatCode>
                <c:ptCount val="6"/>
                <c:pt idx="0">
                  <c:v>127</c:v>
                </c:pt>
                <c:pt idx="1">
                  <c:v>126</c:v>
                </c:pt>
                <c:pt idx="2">
                  <c:v>125</c:v>
                </c:pt>
                <c:pt idx="3">
                  <c:v>138</c:v>
                </c:pt>
                <c:pt idx="4">
                  <c:v>106</c:v>
                </c:pt>
                <c:pt idx="5">
                  <c:v>184</c:v>
                </c:pt>
              </c:numCache>
            </c:numRef>
          </c:val>
        </c:ser>
        <c:ser>
          <c:idx val="1"/>
          <c:order val="1"/>
          <c:tx>
            <c:strRef>
              <c:f>Sheet1!$C$1</c:f>
              <c:strCache>
                <c:ptCount val="1"/>
                <c:pt idx="0">
                  <c:v>Two times, MIP</c:v>
                </c:pt>
              </c:strCache>
            </c:strRef>
          </c:tx>
          <c:spPr>
            <a:solidFill>
              <a:srgbClr val="0F766E"/>
            </a:solidFill>
            <a:effectLst/>
          </c:spPr>
          <c:invertIfNegative val="0"/>
          <c:dLbls>
            <c:numFmt formatCode="#,##0" sourceLinked="0"/>
            <c:txPr>
              <a:bodyPr/>
              <a:lstStyle/>
              <a:p>
                <a:pPr>
                  <a:defRPr b="0" i="0" strike="noStrike" sz="1200" u="none">
                    <a:solidFill>
                      <a:srgbClr val="1C2A30"/>
                    </a:solidFill>
                    <a:latin typeface="+mn-lt"/>
                  </a:defRPr>
                </a:pPr>
              </a:p>
            </c:txPr>
            <c:showLegendKey val="0"/>
            <c:showVal val="1"/>
            <c:showCatName val="0"/>
            <c:showSerName val="0"/>
            <c:showPercent val="0"/>
            <c:showBubbleSize val="0"/>
            <c:showLeaderLines val="0"/>
          </c:dLbls>
          <c:cat>
            <c:multiLvlStrRef>
              <c:f>Sheet1!$A$2:$A$7</c:f>
              <c:multiLvlStrCache>
                <c:ptCount val="6"/>
                <c:lvl>
                  <c:pt idx="0">
                    <c:v>As planned</c:v>
                  </c:pt>
                  <c:pt idx="1">
                    <c:v>Stage spread ×0.5</c:v>
                  </c:pt>
                  <c:pt idx="2">
                    <c:v>Stage spread ×2</c:v>
                  </c:pt>
                  <c:pt idx="3">
                    <c:v>Lateness ×0.5</c:v>
                  </c:pt>
                  <c:pt idx="4">
                    <c:v>Lateness ×2</c:v>
                  </c:pt>
                  <c:pt idx="5">
                    <c:v>Lab 2–4 h (TMH)</c:v>
                  </c:pt>
                </c:lvl>
              </c:multiLvlStrCache>
            </c:multiLvlStrRef>
          </c:cat>
          <c:val>
            <c:numRef>
              <c:f>Sheet1!$C$2:$C$7</c:f>
              <c:numCache>
                <c:formatCode>General</c:formatCode>
                <c:ptCount val="6"/>
                <c:pt idx="0">
                  <c:v>37</c:v>
                </c:pt>
                <c:pt idx="1">
                  <c:v>30</c:v>
                </c:pt>
                <c:pt idx="2">
                  <c:v>55</c:v>
                </c:pt>
                <c:pt idx="3">
                  <c:v>39</c:v>
                </c:pt>
                <c:pt idx="4">
                  <c:v>42</c:v>
                </c:pt>
                <c:pt idx="5">
                  <c:v>137</c:v>
                </c:pt>
              </c:numCache>
            </c:numRef>
          </c:val>
        </c:ser>
        <c:dLbls>
          <c:numFmt formatCode="#,##0" sourceLinked="0"/>
          <c:txPr>
            <a:bodyPr/>
            <a:lstStyle/>
            <a:p>
              <a:pPr>
                <a:defRPr b="0" i="0" strike="noStrike" sz="1200" u="none">
                  <a:solidFill>
                    <a:srgbClr val="1C2A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E6E7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E6E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C2A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Over this project we studied one question: why do chemotherapy patients in Indian day-care units wait three to four hours before their drip even starts, and what can the unit do about it without buying anything. The three numbers on the right are where we end up: mean wait halves from 316 to 157 minutes, overtime falls from over two hours to ten minutes a day, and none of it needs a new chair or a new nurse. The rest of the talk shows how we got there: the problem, our proposal, the data and simulation, the formulation, and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ten-step flow we presented earlier and that the oncologists at Tata Memorial confirmed during our visit. The key point is the orange block. Most patients do their blood test, wait for the lab, and see the doctor on the same morning, and the pharmacy cannot mix the drug until the doctor clears the counts. So three to four hours pass before the drip starts. Pavithran and colleagues measured a 3.5-hour baseline wait at Amrita in Kochi; an Indian single-centre study measured 5 hours 40 minutes in the unit. At Tata Memorial the scale is 300 to 400 patients a day on 70 to 80 chairs.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constraint is not chairs, it is ready time. In our simulation, 37 percent of chair-hours are wasted while the patient is already in the building but not yet cleared; our Presentation 3 calculation predicted 35 percent from the stage times alone, so the two agree. A same-day patient told to come at eight cannot be ready before about eleven. The published models give us the pieces: Hesaraki's chair and nurse template, Liang's optimise-then-simulate structure, Hadid's fully random stages. What none of them does is set the appointment from an uncertain ready time, or ask how many patients should be cleared the day before. That is our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proposal is simple to explain to a patient. Today they get one time. We give two: the time to arrive, and the time their chair is booked. Both patients here are told to come at eight. The pre-cleared patient only needs registration, billing and the drug, and is ready around 9:18, so their chair is booked for 9:30. The same-day patient still needs the blood test, lab and review, and is ready around 11:10, so their chair is booked for 11:30. The gap B is chosen so 80 percent of patients of that class are ready in time: 90 minutes for pre-cleared, 210 for same-day. These are exactly the 89.9 and 206.2 minutes we computed in Presentation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proposal has three parts, and none of them needs new capacity. First, two-time booking, with the chair slots set by an integer programme so that chairs and nurses are never over-booked. Second, pre-clear about 60 percent of patients the day before by phone triage and outside labs, which is what Amrita in Kochi did, and prepare their drugs before opening. Third, cap how many patients we tell to arrive in each 15 minutes, so registration and the doctors are never swamped. The green line in each card is the measured effect, which I will show in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searched Kaggle and the literature for per-patient timestamps from an infusion unit and found none; the closest datasets are general appointment no-show data. So we built a synthetic dataset where every input carries a source. Stage times are the ranges from Presentation 3, which the TMH doctors agreed with. The infusion mix comes from a real clinic day of 55 patients, and Liang's paper reports the same 45 percent of short infusions. 5,007 patients over 100 days, all 23 statistical checks pass, and the dataset reproduces our Presentation 3 buffers exactly. Every row can be swapped for Tata Memorial data when it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simulation plays out a day patient by patient. Registration has two desks; same-day patients go through the blood counter, the lab, and one of two doctors; billing is an approval delay; pharmacy has three hoods; then the patient waits for a chair and a nurse. Nurses follow Hesaraki's rule: a nurse setting up or taking down a line is fully busy, otherwise one nurse watches four drips. We verified the code ten ways, including hand calculations and Little's law, and validated it against Indian numbers: with spread-out appointments the model gives a 4.1-hour wait against Kochi's 3.5, and 37 percent of morning chair time lost against the 35 percent we predicted. We built it in Python, as an interactive web simulator, and as an AnyLogic 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formulation has two levels. First, the booking rule is a chance constraint: patient i should be ready by their slot with probability at least q. That turns into a fixed buffer per class, the q-quantile of the delay. It is also a newsvendor problem: q is the price of an idle chair relative to a waiting patient. Second, each day an integer programme sets the chair slots. Patients with the same class and infusion length are interchangeable, so the variables are counts per group and slot, which keeps it to about 560 variables. It minimises flowtime, makespan and a heavy overtime penalty, subject to chair capacity, Hesaraki's nurse rule, the buffer, and the arrival cap we added after we found the bottleneck moving to the front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checked the formulation against brute force. For six small random cases we tried every combination of start times; the MIP found exactly the same optimum in the three feasible cases, and proved the other three infeasible, which brute force confirms. On twenty real days it beats the greedy heuristic every time, by 48 percent on its objective, and plans 11 minutes of overtime instead of 76. It solves in about seven seconds a day. For comparison, Hadid's full simulation-optimisation took 13 hours for 246 appointments; that is why we optimise slots deterministically and tune only the buffer.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result: does our rule beat simple practice? On the same 100 days, telling everyone to come at eight gives 127 minutes of overtime and a 316-minute wait. Spreading appointments and telling people to come an hour early, as Liang's clinic did, already fixes the wait, down to about 206 minutes, but leaves over 100 minutes of overtime, and shortest-first is the worst at 264. Our two-time rule with the optimised schedule gives 37 minutes of overtime: 71 percent less than current practice and 65 percent less than the best simple rule, with the same wait. The confidence intervals are a few minutes wide, so these differences are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result, our main research question: how much pre-clearance is enough? With nobody pre-cleared, even the optimal schedule has 100 minutes of overtime, because no same-day patient can reach a chair before 11:30. Overtime falls steeply up to about 60 percent pre-cleared, to 15 minutes, and after that only to 4. So 60 percent is the knee. Waiting keeps improving all the way, because every pre-cleared patient skips about two hours of tests. Note the grey line: if you pre-clear but still tell everyone to come at eight, the gain stalls, so the two changes work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result: which change buys the most? Adding four chairs does nothing, 37 to 38 minutes, because chairs are not what runs out. A third registration desk is the best single resource, 25 minutes. Adding two nurses made things worse, which surprised us. The optimiser had no idea about the front desk, so with nurses no longer limiting, it told many patients to arrive together and the queue moved to registration. That is why we added the arrival cap to the formulation; with it, ten nurses cut overtime to 28 minutes. But the clear winner needs no new staff: pre-clear 60 percent and pre-compound their drugs, giving a 157-minute wait and 10 minutes of overtime.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not know the real spread of Indian stage times, so we made the plan with our base inputs and then let reality differ. Halving or doubling the spreads, or the lateness, never changes the ranking: two-time booking beats everyone-at-eight in every case, and doubling every spread costs only 18 minutes. The one real danger is the lab. Tata Memorial states four hours for a blood count. With a two-to-four-hour lab, overtime rises to 137 minutes, because our buffers were sized for 60 to 120 minutes. So the first thing to measure on the field visit is lab turnaround, and the buffer must be recomputed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it together. Against today's practice of calling everyone at eight, the full package halves the mean wait, from 316 to 157 minutes, and cuts overtime by 92 percent, from 127 minutes a day to 10. Booking alone already removes 71 percent of the overtime. And all of this is with the same 20 chairs and 8 nurses: these are process changes, not purchases.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assumptions our numbers rest on. The data is synthetic but calibrated: stage times are our Presentation 3 ranges and will be replaced when Tata Memorial shares timestamps. The unit is generic, with fixed hours and no walk-ins, unlike Tata Memorial. We allow a ready patient to start early if a chair and nurse are free, and we treat setup and takedown as needing a whole nurse. The optimiser plans with mean durations and the simulation adds the randomness. And the buffers assume a 60 to 120 minute lab; at four hours they must be recomputed.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The problem is ready time: same-day blood work means patients cannot reach a chair before about eleven, and that wastes over a third of chair-hours. Our proposal is two times per patient, with the chair booked a buffer after arrival and the slots set by an integer programme. Every part was verified: the data, the simulation and the optimiser. Booking alone cuts overtime by 71 percent, and with 60 percent pre-clearance and pre-compounding, the wait halves and overtime nearly disappears, with no new chairs or staff. Our next step is to replace the assumed inputs with Tata Memorial measurements, starting with lab turnaround.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FUCINQ Title">
    <p:bg>
      <p:bgPr>
        <a:solidFill>
          <a:srgbClr val="12302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914400"/>
            <a:ext cx="6583680" cy="365760"/>
          </a:xfrm>
          <a:prstGeom prst="rect">
            <a:avLst/>
          </a:prstGeom>
          <a:noFill/>
          <a:ln/>
        </p:spPr>
        <p:txBody>
          <a:bodyPr wrap="square" rtlCol="0"/>
          <a:lstStyle>
            <a:lvl1pPr indent="0" marL="0">
              <a:buNone/>
              <a:defRPr lang="en-US" sz="1400" b="1" spc="200" kern="0" dirty="0">
                <a:solidFill>
                  <a:srgbClr val="9FC9C3"/>
                </a:solidFill>
              </a:defRPr>
            </a:lvl1pPr>
          </a:lstStyle>
          <a:p>
            <a:pPr indent="0" marL="0">
              <a:buNone/>
            </a:pPr>
            <a:endParaRPr lang="en-US" sz="1400" dirty="0"/>
          </a:p>
        </p:txBody>
      </p:sp>
      <p:sp>
        <p:nvSpPr>
          <p:cNvPr id="3" name="Text 0"/>
          <p:cNvSpPr/>
          <p:nvPr>
            <p:ph idx="101" type="title" hasCustomPrompt="1"/>
          </p:nvPr>
        </p:nvSpPr>
        <p:spPr>
          <a:xfrm>
            <a:off x="731520" y="1417320"/>
            <a:ext cx="6766560" cy="1737360"/>
          </a:xfrm>
          <a:prstGeom prst="rect">
            <a:avLst/>
          </a:prstGeom>
          <a:noFill/>
          <a:ln/>
        </p:spPr>
        <p:txBody>
          <a:bodyPr wrap="square" rtlCol="0"/>
          <a:lstStyle>
            <a:lvl1pPr algn="l" indent="0" marL="0">
              <a:buNone/>
              <a:defRPr lang="en-US" sz="5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4" name="Text 0"/>
          <p:cNvSpPr/>
          <p:nvPr>
            <p:ph idx="102" type="body" hasCustomPrompt="1"/>
          </p:nvPr>
        </p:nvSpPr>
        <p:spPr>
          <a:xfrm>
            <a:off x="731520" y="3246120"/>
            <a:ext cx="6400800" cy="1005840"/>
          </a:xfrm>
          <a:prstGeom prst="rect">
            <a:avLst/>
          </a:prstGeom>
          <a:noFill/>
          <a:ln/>
        </p:spPr>
        <p:txBody>
          <a:bodyPr wrap="square" rtlCol="0"/>
          <a:lstStyle>
            <a:lvl1pPr indent="0" marL="0">
              <a:buNone/>
              <a:defRPr lang="en-US" sz="2200" dirty="0">
                <a:solidFill>
                  <a:srgbClr val="D7EAE6"/>
                </a:solidFill>
              </a:defRPr>
            </a:lvl1pPr>
          </a:lstStyle>
          <a:p>
            <a:pPr indent="0" marL="0">
              <a:buNone/>
            </a:pPr>
            <a:endParaRPr lang="en-US" sz="2200" dirty="0"/>
          </a:p>
        </p:txBody>
      </p:sp>
      <p:sp>
        <p:nvSpPr>
          <p:cNvPr id="5" name="Text 0"/>
          <p:cNvSpPr/>
          <p:nvPr>
            <p:ph idx="103" type="body" hasCustomPrompt="1"/>
          </p:nvPr>
        </p:nvSpPr>
        <p:spPr>
          <a:xfrm>
            <a:off x="731520" y="5394960"/>
            <a:ext cx="6766560" cy="731520"/>
          </a:xfrm>
          <a:prstGeom prst="rect">
            <a:avLst/>
          </a:prstGeom>
          <a:noFill/>
          <a:ln/>
        </p:spPr>
        <p:txBody>
          <a:bodyPr wrap="square" rtlCol="0"/>
          <a:lstStyle>
            <a:lvl1pPr indent="0" marL="0">
              <a:buNone/>
              <a:defRPr lang="en-US" sz="1400" dirty="0">
                <a:solidFill>
                  <a:srgbClr val="9FC9C3"/>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FUCINQ 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rtlCol="0"/>
          <a:lstStyle>
            <a:lvl1pPr indent="0" marL="0">
              <a:buNone/>
              <a:defRPr lang="en-US" sz="1200" b="1" spc="200" kern="0" dirty="0">
                <a:solidFill>
                  <a:srgbClr val="0F766E"/>
                </a:solidFill>
              </a:defRPr>
            </a:lvl1pPr>
          </a:lstStyle>
          <a:p>
            <a:pPr indent="0" marL="0">
              <a:buNone/>
            </a:pP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rtlCol="0"/>
          <a:lstStyle>
            <a:lvl1pPr algn="l" indent="0" marL="0">
              <a:buNone/>
              <a:defRPr lang="en-US" sz="3400" b="1" dirty="0">
                <a:solidFill>
                  <a:srgbClr val="1C2A30"/>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4"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5E6E73"/>
                </a:solidFill>
              </a:rPr>
              <a:t>IE301 Operations Analysis · Topic 1 · Team INFUCINQ</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FUCINQ Dark">
    <p:bg>
      <p:bgPr>
        <a:solidFill>
          <a:srgbClr val="12302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rtlCol="0"/>
          <a:lstStyle>
            <a:lvl1pPr indent="0" marL="0">
              <a:buNone/>
              <a:defRPr lang="en-US" sz="1200" b="1" spc="200" kern="0" dirty="0">
                <a:solidFill>
                  <a:srgbClr val="9FC9C3"/>
                </a:solidFill>
              </a:defRPr>
            </a:lvl1pPr>
          </a:lstStyle>
          <a:p>
            <a:pPr indent="0" marL="0">
              <a:buNone/>
            </a:pP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rtlCol="0"/>
          <a:lstStyle>
            <a:lvl1pPr algn="l" indent="0" marL="0">
              <a:buNone/>
              <a:defRPr lang="en-US" sz="3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4"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9FC9C3"/>
                </a:solidFill>
              </a:rPr>
              <a:t>IE301 Operations Analysis · Topic 1 · Team INFUCINQ</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C9C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914400"/>
            <a:ext cx="6583680" cy="365760"/>
          </a:xfrm>
          <a:prstGeom prst="rect">
            <a:avLst/>
          </a:prstGeom>
          <a:noFill/>
          <a:ln/>
        </p:spPr>
        <p:txBody>
          <a:bodyPr wrap="square" rtlCol="0"/>
          <a:lstStyle/>
          <a:p>
            <a:pPr indent="0" marL="0">
              <a:buNone/>
            </a:pPr>
            <a:r>
              <a:rPr lang="en-US" sz="1400" b="1" spc="200" kern="0" dirty="0">
                <a:solidFill>
                  <a:srgbClr val="9FC9C3"/>
                </a:solidFill>
              </a:rPr>
              <a:t>IE301 · TOPIC 1 · FINAL PRESENTATION</a:t>
            </a:r>
            <a:endParaRPr lang="en-US" sz="1400" dirty="0"/>
          </a:p>
        </p:txBody>
      </p:sp>
      <p:sp>
        <p:nvSpPr>
          <p:cNvPr id="3" name="Text 0"/>
          <p:cNvSpPr/>
          <p:nvPr>
            <p:ph idx="101" type="title" hasCustomPrompt="1"/>
          </p:nvPr>
        </p:nvSpPr>
        <p:spPr>
          <a:xfrm>
            <a:off x="731520" y="1417320"/>
            <a:ext cx="6766560" cy="1737360"/>
          </a:xfrm>
          <a:prstGeom prst="rect">
            <a:avLst/>
          </a:prstGeom>
          <a:noFill/>
          <a:ln/>
        </p:spPr>
        <p:txBody>
          <a:bodyPr wrap="square" rtlCol="0" anchor="t"/>
          <a:lstStyle/>
          <a:p>
            <a:pPr algn="l" indent="0" marL="0">
              <a:buNone/>
            </a:pPr>
            <a:r>
              <a:rPr lang="en-US" sz="5400" b="1" dirty="0">
                <a:solidFill>
                  <a:srgbClr val="FFFFFF"/>
                </a:solidFill>
                <a:latin typeface="Cambria" pitchFamily="34" charset="0"/>
                <a:ea typeface="Cambria" pitchFamily="34" charset="-122"/>
                <a:cs typeface="Cambria" pitchFamily="34" charset="-120"/>
              </a:rPr>
              <a:t>Two times per patient</a:t>
            </a:r>
            <a:endParaRPr lang="en-US" sz="5400" dirty="0"/>
          </a:p>
        </p:txBody>
      </p:sp>
      <p:sp>
        <p:nvSpPr>
          <p:cNvPr id="4" name="Text 0"/>
          <p:cNvSpPr/>
          <p:nvPr>
            <p:ph idx="102" type="body" hasCustomPrompt="1"/>
          </p:nvPr>
        </p:nvSpPr>
        <p:spPr>
          <a:xfrm>
            <a:off x="731520" y="3246120"/>
            <a:ext cx="6400800" cy="1005840"/>
          </a:xfrm>
          <a:prstGeom prst="rect">
            <a:avLst/>
          </a:prstGeom>
          <a:noFill/>
          <a:ln/>
        </p:spPr>
        <p:txBody>
          <a:bodyPr wrap="square" rtlCol="0" anchor="t"/>
          <a:lstStyle/>
          <a:p>
            <a:pPr indent="0" marL="0">
              <a:buNone/>
            </a:pPr>
            <a:r>
              <a:rPr lang="en-US" sz="2200" dirty="0">
                <a:solidFill>
                  <a:srgbClr val="D7EAE6"/>
                </a:solidFill>
              </a:rPr>
              <a:t>Cutting waiting and overtime in an Indian day-care chemotherapy unit</a:t>
            </a:r>
            <a:endParaRPr lang="en-US" sz="2200" dirty="0"/>
          </a:p>
        </p:txBody>
      </p:sp>
      <p:sp>
        <p:nvSpPr>
          <p:cNvPr id="5" name="Text 0"/>
          <p:cNvSpPr/>
          <p:nvPr>
            <p:ph idx="103" type="body" hasCustomPrompt="1"/>
          </p:nvPr>
        </p:nvSpPr>
        <p:spPr>
          <a:xfrm>
            <a:off x="731520" y="5394960"/>
            <a:ext cx="6766560" cy="731520"/>
          </a:xfrm>
          <a:prstGeom prst="rect">
            <a:avLst/>
          </a:prstGeom>
          <a:noFill/>
          <a:ln/>
        </p:spPr>
        <p:txBody>
          <a:bodyPr wrap="square" rtlCol="0" anchor="t"/>
          <a:lstStyle/>
          <a:p>
            <a:pPr indent="0" marL="0">
              <a:buNone/>
            </a:pPr>
            <a:r>
              <a:rPr lang="en-US" sz="1400" dirty="0">
                <a:solidFill>
                  <a:srgbClr val="9FC9C3"/>
                </a:solidFill>
              </a:rPr>
              <a:t>Team INFUCINQ</a:t>
            </a:r>
            <a:endParaRPr lang="en-US" sz="1400" dirty="0"/>
          </a:p>
          <a:p>
            <a:pPr indent="0" marL="0">
              <a:buNone/>
            </a:pPr>
            <a:r>
              <a:rPr lang="en-US" sz="1400" dirty="0">
                <a:solidFill>
                  <a:srgbClr val="9FC9C3"/>
                </a:solidFill>
              </a:rPr>
              <a:t>Parav · Sahasra · Siddhesh · Vaibhav · Kartikya</a:t>
            </a:r>
            <a:endParaRPr lang="en-US" sz="1400" dirty="0"/>
          </a:p>
        </p:txBody>
      </p:sp>
      <p:sp>
        <p:nvSpPr>
          <p:cNvPr id="6" name="chip1"/>
          <p:cNvSpPr/>
          <p:nvPr/>
        </p:nvSpPr>
        <p:spPr>
          <a:xfrm>
            <a:off x="8001000" y="1143000"/>
            <a:ext cx="3611880" cy="1325880"/>
          </a:xfrm>
          <a:prstGeom prst="roundRect">
            <a:avLst>
              <a:gd name="adj" fmla="val 9655"/>
            </a:avLst>
          </a:prstGeom>
          <a:solidFill>
            <a:srgbClr val="1C4541"/>
          </a:solidFill>
          <a:ln/>
        </p:spPr>
      </p:sp>
      <p:sp>
        <p:nvSpPr>
          <p:cNvPr id="7" name="Text 5"/>
          <p:cNvSpPr txBox="1"/>
          <p:nvPr/>
        </p:nvSpPr>
        <p:spPr>
          <a:xfrm>
            <a:off x="8275320" y="1325880"/>
            <a:ext cx="3200400" cy="594360"/>
          </a:xfrm>
          <a:prstGeom prst="rect">
            <a:avLst/>
          </a:prstGeom>
          <a:noFill/>
          <a:ln/>
        </p:spPr>
        <p:txBody>
          <a:bodyPr wrap="square" lIns="0" tIns="0" rIns="0" bIns="0" rtlCol="0" anchor="t"/>
          <a:lstStyle/>
          <a:p>
            <a:pPr indent="0" marL="0">
              <a:buNone/>
            </a:pPr>
            <a:r>
              <a:rPr lang="en-US" sz="3200" b="1" dirty="0">
                <a:solidFill>
                  <a:srgbClr val="7FD1C7"/>
                </a:solidFill>
                <a:latin typeface="Cambria" pitchFamily="34" charset="0"/>
                <a:ea typeface="Cambria" pitchFamily="34" charset="-122"/>
                <a:cs typeface="Cambria" pitchFamily="34" charset="-120"/>
              </a:rPr>
              <a:t>316 → 157 min</a:t>
            </a:r>
            <a:endParaRPr lang="en-US" sz="3200" dirty="0"/>
          </a:p>
        </p:txBody>
      </p:sp>
      <p:sp>
        <p:nvSpPr>
          <p:cNvPr id="8" name="Text 6"/>
          <p:cNvSpPr txBox="1"/>
          <p:nvPr/>
        </p:nvSpPr>
        <p:spPr>
          <a:xfrm>
            <a:off x="8275320" y="1947672"/>
            <a:ext cx="3200400" cy="365760"/>
          </a:xfrm>
          <a:prstGeom prst="rect">
            <a:avLst/>
          </a:prstGeom>
          <a:noFill/>
          <a:ln/>
        </p:spPr>
        <p:txBody>
          <a:bodyPr wrap="square" lIns="0" tIns="0" rIns="0" bIns="0" rtlCol="0" anchor="t"/>
          <a:lstStyle/>
          <a:p>
            <a:pPr indent="0" marL="0">
              <a:buNone/>
            </a:pPr>
            <a:r>
              <a:rPr lang="en-US" sz="1400" dirty="0">
                <a:solidFill>
                  <a:srgbClr val="D7EAE6"/>
                </a:solidFill>
                <a:latin typeface="Calibri" pitchFamily="34" charset="0"/>
                <a:ea typeface="Calibri" pitchFamily="34" charset="-122"/>
                <a:cs typeface="Calibri" pitchFamily="34" charset="-120"/>
              </a:rPr>
              <a:t>mean wait before the drip</a:t>
            </a:r>
            <a:endParaRPr lang="en-US" sz="1400" dirty="0"/>
          </a:p>
        </p:txBody>
      </p:sp>
      <p:sp>
        <p:nvSpPr>
          <p:cNvPr id="9" name="chip2"/>
          <p:cNvSpPr/>
          <p:nvPr/>
        </p:nvSpPr>
        <p:spPr>
          <a:xfrm>
            <a:off x="8001000" y="2743200"/>
            <a:ext cx="3611880" cy="1325880"/>
          </a:xfrm>
          <a:prstGeom prst="roundRect">
            <a:avLst>
              <a:gd name="adj" fmla="val 9655"/>
            </a:avLst>
          </a:prstGeom>
          <a:solidFill>
            <a:srgbClr val="1C4541"/>
          </a:solidFill>
          <a:ln/>
        </p:spPr>
      </p:sp>
      <p:sp>
        <p:nvSpPr>
          <p:cNvPr id="10" name="Text 8"/>
          <p:cNvSpPr txBox="1"/>
          <p:nvPr/>
        </p:nvSpPr>
        <p:spPr>
          <a:xfrm>
            <a:off x="8275320" y="2926080"/>
            <a:ext cx="3200400" cy="594360"/>
          </a:xfrm>
          <a:prstGeom prst="rect">
            <a:avLst/>
          </a:prstGeom>
          <a:noFill/>
          <a:ln/>
        </p:spPr>
        <p:txBody>
          <a:bodyPr wrap="square" lIns="0" tIns="0" rIns="0" bIns="0" rtlCol="0" anchor="t"/>
          <a:lstStyle/>
          <a:p>
            <a:pPr indent="0" marL="0">
              <a:buNone/>
            </a:pPr>
            <a:r>
              <a:rPr lang="en-US" sz="3200" b="1" dirty="0">
                <a:solidFill>
                  <a:srgbClr val="F6A57F"/>
                </a:solidFill>
                <a:latin typeface="Cambria" pitchFamily="34" charset="0"/>
                <a:ea typeface="Cambria" pitchFamily="34" charset="-122"/>
                <a:cs typeface="Cambria" pitchFamily="34" charset="-120"/>
              </a:rPr>
              <a:t>127 → 10 min</a:t>
            </a:r>
            <a:endParaRPr lang="en-US" sz="3200" dirty="0"/>
          </a:p>
        </p:txBody>
      </p:sp>
      <p:sp>
        <p:nvSpPr>
          <p:cNvPr id="11" name="Text 9"/>
          <p:cNvSpPr txBox="1"/>
          <p:nvPr/>
        </p:nvSpPr>
        <p:spPr>
          <a:xfrm>
            <a:off x="8275320" y="3547872"/>
            <a:ext cx="3200400" cy="365760"/>
          </a:xfrm>
          <a:prstGeom prst="rect">
            <a:avLst/>
          </a:prstGeom>
          <a:noFill/>
          <a:ln/>
        </p:spPr>
        <p:txBody>
          <a:bodyPr wrap="square" lIns="0" tIns="0" rIns="0" bIns="0" rtlCol="0" anchor="t"/>
          <a:lstStyle/>
          <a:p>
            <a:pPr indent="0" marL="0">
              <a:buNone/>
            </a:pPr>
            <a:r>
              <a:rPr lang="en-US" sz="1400" dirty="0">
                <a:solidFill>
                  <a:srgbClr val="D7EAE6"/>
                </a:solidFill>
                <a:latin typeface="Calibri" pitchFamily="34" charset="0"/>
                <a:ea typeface="Calibri" pitchFamily="34" charset="-122"/>
                <a:cs typeface="Calibri" pitchFamily="34" charset="-120"/>
              </a:rPr>
              <a:t>overtime after closing, per day</a:t>
            </a:r>
            <a:endParaRPr lang="en-US" sz="1400" dirty="0"/>
          </a:p>
        </p:txBody>
      </p:sp>
      <p:sp>
        <p:nvSpPr>
          <p:cNvPr id="12" name="chip3"/>
          <p:cNvSpPr/>
          <p:nvPr/>
        </p:nvSpPr>
        <p:spPr>
          <a:xfrm>
            <a:off x="8001000" y="4343400"/>
            <a:ext cx="3611880" cy="1325880"/>
          </a:xfrm>
          <a:prstGeom prst="roundRect">
            <a:avLst>
              <a:gd name="adj" fmla="val 9655"/>
            </a:avLst>
          </a:prstGeom>
          <a:solidFill>
            <a:srgbClr val="1C4541"/>
          </a:solidFill>
          <a:ln/>
        </p:spPr>
      </p:sp>
      <p:sp>
        <p:nvSpPr>
          <p:cNvPr id="13" name="Text 11"/>
          <p:cNvSpPr txBox="1"/>
          <p:nvPr/>
        </p:nvSpPr>
        <p:spPr>
          <a:xfrm>
            <a:off x="8275320" y="4526280"/>
            <a:ext cx="3200400" cy="59436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0</a:t>
            </a:r>
            <a:endParaRPr lang="en-US" sz="3200" dirty="0"/>
          </a:p>
        </p:txBody>
      </p:sp>
      <p:sp>
        <p:nvSpPr>
          <p:cNvPr id="14" name="Text 12"/>
          <p:cNvSpPr txBox="1"/>
          <p:nvPr/>
        </p:nvSpPr>
        <p:spPr>
          <a:xfrm>
            <a:off x="8275320" y="5148072"/>
            <a:ext cx="3200400" cy="365760"/>
          </a:xfrm>
          <a:prstGeom prst="rect">
            <a:avLst/>
          </a:prstGeom>
          <a:noFill/>
          <a:ln/>
        </p:spPr>
        <p:txBody>
          <a:bodyPr wrap="square" lIns="0" tIns="0" rIns="0" bIns="0" rtlCol="0" anchor="t"/>
          <a:lstStyle/>
          <a:p>
            <a:pPr indent="0" marL="0">
              <a:buNone/>
            </a:pPr>
            <a:r>
              <a:rPr lang="en-US" sz="1400" dirty="0">
                <a:solidFill>
                  <a:srgbClr val="D7EAE6"/>
                </a:solidFill>
                <a:latin typeface="Calibri" pitchFamily="34" charset="0"/>
                <a:ea typeface="Calibri" pitchFamily="34" charset="-122"/>
                <a:cs typeface="Calibri" pitchFamily="34" charset="-120"/>
              </a:rPr>
              <a:t>extra chairs, nurses or doctors needed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rgbClr val="0F766E"/>
                </a:solidFill>
              </a:rPr>
              <a:t>THE PROBLEM</a:t>
            </a: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3400" b="1" dirty="0">
                <a:solidFill>
                  <a:srgbClr val="1C2A30"/>
                </a:solidFill>
                <a:latin typeface="Cambria" pitchFamily="34" charset="0"/>
                <a:ea typeface="Cambria" pitchFamily="34" charset="-122"/>
                <a:cs typeface="Cambria" pitchFamily="34" charset="-120"/>
              </a:rPr>
              <a:t>Patients wait 3–4 hours before the drip starts</a:t>
            </a:r>
            <a:endParaRPr lang="en-US" sz="3400" dirty="0"/>
          </a:p>
        </p:txBody>
      </p:sp>
      <p:sp>
        <p:nvSpPr>
          <p:cNvPr id="4" name="step4"/>
          <p:cNvSpPr/>
          <p:nvPr/>
        </p:nvSpPr>
        <p:spPr>
          <a:xfrm>
            <a:off x="548640" y="1783080"/>
            <a:ext cx="1298448" cy="1234440"/>
          </a:xfrm>
          <a:prstGeom prst="roundRect">
            <a:avLst>
              <a:gd name="adj" fmla="val 7407"/>
            </a:avLst>
          </a:prstGeom>
          <a:solidFill>
            <a:srgbClr val="EEF3F1"/>
          </a:solidFill>
          <a:ln/>
        </p:spPr>
      </p:sp>
      <p:sp>
        <p:nvSpPr>
          <p:cNvPr id="5" name="Text 3"/>
          <p:cNvSpPr txBox="1"/>
          <p:nvPr/>
        </p:nvSpPr>
        <p:spPr>
          <a:xfrm>
            <a:off x="676656" y="1892808"/>
            <a:ext cx="457200" cy="292608"/>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676656" y="2194560"/>
            <a:ext cx="1115568" cy="457200"/>
          </a:xfrm>
          <a:prstGeom prst="rect">
            <a:avLst/>
          </a:prstGeom>
          <a:noFill/>
          <a:ln/>
        </p:spPr>
        <p:txBody>
          <a:bodyPr wrap="square" lIns="0" tIns="0" rIns="0" bIns="0" rtlCol="0" anchor="t"/>
          <a:lstStyle/>
          <a:p>
            <a:pPr indent="0" marL="0">
              <a:buNone/>
            </a:pPr>
            <a:r>
              <a:rPr lang="en-US" sz="1350" b="1" dirty="0">
                <a:solidFill>
                  <a:srgbClr val="1C2A30"/>
                </a:solidFill>
                <a:latin typeface="Calibri" pitchFamily="34" charset="0"/>
                <a:ea typeface="Calibri" pitchFamily="34" charset="-122"/>
                <a:cs typeface="Calibri" pitchFamily="34" charset="-120"/>
              </a:rPr>
              <a:t>Registration</a:t>
            </a:r>
            <a:endParaRPr lang="en-US" sz="1350" dirty="0"/>
          </a:p>
        </p:txBody>
      </p:sp>
      <p:sp>
        <p:nvSpPr>
          <p:cNvPr id="7" name="Text 5"/>
          <p:cNvSpPr txBox="1"/>
          <p:nvPr/>
        </p:nvSpPr>
        <p:spPr>
          <a:xfrm>
            <a:off x="676656" y="2697480"/>
            <a:ext cx="1078992" cy="256032"/>
          </a:xfrm>
          <a:prstGeom prst="rect">
            <a:avLst/>
          </a:prstGeom>
          <a:noFill/>
          <a:ln/>
        </p:spPr>
        <p:txBody>
          <a:bodyPr wrap="square" lIns="0" tIns="0" rIns="0" bIns="0" rtlCol="0" anchor="t"/>
          <a:lstStyle/>
          <a:p>
            <a:pPr indent="0" marL="0">
              <a:buNone/>
            </a:pPr>
            <a:r>
              <a:rPr lang="en-US" sz="1200" dirty="0">
                <a:solidFill>
                  <a:srgbClr val="5E6E73"/>
                </a:solidFill>
                <a:latin typeface="Calibri" pitchFamily="34" charset="0"/>
                <a:ea typeface="Calibri" pitchFamily="34" charset="-122"/>
                <a:cs typeface="Calibri" pitchFamily="34" charset="-120"/>
              </a:rPr>
              <a:t>5–15 min</a:t>
            </a:r>
            <a:endParaRPr lang="en-US" sz="1200" dirty="0"/>
          </a:p>
        </p:txBody>
      </p:sp>
      <p:sp>
        <p:nvSpPr>
          <p:cNvPr id="8" name="step5"/>
          <p:cNvSpPr/>
          <p:nvPr/>
        </p:nvSpPr>
        <p:spPr>
          <a:xfrm>
            <a:off x="1956816" y="1783080"/>
            <a:ext cx="1298448" cy="1234440"/>
          </a:xfrm>
          <a:prstGeom prst="roundRect">
            <a:avLst>
              <a:gd name="adj" fmla="val 7407"/>
            </a:avLst>
          </a:prstGeom>
          <a:solidFill>
            <a:srgbClr val="FDEBE2"/>
          </a:solidFill>
          <a:ln w="15875">
            <a:solidFill>
              <a:srgbClr val="EB6834"/>
            </a:solidFill>
            <a:prstDash val="solid"/>
          </a:ln>
        </p:spPr>
      </p:sp>
      <p:sp>
        <p:nvSpPr>
          <p:cNvPr id="9" name="Text 7"/>
          <p:cNvSpPr txBox="1"/>
          <p:nvPr/>
        </p:nvSpPr>
        <p:spPr>
          <a:xfrm>
            <a:off x="2084832" y="1892808"/>
            <a:ext cx="457200" cy="292608"/>
          </a:xfrm>
          <a:prstGeom prst="rect">
            <a:avLst/>
          </a:prstGeom>
          <a:noFill/>
          <a:ln/>
        </p:spPr>
        <p:txBody>
          <a:bodyPr wrap="square" lIns="0" tIns="0" rIns="0" bIns="0" rtlCol="0" anchor="t"/>
          <a:lstStyle/>
          <a:p>
            <a:pPr indent="0" marL="0">
              <a:buNone/>
            </a:pPr>
            <a:r>
              <a:rPr lang="en-US" sz="1800" b="1" dirty="0">
                <a:solidFill>
                  <a:srgbClr val="EB6834"/>
                </a:solidFill>
                <a:latin typeface="Cambria" pitchFamily="34" charset="0"/>
                <a:ea typeface="Cambria" pitchFamily="34" charset="-122"/>
                <a:cs typeface="Cambria" pitchFamily="34" charset="-120"/>
              </a:rPr>
              <a:t>2</a:t>
            </a:r>
            <a:endParaRPr lang="en-US" sz="1800" dirty="0"/>
          </a:p>
        </p:txBody>
      </p:sp>
      <p:sp>
        <p:nvSpPr>
          <p:cNvPr id="10" name="Text 8"/>
          <p:cNvSpPr txBox="1"/>
          <p:nvPr/>
        </p:nvSpPr>
        <p:spPr>
          <a:xfrm>
            <a:off x="2084832" y="2194560"/>
            <a:ext cx="1115568" cy="457200"/>
          </a:xfrm>
          <a:prstGeom prst="rect">
            <a:avLst/>
          </a:prstGeom>
          <a:noFill/>
          <a:ln/>
        </p:spPr>
        <p:txBody>
          <a:bodyPr wrap="square" lIns="0" tIns="0" rIns="0" bIns="0" rtlCol="0" anchor="t"/>
          <a:lstStyle/>
          <a:p>
            <a:pPr indent="0" marL="0">
              <a:buNone/>
            </a:pPr>
            <a:r>
              <a:rPr lang="en-US" sz="1350" b="1" dirty="0">
                <a:solidFill>
                  <a:srgbClr val="1C2A30"/>
                </a:solidFill>
                <a:latin typeface="Calibri" pitchFamily="34" charset="0"/>
                <a:ea typeface="Calibri" pitchFamily="34" charset="-122"/>
                <a:cs typeface="Calibri" pitchFamily="34" charset="-120"/>
              </a:rPr>
              <a:t>Blood draw</a:t>
            </a:r>
            <a:endParaRPr lang="en-US" sz="1350" dirty="0"/>
          </a:p>
        </p:txBody>
      </p:sp>
      <p:sp>
        <p:nvSpPr>
          <p:cNvPr id="11" name="Text 9"/>
          <p:cNvSpPr txBox="1"/>
          <p:nvPr/>
        </p:nvSpPr>
        <p:spPr>
          <a:xfrm>
            <a:off x="2084832" y="2697480"/>
            <a:ext cx="1078992" cy="256032"/>
          </a:xfrm>
          <a:prstGeom prst="rect">
            <a:avLst/>
          </a:prstGeom>
          <a:noFill/>
          <a:ln/>
        </p:spPr>
        <p:txBody>
          <a:bodyPr wrap="square" lIns="0" tIns="0" rIns="0" bIns="0" rtlCol="0" anchor="t"/>
          <a:lstStyle/>
          <a:p>
            <a:pPr indent="0" marL="0">
              <a:buNone/>
            </a:pPr>
            <a:r>
              <a:rPr lang="en-US" sz="1200" dirty="0">
                <a:solidFill>
                  <a:srgbClr val="5E6E73"/>
                </a:solidFill>
                <a:latin typeface="Calibri" pitchFamily="34" charset="0"/>
                <a:ea typeface="Calibri" pitchFamily="34" charset="-122"/>
                <a:cs typeface="Calibri" pitchFamily="34" charset="-120"/>
              </a:rPr>
              <a:t>5–10 min</a:t>
            </a:r>
            <a:endParaRPr lang="en-US" sz="1200" dirty="0"/>
          </a:p>
        </p:txBody>
      </p:sp>
      <p:sp>
        <p:nvSpPr>
          <p:cNvPr id="12" name="step6"/>
          <p:cNvSpPr/>
          <p:nvPr/>
        </p:nvSpPr>
        <p:spPr>
          <a:xfrm>
            <a:off x="3364992" y="1783080"/>
            <a:ext cx="1298448" cy="1234440"/>
          </a:xfrm>
          <a:prstGeom prst="roundRect">
            <a:avLst>
              <a:gd name="adj" fmla="val 7407"/>
            </a:avLst>
          </a:prstGeom>
          <a:solidFill>
            <a:srgbClr val="FDEBE2"/>
          </a:solidFill>
          <a:ln w="15875">
            <a:solidFill>
              <a:srgbClr val="EB6834"/>
            </a:solidFill>
            <a:prstDash val="solid"/>
          </a:ln>
        </p:spPr>
      </p:sp>
      <p:sp>
        <p:nvSpPr>
          <p:cNvPr id="13" name="Text 11"/>
          <p:cNvSpPr txBox="1"/>
          <p:nvPr/>
        </p:nvSpPr>
        <p:spPr>
          <a:xfrm>
            <a:off x="3493008" y="1892808"/>
            <a:ext cx="457200" cy="292608"/>
          </a:xfrm>
          <a:prstGeom prst="rect">
            <a:avLst/>
          </a:prstGeom>
          <a:noFill/>
          <a:ln/>
        </p:spPr>
        <p:txBody>
          <a:bodyPr wrap="square" lIns="0" tIns="0" rIns="0" bIns="0" rtlCol="0" anchor="t"/>
          <a:lstStyle/>
          <a:p>
            <a:pPr indent="0" marL="0">
              <a:buNone/>
            </a:pPr>
            <a:r>
              <a:rPr lang="en-US" sz="1800" b="1" dirty="0">
                <a:solidFill>
                  <a:srgbClr val="EB6834"/>
                </a:solidFill>
                <a:latin typeface="Cambria" pitchFamily="34" charset="0"/>
                <a:ea typeface="Cambria" pitchFamily="34" charset="-122"/>
                <a:cs typeface="Cambria" pitchFamily="34" charset="-120"/>
              </a:rPr>
              <a:t>3</a:t>
            </a:r>
            <a:endParaRPr lang="en-US" sz="1800" dirty="0"/>
          </a:p>
        </p:txBody>
      </p:sp>
      <p:sp>
        <p:nvSpPr>
          <p:cNvPr id="14" name="Text 12"/>
          <p:cNvSpPr txBox="1"/>
          <p:nvPr/>
        </p:nvSpPr>
        <p:spPr>
          <a:xfrm>
            <a:off x="3493008" y="2194560"/>
            <a:ext cx="1115568" cy="457200"/>
          </a:xfrm>
          <a:prstGeom prst="rect">
            <a:avLst/>
          </a:prstGeom>
          <a:noFill/>
          <a:ln/>
        </p:spPr>
        <p:txBody>
          <a:bodyPr wrap="square" lIns="0" tIns="0" rIns="0" bIns="0" rtlCol="0" anchor="t"/>
          <a:lstStyle/>
          <a:p>
            <a:pPr indent="0" marL="0">
              <a:buNone/>
            </a:pPr>
            <a:r>
              <a:rPr lang="en-US" sz="1350" b="1" dirty="0">
                <a:solidFill>
                  <a:srgbClr val="1C2A30"/>
                </a:solidFill>
                <a:latin typeface="Calibri" pitchFamily="34" charset="0"/>
                <a:ea typeface="Calibri" pitchFamily="34" charset="-122"/>
                <a:cs typeface="Calibri" pitchFamily="34" charset="-120"/>
              </a:rPr>
              <a:t>Lab result</a:t>
            </a:r>
            <a:endParaRPr lang="en-US" sz="1350" dirty="0"/>
          </a:p>
        </p:txBody>
      </p:sp>
      <p:sp>
        <p:nvSpPr>
          <p:cNvPr id="15" name="Text 13"/>
          <p:cNvSpPr txBox="1"/>
          <p:nvPr/>
        </p:nvSpPr>
        <p:spPr>
          <a:xfrm>
            <a:off x="3493008" y="2697480"/>
            <a:ext cx="1078992" cy="256032"/>
          </a:xfrm>
          <a:prstGeom prst="rect">
            <a:avLst/>
          </a:prstGeom>
          <a:noFill/>
          <a:ln/>
        </p:spPr>
        <p:txBody>
          <a:bodyPr wrap="square" lIns="0" tIns="0" rIns="0" bIns="0" rtlCol="0" anchor="t"/>
          <a:lstStyle/>
          <a:p>
            <a:pPr indent="0" marL="0">
              <a:buNone/>
            </a:pPr>
            <a:r>
              <a:rPr lang="en-US" sz="1200" dirty="0">
                <a:solidFill>
                  <a:srgbClr val="5E6E73"/>
                </a:solidFill>
                <a:latin typeface="Calibri" pitchFamily="34" charset="0"/>
                <a:ea typeface="Calibri" pitchFamily="34" charset="-122"/>
                <a:cs typeface="Calibri" pitchFamily="34" charset="-120"/>
              </a:rPr>
              <a:t>60–120 min</a:t>
            </a:r>
            <a:endParaRPr lang="en-US" sz="1200" dirty="0"/>
          </a:p>
        </p:txBody>
      </p:sp>
      <p:sp>
        <p:nvSpPr>
          <p:cNvPr id="16" name="step7"/>
          <p:cNvSpPr/>
          <p:nvPr/>
        </p:nvSpPr>
        <p:spPr>
          <a:xfrm>
            <a:off x="4773168" y="1783080"/>
            <a:ext cx="1298448" cy="1234440"/>
          </a:xfrm>
          <a:prstGeom prst="roundRect">
            <a:avLst>
              <a:gd name="adj" fmla="val 7407"/>
            </a:avLst>
          </a:prstGeom>
          <a:solidFill>
            <a:srgbClr val="FDEBE2"/>
          </a:solidFill>
          <a:ln w="15875">
            <a:solidFill>
              <a:srgbClr val="EB6834"/>
            </a:solidFill>
            <a:prstDash val="solid"/>
          </a:ln>
        </p:spPr>
      </p:sp>
      <p:sp>
        <p:nvSpPr>
          <p:cNvPr id="17" name="Text 15"/>
          <p:cNvSpPr txBox="1"/>
          <p:nvPr/>
        </p:nvSpPr>
        <p:spPr>
          <a:xfrm>
            <a:off x="4901184" y="1892808"/>
            <a:ext cx="457200" cy="292608"/>
          </a:xfrm>
          <a:prstGeom prst="rect">
            <a:avLst/>
          </a:prstGeom>
          <a:noFill/>
          <a:ln/>
        </p:spPr>
        <p:txBody>
          <a:bodyPr wrap="square" lIns="0" tIns="0" rIns="0" bIns="0" rtlCol="0" anchor="t"/>
          <a:lstStyle/>
          <a:p>
            <a:pPr indent="0" marL="0">
              <a:buNone/>
            </a:pPr>
            <a:r>
              <a:rPr lang="en-US" sz="1800" b="1" dirty="0">
                <a:solidFill>
                  <a:srgbClr val="EB6834"/>
                </a:solidFill>
                <a:latin typeface="Cambria" pitchFamily="34" charset="0"/>
                <a:ea typeface="Cambria" pitchFamily="34" charset="-122"/>
                <a:cs typeface="Cambria" pitchFamily="34" charset="-120"/>
              </a:rPr>
              <a:t>4</a:t>
            </a:r>
            <a:endParaRPr lang="en-US" sz="1800" dirty="0"/>
          </a:p>
        </p:txBody>
      </p:sp>
      <p:sp>
        <p:nvSpPr>
          <p:cNvPr id="18" name="Text 16"/>
          <p:cNvSpPr txBox="1"/>
          <p:nvPr/>
        </p:nvSpPr>
        <p:spPr>
          <a:xfrm>
            <a:off x="4901184" y="2194560"/>
            <a:ext cx="1115568" cy="457200"/>
          </a:xfrm>
          <a:prstGeom prst="rect">
            <a:avLst/>
          </a:prstGeom>
          <a:noFill/>
          <a:ln/>
        </p:spPr>
        <p:txBody>
          <a:bodyPr wrap="square" lIns="0" tIns="0" rIns="0" bIns="0" rtlCol="0" anchor="t"/>
          <a:lstStyle/>
          <a:p>
            <a:pPr indent="0" marL="0">
              <a:buNone/>
            </a:pPr>
            <a:r>
              <a:rPr lang="en-US" sz="1350" b="1" dirty="0">
                <a:solidFill>
                  <a:srgbClr val="1C2A30"/>
                </a:solidFill>
                <a:latin typeface="Calibri" pitchFamily="34" charset="0"/>
                <a:ea typeface="Calibri" pitchFamily="34" charset="-122"/>
                <a:cs typeface="Calibri" pitchFamily="34" charset="-120"/>
              </a:rPr>
              <a:t>Doctor review</a:t>
            </a:r>
            <a:endParaRPr lang="en-US" sz="1350" dirty="0"/>
          </a:p>
        </p:txBody>
      </p:sp>
      <p:sp>
        <p:nvSpPr>
          <p:cNvPr id="19" name="Text 17"/>
          <p:cNvSpPr txBox="1"/>
          <p:nvPr/>
        </p:nvSpPr>
        <p:spPr>
          <a:xfrm>
            <a:off x="4901184" y="2697480"/>
            <a:ext cx="1078992" cy="256032"/>
          </a:xfrm>
          <a:prstGeom prst="rect">
            <a:avLst/>
          </a:prstGeom>
          <a:noFill/>
          <a:ln/>
        </p:spPr>
        <p:txBody>
          <a:bodyPr wrap="square" lIns="0" tIns="0" rIns="0" bIns="0" rtlCol="0" anchor="t"/>
          <a:lstStyle/>
          <a:p>
            <a:pPr indent="0" marL="0">
              <a:buNone/>
            </a:pPr>
            <a:r>
              <a:rPr lang="en-US" sz="1200" dirty="0">
                <a:solidFill>
                  <a:srgbClr val="5E6E73"/>
                </a:solidFill>
                <a:latin typeface="Calibri" pitchFamily="34" charset="0"/>
                <a:ea typeface="Calibri" pitchFamily="34" charset="-122"/>
                <a:cs typeface="Calibri" pitchFamily="34" charset="-120"/>
              </a:rPr>
              <a:t>10–20 min</a:t>
            </a:r>
            <a:endParaRPr lang="en-US" sz="1200" dirty="0"/>
          </a:p>
        </p:txBody>
      </p:sp>
      <p:sp>
        <p:nvSpPr>
          <p:cNvPr id="20" name="step8"/>
          <p:cNvSpPr/>
          <p:nvPr/>
        </p:nvSpPr>
        <p:spPr>
          <a:xfrm>
            <a:off x="6181344" y="1783080"/>
            <a:ext cx="1298448" cy="1234440"/>
          </a:xfrm>
          <a:prstGeom prst="roundRect">
            <a:avLst>
              <a:gd name="adj" fmla="val 7407"/>
            </a:avLst>
          </a:prstGeom>
          <a:solidFill>
            <a:srgbClr val="EEF3F1"/>
          </a:solidFill>
          <a:ln/>
        </p:spPr>
      </p:sp>
      <p:sp>
        <p:nvSpPr>
          <p:cNvPr id="21" name="Text 19"/>
          <p:cNvSpPr txBox="1"/>
          <p:nvPr/>
        </p:nvSpPr>
        <p:spPr>
          <a:xfrm>
            <a:off x="6309360" y="1892808"/>
            <a:ext cx="457200" cy="292608"/>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5</a:t>
            </a:r>
            <a:endParaRPr lang="en-US" sz="1800" dirty="0"/>
          </a:p>
        </p:txBody>
      </p:sp>
      <p:sp>
        <p:nvSpPr>
          <p:cNvPr id="22" name="Text 20"/>
          <p:cNvSpPr txBox="1"/>
          <p:nvPr/>
        </p:nvSpPr>
        <p:spPr>
          <a:xfrm>
            <a:off x="6309360" y="2194560"/>
            <a:ext cx="1115568" cy="457200"/>
          </a:xfrm>
          <a:prstGeom prst="rect">
            <a:avLst/>
          </a:prstGeom>
          <a:noFill/>
          <a:ln/>
        </p:spPr>
        <p:txBody>
          <a:bodyPr wrap="square" lIns="0" tIns="0" rIns="0" bIns="0" rtlCol="0" anchor="t"/>
          <a:lstStyle/>
          <a:p>
            <a:pPr indent="0" marL="0">
              <a:buNone/>
            </a:pPr>
            <a:r>
              <a:rPr lang="en-US" sz="1350" b="1" dirty="0">
                <a:solidFill>
                  <a:srgbClr val="1C2A30"/>
                </a:solidFill>
                <a:latin typeface="Calibri" pitchFamily="34" charset="0"/>
                <a:ea typeface="Calibri" pitchFamily="34" charset="-122"/>
                <a:cs typeface="Calibri" pitchFamily="34" charset="-120"/>
              </a:rPr>
              <a:t>Billing</a:t>
            </a:r>
            <a:endParaRPr lang="en-US" sz="1350" dirty="0"/>
          </a:p>
        </p:txBody>
      </p:sp>
      <p:sp>
        <p:nvSpPr>
          <p:cNvPr id="23" name="Text 21"/>
          <p:cNvSpPr txBox="1"/>
          <p:nvPr/>
        </p:nvSpPr>
        <p:spPr>
          <a:xfrm>
            <a:off x="6309360" y="2697480"/>
            <a:ext cx="1078992" cy="256032"/>
          </a:xfrm>
          <a:prstGeom prst="rect">
            <a:avLst/>
          </a:prstGeom>
          <a:noFill/>
          <a:ln/>
        </p:spPr>
        <p:txBody>
          <a:bodyPr wrap="square" lIns="0" tIns="0" rIns="0" bIns="0" rtlCol="0" anchor="t"/>
          <a:lstStyle/>
          <a:p>
            <a:pPr indent="0" marL="0">
              <a:buNone/>
            </a:pPr>
            <a:r>
              <a:rPr lang="en-US" sz="1200" dirty="0">
                <a:solidFill>
                  <a:srgbClr val="5E6E73"/>
                </a:solidFill>
                <a:latin typeface="Calibri" pitchFamily="34" charset="0"/>
                <a:ea typeface="Calibri" pitchFamily="34" charset="-122"/>
                <a:cs typeface="Calibri" pitchFamily="34" charset="-120"/>
              </a:rPr>
              <a:t>30–60 min</a:t>
            </a:r>
            <a:endParaRPr lang="en-US" sz="1200" dirty="0"/>
          </a:p>
        </p:txBody>
      </p:sp>
      <p:sp>
        <p:nvSpPr>
          <p:cNvPr id="24" name="step9"/>
          <p:cNvSpPr/>
          <p:nvPr/>
        </p:nvSpPr>
        <p:spPr>
          <a:xfrm>
            <a:off x="548640" y="3246120"/>
            <a:ext cx="1298448" cy="1234440"/>
          </a:xfrm>
          <a:prstGeom prst="roundRect">
            <a:avLst>
              <a:gd name="adj" fmla="val 7407"/>
            </a:avLst>
          </a:prstGeom>
          <a:solidFill>
            <a:srgbClr val="EEF3F1"/>
          </a:solidFill>
          <a:ln/>
        </p:spPr>
      </p:sp>
      <p:sp>
        <p:nvSpPr>
          <p:cNvPr id="25" name="Text 23"/>
          <p:cNvSpPr txBox="1"/>
          <p:nvPr/>
        </p:nvSpPr>
        <p:spPr>
          <a:xfrm>
            <a:off x="676656" y="3355848"/>
            <a:ext cx="457200" cy="292608"/>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6</a:t>
            </a:r>
            <a:endParaRPr lang="en-US" sz="1800" dirty="0"/>
          </a:p>
        </p:txBody>
      </p:sp>
      <p:sp>
        <p:nvSpPr>
          <p:cNvPr id="26" name="Text 24"/>
          <p:cNvSpPr txBox="1"/>
          <p:nvPr/>
        </p:nvSpPr>
        <p:spPr>
          <a:xfrm>
            <a:off x="676656" y="3657600"/>
            <a:ext cx="1115568" cy="457200"/>
          </a:xfrm>
          <a:prstGeom prst="rect">
            <a:avLst/>
          </a:prstGeom>
          <a:noFill/>
          <a:ln/>
        </p:spPr>
        <p:txBody>
          <a:bodyPr wrap="square" lIns="0" tIns="0" rIns="0" bIns="0" rtlCol="0" anchor="t"/>
          <a:lstStyle/>
          <a:p>
            <a:pPr indent="0" marL="0">
              <a:buNone/>
            </a:pPr>
            <a:r>
              <a:rPr lang="en-US" sz="1350" b="1" dirty="0">
                <a:solidFill>
                  <a:srgbClr val="1C2A30"/>
                </a:solidFill>
                <a:latin typeface="Calibri" pitchFamily="34" charset="0"/>
                <a:ea typeface="Calibri" pitchFamily="34" charset="-122"/>
                <a:cs typeface="Calibri" pitchFamily="34" charset="-120"/>
              </a:rPr>
              <a:t>Drug prepared</a:t>
            </a:r>
            <a:endParaRPr lang="en-US" sz="1350" dirty="0"/>
          </a:p>
        </p:txBody>
      </p:sp>
      <p:sp>
        <p:nvSpPr>
          <p:cNvPr id="27" name="Text 25"/>
          <p:cNvSpPr txBox="1"/>
          <p:nvPr/>
        </p:nvSpPr>
        <p:spPr>
          <a:xfrm>
            <a:off x="676656" y="4160520"/>
            <a:ext cx="1078992" cy="256032"/>
          </a:xfrm>
          <a:prstGeom prst="rect">
            <a:avLst/>
          </a:prstGeom>
          <a:noFill/>
          <a:ln/>
        </p:spPr>
        <p:txBody>
          <a:bodyPr wrap="square" lIns="0" tIns="0" rIns="0" bIns="0" rtlCol="0" anchor="t"/>
          <a:lstStyle/>
          <a:p>
            <a:pPr indent="0" marL="0">
              <a:buNone/>
            </a:pPr>
            <a:r>
              <a:rPr lang="en-US" sz="1200" dirty="0">
                <a:solidFill>
                  <a:srgbClr val="5E6E73"/>
                </a:solidFill>
                <a:latin typeface="Calibri" pitchFamily="34" charset="0"/>
                <a:ea typeface="Calibri" pitchFamily="34" charset="-122"/>
                <a:cs typeface="Calibri" pitchFamily="34" charset="-120"/>
              </a:rPr>
              <a:t>15–30 min</a:t>
            </a:r>
            <a:endParaRPr lang="en-US" sz="1200" dirty="0"/>
          </a:p>
        </p:txBody>
      </p:sp>
      <p:sp>
        <p:nvSpPr>
          <p:cNvPr id="28" name="step10"/>
          <p:cNvSpPr/>
          <p:nvPr/>
        </p:nvSpPr>
        <p:spPr>
          <a:xfrm>
            <a:off x="1956816" y="3246120"/>
            <a:ext cx="1298448" cy="1234440"/>
          </a:xfrm>
          <a:prstGeom prst="roundRect">
            <a:avLst>
              <a:gd name="adj" fmla="val 7407"/>
            </a:avLst>
          </a:prstGeom>
          <a:solidFill>
            <a:srgbClr val="EEF3F1"/>
          </a:solidFill>
          <a:ln/>
        </p:spPr>
      </p:sp>
      <p:sp>
        <p:nvSpPr>
          <p:cNvPr id="29" name="Text 27"/>
          <p:cNvSpPr txBox="1"/>
          <p:nvPr/>
        </p:nvSpPr>
        <p:spPr>
          <a:xfrm>
            <a:off x="2084832" y="3355848"/>
            <a:ext cx="457200" cy="292608"/>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7</a:t>
            </a:r>
            <a:endParaRPr lang="en-US" sz="1800" dirty="0"/>
          </a:p>
        </p:txBody>
      </p:sp>
      <p:sp>
        <p:nvSpPr>
          <p:cNvPr id="30" name="Text 28"/>
          <p:cNvSpPr txBox="1"/>
          <p:nvPr/>
        </p:nvSpPr>
        <p:spPr>
          <a:xfrm>
            <a:off x="2084832" y="3657600"/>
            <a:ext cx="1115568" cy="457200"/>
          </a:xfrm>
          <a:prstGeom prst="rect">
            <a:avLst/>
          </a:prstGeom>
          <a:noFill/>
          <a:ln/>
        </p:spPr>
        <p:txBody>
          <a:bodyPr wrap="square" lIns="0" tIns="0" rIns="0" bIns="0" rtlCol="0" anchor="t"/>
          <a:lstStyle/>
          <a:p>
            <a:pPr indent="0" marL="0">
              <a:buNone/>
            </a:pPr>
            <a:r>
              <a:rPr lang="en-US" sz="1350" b="1" dirty="0">
                <a:solidFill>
                  <a:srgbClr val="1C2A30"/>
                </a:solidFill>
                <a:latin typeface="Calibri" pitchFamily="34" charset="0"/>
                <a:ea typeface="Calibri" pitchFamily="34" charset="-122"/>
                <a:cs typeface="Calibri" pitchFamily="34" charset="-120"/>
              </a:rPr>
              <a:t>Wait for chair</a:t>
            </a:r>
            <a:endParaRPr lang="en-US" sz="1350" dirty="0"/>
          </a:p>
        </p:txBody>
      </p:sp>
      <p:sp>
        <p:nvSpPr>
          <p:cNvPr id="31" name="Text 29"/>
          <p:cNvSpPr txBox="1"/>
          <p:nvPr/>
        </p:nvSpPr>
        <p:spPr>
          <a:xfrm>
            <a:off x="2084832" y="4160520"/>
            <a:ext cx="1078992" cy="256032"/>
          </a:xfrm>
          <a:prstGeom prst="rect">
            <a:avLst/>
          </a:prstGeom>
          <a:noFill/>
          <a:ln/>
        </p:spPr>
        <p:txBody>
          <a:bodyPr wrap="square" lIns="0" tIns="0" rIns="0" bIns="0" rtlCol="0" anchor="t"/>
          <a:lstStyle/>
          <a:p>
            <a:pPr indent="0" marL="0">
              <a:buNone/>
            </a:pPr>
            <a:r>
              <a:rPr lang="en-US" sz="1200" dirty="0">
                <a:solidFill>
                  <a:srgbClr val="5E6E73"/>
                </a:solidFill>
                <a:latin typeface="Calibri" pitchFamily="34" charset="0"/>
                <a:ea typeface="Calibri" pitchFamily="34" charset="-122"/>
                <a:cs typeface="Calibri" pitchFamily="34" charset="-120"/>
              </a:rPr>
              <a:t>20–60 min</a:t>
            </a:r>
            <a:endParaRPr lang="en-US" sz="1200" dirty="0"/>
          </a:p>
        </p:txBody>
      </p:sp>
      <p:sp>
        <p:nvSpPr>
          <p:cNvPr id="32" name="step11"/>
          <p:cNvSpPr/>
          <p:nvPr/>
        </p:nvSpPr>
        <p:spPr>
          <a:xfrm>
            <a:off x="3364992" y="3246120"/>
            <a:ext cx="1298448" cy="1234440"/>
          </a:xfrm>
          <a:prstGeom prst="roundRect">
            <a:avLst>
              <a:gd name="adj" fmla="val 7407"/>
            </a:avLst>
          </a:prstGeom>
          <a:solidFill>
            <a:srgbClr val="EEF3F1"/>
          </a:solidFill>
          <a:ln/>
        </p:spPr>
      </p:sp>
      <p:sp>
        <p:nvSpPr>
          <p:cNvPr id="33" name="Text 31"/>
          <p:cNvSpPr txBox="1"/>
          <p:nvPr/>
        </p:nvSpPr>
        <p:spPr>
          <a:xfrm>
            <a:off x="3493008" y="3355848"/>
            <a:ext cx="457200" cy="292608"/>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8</a:t>
            </a:r>
            <a:endParaRPr lang="en-US" sz="1800" dirty="0"/>
          </a:p>
        </p:txBody>
      </p:sp>
      <p:sp>
        <p:nvSpPr>
          <p:cNvPr id="34" name="Text 32"/>
          <p:cNvSpPr txBox="1"/>
          <p:nvPr/>
        </p:nvSpPr>
        <p:spPr>
          <a:xfrm>
            <a:off x="3493008" y="3657600"/>
            <a:ext cx="1115568" cy="457200"/>
          </a:xfrm>
          <a:prstGeom prst="rect">
            <a:avLst/>
          </a:prstGeom>
          <a:noFill/>
          <a:ln/>
        </p:spPr>
        <p:txBody>
          <a:bodyPr wrap="square" lIns="0" tIns="0" rIns="0" bIns="0" rtlCol="0" anchor="t"/>
          <a:lstStyle/>
          <a:p>
            <a:pPr indent="0" marL="0">
              <a:buNone/>
            </a:pPr>
            <a:r>
              <a:rPr lang="en-US" sz="1350" b="1" dirty="0">
                <a:solidFill>
                  <a:srgbClr val="1C2A30"/>
                </a:solidFill>
                <a:latin typeface="Calibri" pitchFamily="34" charset="0"/>
                <a:ea typeface="Calibri" pitchFamily="34" charset="-122"/>
                <a:cs typeface="Calibri" pitchFamily="34" charset="-120"/>
              </a:rPr>
              <a:t>IV line, pre-meds</a:t>
            </a:r>
            <a:endParaRPr lang="en-US" sz="1350" dirty="0"/>
          </a:p>
        </p:txBody>
      </p:sp>
      <p:sp>
        <p:nvSpPr>
          <p:cNvPr id="35" name="Text 33"/>
          <p:cNvSpPr txBox="1"/>
          <p:nvPr/>
        </p:nvSpPr>
        <p:spPr>
          <a:xfrm>
            <a:off x="3493008" y="4160520"/>
            <a:ext cx="1078992" cy="256032"/>
          </a:xfrm>
          <a:prstGeom prst="rect">
            <a:avLst/>
          </a:prstGeom>
          <a:noFill/>
          <a:ln/>
        </p:spPr>
        <p:txBody>
          <a:bodyPr wrap="square" lIns="0" tIns="0" rIns="0" bIns="0" rtlCol="0" anchor="t"/>
          <a:lstStyle/>
          <a:p>
            <a:pPr indent="0" marL="0">
              <a:buNone/>
            </a:pPr>
            <a:r>
              <a:rPr lang="en-US" sz="1200" dirty="0">
                <a:solidFill>
                  <a:srgbClr val="5E6E73"/>
                </a:solidFill>
                <a:latin typeface="Calibri" pitchFamily="34" charset="0"/>
                <a:ea typeface="Calibri" pitchFamily="34" charset="-122"/>
                <a:cs typeface="Calibri" pitchFamily="34" charset="-120"/>
              </a:rPr>
              <a:t>20–40 min</a:t>
            </a:r>
            <a:endParaRPr lang="en-US" sz="1200" dirty="0"/>
          </a:p>
        </p:txBody>
      </p:sp>
      <p:sp>
        <p:nvSpPr>
          <p:cNvPr id="36" name="step12"/>
          <p:cNvSpPr/>
          <p:nvPr/>
        </p:nvSpPr>
        <p:spPr>
          <a:xfrm>
            <a:off x="4773168" y="3246120"/>
            <a:ext cx="1298448" cy="1234440"/>
          </a:xfrm>
          <a:prstGeom prst="roundRect">
            <a:avLst>
              <a:gd name="adj" fmla="val 7407"/>
            </a:avLst>
          </a:prstGeom>
          <a:solidFill>
            <a:srgbClr val="EEF3F1"/>
          </a:solidFill>
          <a:ln/>
        </p:spPr>
      </p:sp>
      <p:sp>
        <p:nvSpPr>
          <p:cNvPr id="37" name="Text 35"/>
          <p:cNvSpPr txBox="1"/>
          <p:nvPr/>
        </p:nvSpPr>
        <p:spPr>
          <a:xfrm>
            <a:off x="4901184" y="3355848"/>
            <a:ext cx="457200" cy="292608"/>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9</a:t>
            </a:r>
            <a:endParaRPr lang="en-US" sz="1800" dirty="0"/>
          </a:p>
        </p:txBody>
      </p:sp>
      <p:sp>
        <p:nvSpPr>
          <p:cNvPr id="38" name="Text 36"/>
          <p:cNvSpPr txBox="1"/>
          <p:nvPr/>
        </p:nvSpPr>
        <p:spPr>
          <a:xfrm>
            <a:off x="4901184" y="3657600"/>
            <a:ext cx="1115568" cy="457200"/>
          </a:xfrm>
          <a:prstGeom prst="rect">
            <a:avLst/>
          </a:prstGeom>
          <a:noFill/>
          <a:ln/>
        </p:spPr>
        <p:txBody>
          <a:bodyPr wrap="square" lIns="0" tIns="0" rIns="0" bIns="0" rtlCol="0" anchor="t"/>
          <a:lstStyle/>
          <a:p>
            <a:pPr indent="0" marL="0">
              <a:buNone/>
            </a:pPr>
            <a:r>
              <a:rPr lang="en-US" sz="1350" b="1" dirty="0">
                <a:solidFill>
                  <a:srgbClr val="1C2A30"/>
                </a:solidFill>
                <a:latin typeface="Calibri" pitchFamily="34" charset="0"/>
                <a:ea typeface="Calibri" pitchFamily="34" charset="-122"/>
                <a:cs typeface="Calibri" pitchFamily="34" charset="-120"/>
              </a:rPr>
              <a:t>Infusion</a:t>
            </a:r>
            <a:endParaRPr lang="en-US" sz="1350" dirty="0"/>
          </a:p>
        </p:txBody>
      </p:sp>
      <p:sp>
        <p:nvSpPr>
          <p:cNvPr id="39" name="Text 37"/>
          <p:cNvSpPr txBox="1"/>
          <p:nvPr/>
        </p:nvSpPr>
        <p:spPr>
          <a:xfrm>
            <a:off x="4901184" y="4160520"/>
            <a:ext cx="1078992" cy="256032"/>
          </a:xfrm>
          <a:prstGeom prst="rect">
            <a:avLst/>
          </a:prstGeom>
          <a:noFill/>
          <a:ln/>
        </p:spPr>
        <p:txBody>
          <a:bodyPr wrap="square" lIns="0" tIns="0" rIns="0" bIns="0" rtlCol="0" anchor="t"/>
          <a:lstStyle/>
          <a:p>
            <a:pPr indent="0" marL="0">
              <a:buNone/>
            </a:pPr>
            <a:r>
              <a:rPr lang="en-US" sz="1200" dirty="0">
                <a:solidFill>
                  <a:srgbClr val="5E6E73"/>
                </a:solidFill>
                <a:latin typeface="Calibri" pitchFamily="34" charset="0"/>
                <a:ea typeface="Calibri" pitchFamily="34" charset="-122"/>
                <a:cs typeface="Calibri" pitchFamily="34" charset="-120"/>
              </a:rPr>
              <a:t>30 min – 6 h</a:t>
            </a:r>
            <a:endParaRPr lang="en-US" sz="1200" dirty="0"/>
          </a:p>
        </p:txBody>
      </p:sp>
      <p:sp>
        <p:nvSpPr>
          <p:cNvPr id="40" name="step13"/>
          <p:cNvSpPr/>
          <p:nvPr/>
        </p:nvSpPr>
        <p:spPr>
          <a:xfrm>
            <a:off x="6181344" y="3246120"/>
            <a:ext cx="1298448" cy="1234440"/>
          </a:xfrm>
          <a:prstGeom prst="roundRect">
            <a:avLst>
              <a:gd name="adj" fmla="val 7407"/>
            </a:avLst>
          </a:prstGeom>
          <a:solidFill>
            <a:srgbClr val="EEF3F1"/>
          </a:solidFill>
          <a:ln/>
        </p:spPr>
      </p:sp>
      <p:sp>
        <p:nvSpPr>
          <p:cNvPr id="41" name="Text 39"/>
          <p:cNvSpPr txBox="1"/>
          <p:nvPr/>
        </p:nvSpPr>
        <p:spPr>
          <a:xfrm>
            <a:off x="6309360" y="3355848"/>
            <a:ext cx="457200" cy="292608"/>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10</a:t>
            </a:r>
            <a:endParaRPr lang="en-US" sz="1800" dirty="0"/>
          </a:p>
        </p:txBody>
      </p:sp>
      <p:sp>
        <p:nvSpPr>
          <p:cNvPr id="42" name="Text 40"/>
          <p:cNvSpPr txBox="1"/>
          <p:nvPr/>
        </p:nvSpPr>
        <p:spPr>
          <a:xfrm>
            <a:off x="6309360" y="3657600"/>
            <a:ext cx="1115568" cy="457200"/>
          </a:xfrm>
          <a:prstGeom prst="rect">
            <a:avLst/>
          </a:prstGeom>
          <a:noFill/>
          <a:ln/>
        </p:spPr>
        <p:txBody>
          <a:bodyPr wrap="square" lIns="0" tIns="0" rIns="0" bIns="0" rtlCol="0" anchor="t"/>
          <a:lstStyle/>
          <a:p>
            <a:pPr indent="0" marL="0">
              <a:buNone/>
            </a:pPr>
            <a:r>
              <a:rPr lang="en-US" sz="1350" b="1" dirty="0">
                <a:solidFill>
                  <a:srgbClr val="1C2A30"/>
                </a:solidFill>
                <a:latin typeface="Calibri" pitchFamily="34" charset="0"/>
                <a:ea typeface="Calibri" pitchFamily="34" charset="-122"/>
                <a:cs typeface="Calibri" pitchFamily="34" charset="-120"/>
              </a:rPr>
              <a:t>Discharge</a:t>
            </a:r>
            <a:endParaRPr lang="en-US" sz="1350" dirty="0"/>
          </a:p>
        </p:txBody>
      </p:sp>
      <p:sp>
        <p:nvSpPr>
          <p:cNvPr id="43" name="Text 41"/>
          <p:cNvSpPr txBox="1"/>
          <p:nvPr/>
        </p:nvSpPr>
        <p:spPr>
          <a:xfrm>
            <a:off x="6309360" y="4160520"/>
            <a:ext cx="1078992" cy="256032"/>
          </a:xfrm>
          <a:prstGeom prst="rect">
            <a:avLst/>
          </a:prstGeom>
          <a:noFill/>
          <a:ln/>
        </p:spPr>
        <p:txBody>
          <a:bodyPr wrap="square" lIns="0" tIns="0" rIns="0" bIns="0" rtlCol="0" anchor="t"/>
          <a:lstStyle/>
          <a:p>
            <a:pPr indent="0" marL="0">
              <a:buNone/>
            </a:pPr>
            <a:r>
              <a:rPr lang="en-US" sz="1200" dirty="0">
                <a:solidFill>
                  <a:srgbClr val="5E6E73"/>
                </a:solidFill>
                <a:latin typeface="Calibri" pitchFamily="34" charset="0"/>
                <a:ea typeface="Calibri" pitchFamily="34" charset="-122"/>
                <a:cs typeface="Calibri" pitchFamily="34" charset="-120"/>
              </a:rPr>
              <a:t>15–30 min</a:t>
            </a:r>
            <a:endParaRPr lang="en-US" sz="1200" dirty="0"/>
          </a:p>
        </p:txBody>
      </p:sp>
      <p:sp>
        <p:nvSpPr>
          <p:cNvPr id="44" name="Text 42"/>
          <p:cNvSpPr txBox="1"/>
          <p:nvPr/>
        </p:nvSpPr>
        <p:spPr>
          <a:xfrm>
            <a:off x="548640" y="4617720"/>
            <a:ext cx="6766560" cy="685800"/>
          </a:xfrm>
          <a:prstGeom prst="rect">
            <a:avLst/>
          </a:prstGeom>
          <a:noFill/>
          <a:ln/>
        </p:spPr>
        <p:txBody>
          <a:bodyPr wrap="square" lIns="0" tIns="0" rIns="0" bIns="0" rtlCol="0" anchor="t"/>
          <a:lstStyle/>
          <a:p>
            <a:pPr indent="0" marL="0">
              <a:buNone/>
            </a:pPr>
            <a:r>
              <a:rPr lang="en-US" sz="1300" b="1" dirty="0">
                <a:solidFill>
                  <a:srgbClr val="EB6834"/>
                </a:solidFill>
                <a:latin typeface="Calibri" pitchFamily="34" charset="0"/>
                <a:ea typeface="Calibri" pitchFamily="34" charset="-122"/>
                <a:cs typeface="Calibri" pitchFamily="34" charset="-120"/>
              </a:rPr>
              <a:t>Orange steps</a:t>
            </a:r>
            <a:pPr indent="0" marL="0">
              <a:buNone/>
            </a:pPr>
            <a:r>
              <a:rPr lang="en-US" sz="1300" dirty="0">
                <a:solidFill>
                  <a:srgbClr val="5E6E73"/>
                </a:solidFill>
                <a:latin typeface="Calibri" pitchFamily="34" charset="0"/>
                <a:ea typeface="Calibri" pitchFamily="34" charset="-122"/>
                <a:cs typeface="Calibri" pitchFamily="34" charset="-120"/>
              </a:rPr>
              <a:t> are done the same morning by most Indian patients, and the drug cannot be mixed until the doctor clears the blood counts. Flow confirmed by oncologists at Tata Memorial, 1 Oct 2026.</a:t>
            </a:r>
            <a:endParaRPr lang="en-US" sz="1300" dirty="0"/>
          </a:p>
        </p:txBody>
      </p:sp>
      <p:sp>
        <p:nvSpPr>
          <p:cNvPr id="45" name="card14"/>
          <p:cNvSpPr/>
          <p:nvPr/>
        </p:nvSpPr>
        <p:spPr>
          <a:xfrm>
            <a:off x="7818120" y="1783080"/>
            <a:ext cx="3794760" cy="4206240"/>
          </a:xfrm>
          <a:prstGeom prst="roundRect">
            <a:avLst>
              <a:gd name="adj" fmla="val 2892"/>
            </a:avLst>
          </a:prstGeom>
          <a:solidFill>
            <a:srgbClr val="EEF3F1"/>
          </a:solidFill>
          <a:ln/>
        </p:spPr>
      </p:sp>
      <p:sp>
        <p:nvSpPr>
          <p:cNvPr id="46" name="Text 44"/>
          <p:cNvSpPr txBox="1"/>
          <p:nvPr/>
        </p:nvSpPr>
        <p:spPr>
          <a:xfrm>
            <a:off x="8092440" y="1965960"/>
            <a:ext cx="3383280" cy="609600"/>
          </a:xfrm>
          <a:prstGeom prst="rect">
            <a:avLst/>
          </a:prstGeom>
          <a:noFill/>
          <a:ln/>
        </p:spPr>
        <p:txBody>
          <a:bodyPr wrap="square" lIns="0" tIns="0" rIns="0" bIns="0" rtlCol="0" anchor="t"/>
          <a:lstStyle/>
          <a:p>
            <a:pPr indent="0" marL="0">
              <a:buNone/>
            </a:pPr>
            <a:r>
              <a:rPr lang="en-US" sz="4000" b="1" dirty="0">
                <a:solidFill>
                  <a:srgbClr val="EB6834"/>
                </a:solidFill>
                <a:latin typeface="Cambria" pitchFamily="34" charset="0"/>
                <a:ea typeface="Cambria" pitchFamily="34" charset="-122"/>
                <a:cs typeface="Cambria" pitchFamily="34" charset="-120"/>
              </a:rPr>
              <a:t>3.5 h</a:t>
            </a:r>
            <a:endParaRPr lang="en-US" sz="4000" dirty="0"/>
          </a:p>
        </p:txBody>
      </p:sp>
      <p:sp>
        <p:nvSpPr>
          <p:cNvPr id="47" name="Text 45"/>
          <p:cNvSpPr txBox="1"/>
          <p:nvPr/>
        </p:nvSpPr>
        <p:spPr>
          <a:xfrm>
            <a:off x="8092440" y="2621280"/>
            <a:ext cx="3383280" cy="685800"/>
          </a:xfrm>
          <a:prstGeom prst="rect">
            <a:avLst/>
          </a:prstGeom>
          <a:noFill/>
          <a:ln/>
        </p:spPr>
        <p:txBody>
          <a:bodyPr wrap="square" lIns="0" tIns="0" rIns="0" bIns="0" rtlCol="0" anchor="t"/>
          <a:lstStyle/>
          <a:p>
            <a:pPr indent="0" marL="0">
              <a:buNone/>
            </a:pPr>
            <a:r>
              <a:rPr lang="en-US" sz="1400" dirty="0">
                <a:solidFill>
                  <a:srgbClr val="5E6E73"/>
                </a:solidFill>
                <a:latin typeface="Calibri" pitchFamily="34" charset="0"/>
                <a:ea typeface="Calibri" pitchFamily="34" charset="-122"/>
                <a:cs typeface="Calibri" pitchFamily="34" charset="-120"/>
              </a:rPr>
              <a:t>mean wait before chemo at Amrita, Kochi (1,029 patients)</a:t>
            </a:r>
            <a:endParaRPr lang="en-US" sz="1400" dirty="0"/>
          </a:p>
        </p:txBody>
      </p:sp>
      <p:sp>
        <p:nvSpPr>
          <p:cNvPr id="48" name="Text 46"/>
          <p:cNvSpPr txBox="1"/>
          <p:nvPr/>
        </p:nvSpPr>
        <p:spPr>
          <a:xfrm>
            <a:off x="8092440" y="3291840"/>
            <a:ext cx="3383280" cy="609600"/>
          </a:xfrm>
          <a:prstGeom prst="rect">
            <a:avLst/>
          </a:prstGeom>
          <a:noFill/>
          <a:ln/>
        </p:spPr>
        <p:txBody>
          <a:bodyPr wrap="square" lIns="0" tIns="0" rIns="0" bIns="0" rtlCol="0" anchor="t"/>
          <a:lstStyle/>
          <a:p>
            <a:pPr indent="0" marL="0">
              <a:buNone/>
            </a:pPr>
            <a:r>
              <a:rPr lang="en-US" sz="4000" b="1" dirty="0">
                <a:solidFill>
                  <a:srgbClr val="0F766E"/>
                </a:solidFill>
                <a:latin typeface="Cambria" pitchFamily="34" charset="0"/>
                <a:ea typeface="Cambria" pitchFamily="34" charset="-122"/>
                <a:cs typeface="Cambria" pitchFamily="34" charset="-120"/>
              </a:rPr>
              <a:t>300–400</a:t>
            </a:r>
            <a:endParaRPr lang="en-US" sz="4000" dirty="0"/>
          </a:p>
        </p:txBody>
      </p:sp>
      <p:sp>
        <p:nvSpPr>
          <p:cNvPr id="49" name="Text 47"/>
          <p:cNvSpPr txBox="1"/>
          <p:nvPr/>
        </p:nvSpPr>
        <p:spPr>
          <a:xfrm>
            <a:off x="8092440" y="3947160"/>
            <a:ext cx="3383280" cy="685800"/>
          </a:xfrm>
          <a:prstGeom prst="rect">
            <a:avLst/>
          </a:prstGeom>
          <a:noFill/>
          <a:ln/>
        </p:spPr>
        <p:txBody>
          <a:bodyPr wrap="square" lIns="0" tIns="0" rIns="0" bIns="0" rtlCol="0" anchor="t"/>
          <a:lstStyle/>
          <a:p>
            <a:pPr indent="0" marL="0">
              <a:buNone/>
            </a:pPr>
            <a:r>
              <a:rPr lang="en-US" sz="1400" dirty="0">
                <a:solidFill>
                  <a:srgbClr val="5E6E73"/>
                </a:solidFill>
                <a:latin typeface="Calibri" pitchFamily="34" charset="0"/>
                <a:ea typeface="Calibri" pitchFamily="34" charset="-122"/>
                <a:cs typeface="Calibri" pitchFamily="34" charset="-120"/>
              </a:rPr>
              <a:t>patients a day on 70–80 chairs at Tata Memorial</a:t>
            </a:r>
            <a:endParaRPr lang="en-US" sz="1400" dirty="0"/>
          </a:p>
        </p:txBody>
      </p:sp>
      <p:sp>
        <p:nvSpPr>
          <p:cNvPr id="50" name="Text 48"/>
          <p:cNvSpPr txBox="1"/>
          <p:nvPr/>
        </p:nvSpPr>
        <p:spPr>
          <a:xfrm>
            <a:off x="8092440" y="4617720"/>
            <a:ext cx="3383280" cy="609600"/>
          </a:xfrm>
          <a:prstGeom prst="rect">
            <a:avLst/>
          </a:prstGeom>
          <a:noFill/>
          <a:ln/>
        </p:spPr>
        <p:txBody>
          <a:bodyPr wrap="square" lIns="0" tIns="0" rIns="0" bIns="0" rtlCol="0" anchor="t"/>
          <a:lstStyle/>
          <a:p>
            <a:pPr indent="0" marL="0">
              <a:buNone/>
            </a:pPr>
            <a:r>
              <a:rPr lang="en-US" sz="4000" b="1" dirty="0">
                <a:solidFill>
                  <a:srgbClr val="0F766E"/>
                </a:solidFill>
                <a:latin typeface="Cambria" pitchFamily="34" charset="0"/>
                <a:ea typeface="Cambria" pitchFamily="34" charset="-122"/>
                <a:cs typeface="Cambria" pitchFamily="34" charset="-120"/>
              </a:rPr>
              <a:t>5 h 40</a:t>
            </a:r>
            <a:endParaRPr lang="en-US" sz="4000" dirty="0"/>
          </a:p>
        </p:txBody>
      </p:sp>
      <p:sp>
        <p:nvSpPr>
          <p:cNvPr id="51" name="Text 49"/>
          <p:cNvSpPr txBox="1"/>
          <p:nvPr/>
        </p:nvSpPr>
        <p:spPr>
          <a:xfrm>
            <a:off x="8092440" y="5273040"/>
            <a:ext cx="3383280" cy="685800"/>
          </a:xfrm>
          <a:prstGeom prst="rect">
            <a:avLst/>
          </a:prstGeom>
          <a:noFill/>
          <a:ln/>
        </p:spPr>
        <p:txBody>
          <a:bodyPr wrap="square" lIns="0" tIns="0" rIns="0" bIns="0" rtlCol="0" anchor="t"/>
          <a:lstStyle/>
          <a:p>
            <a:pPr indent="0" marL="0">
              <a:buNone/>
            </a:pPr>
            <a:r>
              <a:rPr lang="en-US" sz="1400" dirty="0">
                <a:solidFill>
                  <a:srgbClr val="5E6E73"/>
                </a:solidFill>
                <a:latin typeface="Calibri" pitchFamily="34" charset="0"/>
                <a:ea typeface="Calibri" pitchFamily="34" charset="-122"/>
                <a:cs typeface="Calibri" pitchFamily="34" charset="-120"/>
              </a:rPr>
              <a:t>average time in the unit at an Indian centre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rgbClr val="0F766E"/>
                </a:solidFill>
              </a:rPr>
              <a:t>THE PROBLEM</a:t>
            </a: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3400" b="1" dirty="0">
                <a:solidFill>
                  <a:srgbClr val="1C2A30"/>
                </a:solidFill>
                <a:latin typeface="Cambria" pitchFamily="34" charset="0"/>
                <a:ea typeface="Cambria" pitchFamily="34" charset="-122"/>
                <a:cs typeface="Cambria" pitchFamily="34" charset="-120"/>
              </a:rPr>
              <a:t>The binding constraint is ready time, not chairs</a:t>
            </a:r>
            <a:endParaRPr lang="en-US" sz="3400" dirty="0"/>
          </a:p>
        </p:txBody>
      </p:sp>
      <p:sp>
        <p:nvSpPr>
          <p:cNvPr id="4" name="card15"/>
          <p:cNvSpPr/>
          <p:nvPr/>
        </p:nvSpPr>
        <p:spPr>
          <a:xfrm>
            <a:off x="548640" y="1783080"/>
            <a:ext cx="4572000" cy="4206240"/>
          </a:xfrm>
          <a:prstGeom prst="roundRect">
            <a:avLst>
              <a:gd name="adj" fmla="val 2609"/>
            </a:avLst>
          </a:prstGeom>
          <a:solidFill>
            <a:srgbClr val="12302D"/>
          </a:solidFill>
          <a:ln/>
        </p:spPr>
      </p:sp>
      <p:sp>
        <p:nvSpPr>
          <p:cNvPr id="5" name="Text 3"/>
          <p:cNvSpPr txBox="1"/>
          <p:nvPr/>
        </p:nvSpPr>
        <p:spPr>
          <a:xfrm>
            <a:off x="868680" y="2011680"/>
            <a:ext cx="4023360" cy="1188720"/>
          </a:xfrm>
          <a:prstGeom prst="rect">
            <a:avLst/>
          </a:prstGeom>
          <a:noFill/>
          <a:ln/>
        </p:spPr>
        <p:txBody>
          <a:bodyPr wrap="square" lIns="0" tIns="0" rIns="0" bIns="0" rtlCol="0" anchor="t"/>
          <a:lstStyle/>
          <a:p>
            <a:pPr indent="0" marL="0">
              <a:buNone/>
            </a:pPr>
            <a:r>
              <a:rPr lang="en-US" sz="8800" b="1" dirty="0">
                <a:solidFill>
                  <a:srgbClr val="7FD1C7"/>
                </a:solidFill>
                <a:latin typeface="Cambria" pitchFamily="34" charset="0"/>
                <a:ea typeface="Cambria" pitchFamily="34" charset="-122"/>
                <a:cs typeface="Cambria" pitchFamily="34" charset="-120"/>
              </a:rPr>
              <a:t>37%</a:t>
            </a:r>
            <a:endParaRPr lang="en-US" sz="8800" dirty="0"/>
          </a:p>
        </p:txBody>
      </p:sp>
      <p:sp>
        <p:nvSpPr>
          <p:cNvPr id="6" name="Text 4"/>
          <p:cNvSpPr txBox="1"/>
          <p:nvPr/>
        </p:nvSpPr>
        <p:spPr>
          <a:xfrm>
            <a:off x="868680" y="3291840"/>
            <a:ext cx="3931920" cy="9144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of chair-hours sit empty while the patient is already in the unit but not yet ready</a:t>
            </a:r>
            <a:endParaRPr lang="en-US" sz="1800" dirty="0"/>
          </a:p>
        </p:txBody>
      </p:sp>
      <p:sp>
        <p:nvSpPr>
          <p:cNvPr id="7" name="Text 5"/>
          <p:cNvSpPr txBox="1"/>
          <p:nvPr/>
        </p:nvSpPr>
        <p:spPr>
          <a:xfrm>
            <a:off x="868680" y="4709160"/>
            <a:ext cx="3931920" cy="822960"/>
          </a:xfrm>
          <a:prstGeom prst="rect">
            <a:avLst/>
          </a:prstGeom>
          <a:noFill/>
          <a:ln/>
        </p:spPr>
        <p:txBody>
          <a:bodyPr wrap="square" lIns="0" tIns="0" rIns="0" bIns="0" rtlCol="0" anchor="t"/>
          <a:lstStyle/>
          <a:p>
            <a:pPr indent="0" marL="0">
              <a:buNone/>
            </a:pPr>
            <a:r>
              <a:rPr lang="en-US" sz="1300" dirty="0">
                <a:solidFill>
                  <a:srgbClr val="9FC9C3"/>
                </a:solidFill>
                <a:latin typeface="Calibri" pitchFamily="34" charset="0"/>
                <a:ea typeface="Calibri" pitchFamily="34" charset="-122"/>
                <a:cs typeface="Calibri" pitchFamily="34" charset="-120"/>
              </a:rPr>
              <a:t>Simulated, everyone told 08:00, 30% pre-cleared. Presentation 3 predicted 35% from the stage times alone.</a:t>
            </a:r>
            <a:endParaRPr lang="en-US" sz="1300" dirty="0"/>
          </a:p>
        </p:txBody>
      </p:sp>
      <p:sp>
        <p:nvSpPr>
          <p:cNvPr id="8" name="Text 6"/>
          <p:cNvSpPr txBox="1"/>
          <p:nvPr/>
        </p:nvSpPr>
        <p:spPr>
          <a:xfrm>
            <a:off x="5577840" y="1783080"/>
            <a:ext cx="5943600" cy="365760"/>
          </a:xfrm>
          <a:prstGeom prst="rect">
            <a:avLst/>
          </a:prstGeom>
          <a:noFill/>
          <a:ln/>
        </p:spPr>
        <p:txBody>
          <a:bodyPr wrap="square" lIns="0" tIns="0" rIns="0" bIns="0" rtlCol="0" anchor="t"/>
          <a:lstStyle/>
          <a:p>
            <a:pPr indent="0" marL="0">
              <a:buNone/>
            </a:pPr>
            <a:r>
              <a:rPr lang="en-US" sz="2000" b="1" dirty="0">
                <a:solidFill>
                  <a:srgbClr val="1C2A30"/>
                </a:solidFill>
                <a:latin typeface="Cambria" pitchFamily="34" charset="0"/>
                <a:ea typeface="Cambria" pitchFamily="34" charset="-122"/>
                <a:cs typeface="Cambria" pitchFamily="34" charset="-120"/>
              </a:rPr>
              <a:t>Why</a:t>
            </a:r>
            <a:endParaRPr lang="en-US" sz="2000" dirty="0"/>
          </a:p>
        </p:txBody>
      </p:sp>
      <p:sp>
        <p:nvSpPr>
          <p:cNvPr id="9" name="Text 7"/>
          <p:cNvSpPr txBox="1"/>
          <p:nvPr/>
        </p:nvSpPr>
        <p:spPr>
          <a:xfrm>
            <a:off x="5577840" y="2194560"/>
            <a:ext cx="603504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C2A30"/>
                </a:solidFill>
                <a:latin typeface="Calibri" pitchFamily="34" charset="0"/>
                <a:ea typeface="Calibri" pitchFamily="34" charset="-122"/>
                <a:cs typeface="Calibri" pitchFamily="34" charset="-120"/>
              </a:rPr>
              <a:t>A same-day patient told 08:00 is ready for a chair only at about 11:10: registration, blood, 90 min lab, review, billing and drug.</a:t>
            </a:r>
            <a:endParaRPr lang="en-US" sz="1500" dirty="0"/>
          </a:p>
          <a:p>
            <a:pPr marL="342900" indent="-342900">
              <a:spcAft>
                <a:spcPts val="600"/>
              </a:spcAft>
              <a:buSzPct val="100000"/>
              <a:buChar char="•"/>
            </a:pPr>
            <a:r>
              <a:rPr lang="en-US" sz="1500" dirty="0">
                <a:solidFill>
                  <a:srgbClr val="1C2A30"/>
                </a:solidFill>
                <a:latin typeface="Calibri" pitchFamily="34" charset="0"/>
                <a:ea typeface="Calibri" pitchFamily="34" charset="-122"/>
                <a:cs typeface="Calibri" pitchFamily="34" charset="-120"/>
              </a:rPr>
              <a:t>Until then only pre-cleared patients can use the chairs, so mornings are empty and afternoons run late.</a:t>
            </a:r>
            <a:endParaRPr lang="en-US" sz="1500" dirty="0"/>
          </a:p>
          <a:p>
            <a:pPr marL="342900" indent="-342900">
              <a:spcAft>
                <a:spcPts val="600"/>
              </a:spcAft>
              <a:buSzPct val="100000"/>
              <a:buChar char="•"/>
            </a:pPr>
            <a:r>
              <a:rPr lang="en-US" sz="1500" dirty="0">
                <a:solidFill>
                  <a:srgbClr val="1C2A30"/>
                </a:solidFill>
                <a:latin typeface="Calibri" pitchFamily="34" charset="0"/>
                <a:ea typeface="Calibri" pitchFamily="34" charset="-122"/>
                <a:cs typeface="Calibri" pitchFamily="34" charset="-120"/>
              </a:rPr>
              <a:t>Calling everyone at 08:00 adds a crowd: 88 min queue at registration alone.</a:t>
            </a:r>
            <a:endParaRPr lang="en-US" sz="1500" dirty="0"/>
          </a:p>
        </p:txBody>
      </p:sp>
      <p:sp>
        <p:nvSpPr>
          <p:cNvPr id="10" name="Text 8"/>
          <p:cNvSpPr txBox="1"/>
          <p:nvPr/>
        </p:nvSpPr>
        <p:spPr>
          <a:xfrm>
            <a:off x="5577840" y="3977640"/>
            <a:ext cx="5943600" cy="365760"/>
          </a:xfrm>
          <a:prstGeom prst="rect">
            <a:avLst/>
          </a:prstGeom>
          <a:noFill/>
          <a:ln/>
        </p:spPr>
        <p:txBody>
          <a:bodyPr wrap="square" lIns="0" tIns="0" rIns="0" bIns="0" rtlCol="0" anchor="t"/>
          <a:lstStyle/>
          <a:p>
            <a:pPr indent="0" marL="0">
              <a:buNone/>
            </a:pPr>
            <a:r>
              <a:rPr lang="en-US" sz="2000" b="1" dirty="0">
                <a:solidFill>
                  <a:srgbClr val="1C2A30"/>
                </a:solidFill>
                <a:latin typeface="Cambria" pitchFamily="34" charset="0"/>
                <a:ea typeface="Cambria" pitchFamily="34" charset="-122"/>
                <a:cs typeface="Cambria" pitchFamily="34" charset="-120"/>
              </a:rPr>
              <a:t>What the literature leaves open</a:t>
            </a:r>
            <a:endParaRPr lang="en-US" sz="2000" dirty="0"/>
          </a:p>
        </p:txBody>
      </p:sp>
      <p:sp>
        <p:nvSpPr>
          <p:cNvPr id="11" name="Text 9"/>
          <p:cNvSpPr txBox="1"/>
          <p:nvPr/>
        </p:nvSpPr>
        <p:spPr>
          <a:xfrm>
            <a:off x="5577840" y="4434840"/>
            <a:ext cx="6035040" cy="365760"/>
          </a:xfrm>
          <a:prstGeom prst="rect">
            <a:avLst/>
          </a:prstGeom>
          <a:noFill/>
          <a:ln/>
        </p:spPr>
        <p:txBody>
          <a:bodyPr wrap="square" lIns="0" tIns="0" rIns="0" bIns="0" rtlCol="0" anchor="t"/>
          <a:lstStyle/>
          <a:p>
            <a:pPr indent="0" marL="0">
              <a:buNone/>
            </a:pPr>
            <a:r>
              <a:rPr lang="en-US" sz="1400" b="1" dirty="0">
                <a:solidFill>
                  <a:srgbClr val="0F766E"/>
                </a:solidFill>
                <a:latin typeface="Calibri" pitchFamily="34" charset="0"/>
                <a:ea typeface="Calibri" pitchFamily="34" charset="-122"/>
                <a:cs typeface="Calibri" pitchFamily="34" charset="-120"/>
              </a:rPr>
              <a:t>Hesaraki 2019, 2020  </a:t>
            </a:r>
            <a:pPr indent="0" marL="0">
              <a:buNone/>
            </a:pPr>
            <a:r>
              <a:rPr lang="en-US" sz="1400" dirty="0">
                <a:solidFill>
                  <a:srgbClr val="1C2A30"/>
                </a:solidFill>
                <a:latin typeface="Calibri" pitchFamily="34" charset="0"/>
                <a:ea typeface="Calibri" pitchFamily="34" charset="-122"/>
                <a:cs typeface="Calibri" pitchFamily="34" charset="-120"/>
              </a:rPr>
              <a:t>chair and nurse template; ready time known in advance</a:t>
            </a:r>
            <a:endParaRPr lang="en-US" sz="1400" dirty="0"/>
          </a:p>
        </p:txBody>
      </p:sp>
      <p:sp>
        <p:nvSpPr>
          <p:cNvPr id="12" name="Text 10"/>
          <p:cNvSpPr txBox="1"/>
          <p:nvPr/>
        </p:nvSpPr>
        <p:spPr>
          <a:xfrm>
            <a:off x="5577840" y="4818888"/>
            <a:ext cx="6035040" cy="365760"/>
          </a:xfrm>
          <a:prstGeom prst="rect">
            <a:avLst/>
          </a:prstGeom>
          <a:noFill/>
          <a:ln/>
        </p:spPr>
        <p:txBody>
          <a:bodyPr wrap="square" lIns="0" tIns="0" rIns="0" bIns="0" rtlCol="0" anchor="t"/>
          <a:lstStyle/>
          <a:p>
            <a:pPr indent="0" marL="0">
              <a:buNone/>
            </a:pPr>
            <a:r>
              <a:rPr lang="en-US" sz="1400" b="1" dirty="0">
                <a:solidFill>
                  <a:srgbClr val="0F766E"/>
                </a:solidFill>
                <a:latin typeface="Calibri" pitchFamily="34" charset="0"/>
                <a:ea typeface="Calibri" pitchFamily="34" charset="-122"/>
                <a:cs typeface="Calibri" pitchFamily="34" charset="-120"/>
              </a:rPr>
              <a:t>Liang 2015  </a:t>
            </a:r>
            <a:pPr indent="0" marL="0">
              <a:buNone/>
            </a:pPr>
            <a:r>
              <a:rPr lang="en-US" sz="1400" dirty="0">
                <a:solidFill>
                  <a:srgbClr val="1C2A30"/>
                </a:solidFill>
                <a:latin typeface="Calibri" pitchFamily="34" charset="0"/>
                <a:ea typeface="Calibri" pitchFamily="34" charset="-122"/>
                <a:cs typeface="Calibri" pitchFamily="34" charset="-120"/>
              </a:rPr>
              <a:t>optimise the schedule, then stress-test it in simulation</a:t>
            </a:r>
            <a:endParaRPr lang="en-US" sz="1400" dirty="0"/>
          </a:p>
        </p:txBody>
      </p:sp>
      <p:sp>
        <p:nvSpPr>
          <p:cNvPr id="13" name="Text 11"/>
          <p:cNvSpPr txBox="1"/>
          <p:nvPr/>
        </p:nvSpPr>
        <p:spPr>
          <a:xfrm>
            <a:off x="5577840" y="5202936"/>
            <a:ext cx="6035040" cy="365760"/>
          </a:xfrm>
          <a:prstGeom prst="rect">
            <a:avLst/>
          </a:prstGeom>
          <a:noFill/>
          <a:ln/>
        </p:spPr>
        <p:txBody>
          <a:bodyPr wrap="square" lIns="0" tIns="0" rIns="0" bIns="0" rtlCol="0" anchor="t"/>
          <a:lstStyle/>
          <a:p>
            <a:pPr indent="0" marL="0">
              <a:buNone/>
            </a:pPr>
            <a:r>
              <a:rPr lang="en-US" sz="1400" b="1" dirty="0">
                <a:solidFill>
                  <a:srgbClr val="0F766E"/>
                </a:solidFill>
                <a:latin typeface="Calibri" pitchFamily="34" charset="0"/>
                <a:ea typeface="Calibri" pitchFamily="34" charset="-122"/>
                <a:cs typeface="Calibri" pitchFamily="34" charset="-120"/>
              </a:rPr>
              <a:t>Hadid 2022  </a:t>
            </a:r>
            <a:pPr indent="0" marL="0">
              <a:buNone/>
            </a:pPr>
            <a:r>
              <a:rPr lang="en-US" sz="1400" dirty="0">
                <a:solidFill>
                  <a:srgbClr val="1C2A30"/>
                </a:solidFill>
                <a:latin typeface="Calibri" pitchFamily="34" charset="0"/>
                <a:ea typeface="Calibri" pitchFamily="34" charset="-122"/>
                <a:cs typeface="Calibri" pitchFamily="34" charset="-120"/>
              </a:rPr>
              <a:t>every stage random; 13 h to optimise 246 appointments</a:t>
            </a:r>
            <a:endParaRPr lang="en-US" sz="1400" dirty="0"/>
          </a:p>
        </p:txBody>
      </p:sp>
      <p:sp>
        <p:nvSpPr>
          <p:cNvPr id="14" name="Text 12"/>
          <p:cNvSpPr txBox="1"/>
          <p:nvPr/>
        </p:nvSpPr>
        <p:spPr>
          <a:xfrm>
            <a:off x="5577840" y="5623560"/>
            <a:ext cx="6035040" cy="457200"/>
          </a:xfrm>
          <a:prstGeom prst="rect">
            <a:avLst/>
          </a:prstGeom>
          <a:noFill/>
          <a:ln/>
        </p:spPr>
        <p:txBody>
          <a:bodyPr wrap="square" lIns="0" tIns="0" rIns="0" bIns="0" rtlCol="0" anchor="t"/>
          <a:lstStyle/>
          <a:p>
            <a:pPr indent="0" marL="0">
              <a:buNone/>
            </a:pPr>
            <a:r>
              <a:rPr lang="en-US" sz="1400" b="1" dirty="0">
                <a:solidFill>
                  <a:srgbClr val="EB6834"/>
                </a:solidFill>
                <a:latin typeface="Calibri" pitchFamily="34" charset="0"/>
                <a:ea typeface="Calibri" pitchFamily="34" charset="-122"/>
                <a:cs typeface="Calibri" pitchFamily="34" charset="-120"/>
              </a:rPr>
              <a:t>Open: setting the appointment from an uncertain ready time, and varying how many patients are pre-cleared.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rgbClr val="0F766E"/>
                </a:solidFill>
              </a:rPr>
              <a:t>OUR PROPOSAL</a:t>
            </a: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3400" b="1" dirty="0">
                <a:solidFill>
                  <a:srgbClr val="1C2A30"/>
                </a:solidFill>
                <a:latin typeface="Cambria" pitchFamily="34" charset="0"/>
                <a:ea typeface="Cambria" pitchFamily="34" charset="-122"/>
                <a:cs typeface="Cambria" pitchFamily="34" charset="-120"/>
              </a:rPr>
              <a:t>Give every patient two times: arrival and chair</a:t>
            </a:r>
            <a:endParaRPr lang="en-US" sz="3400" dirty="0"/>
          </a:p>
        </p:txBody>
      </p:sp>
      <p:sp>
        <p:nvSpPr>
          <p:cNvPr id="4" name="Text 2"/>
          <p:cNvSpPr txBox="1"/>
          <p:nvPr/>
        </p:nvSpPr>
        <p:spPr>
          <a:xfrm>
            <a:off x="1234440" y="1783080"/>
            <a:ext cx="731520" cy="274320"/>
          </a:xfrm>
          <a:prstGeom prst="rect">
            <a:avLst/>
          </a:prstGeom>
          <a:noFill/>
          <a:ln/>
        </p:spPr>
        <p:txBody>
          <a:bodyPr wrap="square" lIns="0" tIns="0" rIns="0" bIns="0" rtlCol="0" anchor="t"/>
          <a:lstStyle/>
          <a:p>
            <a:pPr algn="ctr" indent="0" marL="0">
              <a:buNone/>
            </a:pPr>
            <a:r>
              <a:rPr lang="en-US" sz="1200" dirty="0">
                <a:solidFill>
                  <a:srgbClr val="5E6E73"/>
                </a:solidFill>
                <a:latin typeface="Calibri" pitchFamily="34" charset="0"/>
                <a:ea typeface="Calibri" pitchFamily="34" charset="-122"/>
                <a:cs typeface="Calibri" pitchFamily="34" charset="-120"/>
              </a:rPr>
              <a:t>8:00</a:t>
            </a:r>
            <a:endParaRPr lang="en-US" sz="1200" dirty="0"/>
          </a:p>
        </p:txBody>
      </p:sp>
      <p:sp>
        <p:nvSpPr>
          <p:cNvPr id="5" name="grid16"/>
          <p:cNvSpPr/>
          <p:nvPr/>
        </p:nvSpPr>
        <p:spPr>
          <a:xfrm>
            <a:off x="1600200" y="2103120"/>
            <a:ext cx="0" cy="2743200"/>
          </a:xfrm>
          <a:prstGeom prst="line">
            <a:avLst/>
          </a:prstGeom>
          <a:noFill/>
          <a:ln w="9525">
            <a:solidFill>
              <a:srgbClr val="E3E8E6"/>
            </a:solidFill>
            <a:prstDash val="solid"/>
          </a:ln>
        </p:spPr>
      </p:sp>
      <p:sp>
        <p:nvSpPr>
          <p:cNvPr id="6" name="Text 4"/>
          <p:cNvSpPr txBox="1"/>
          <p:nvPr/>
        </p:nvSpPr>
        <p:spPr>
          <a:xfrm>
            <a:off x="2514600" y="1783080"/>
            <a:ext cx="731520" cy="274320"/>
          </a:xfrm>
          <a:prstGeom prst="rect">
            <a:avLst/>
          </a:prstGeom>
          <a:noFill/>
          <a:ln/>
        </p:spPr>
        <p:txBody>
          <a:bodyPr wrap="square" lIns="0" tIns="0" rIns="0" bIns="0" rtlCol="0" anchor="t"/>
          <a:lstStyle/>
          <a:p>
            <a:pPr algn="ctr" indent="0" marL="0">
              <a:buNone/>
            </a:pPr>
            <a:r>
              <a:rPr lang="en-US" sz="1200" dirty="0">
                <a:solidFill>
                  <a:srgbClr val="5E6E73"/>
                </a:solidFill>
                <a:latin typeface="Calibri" pitchFamily="34" charset="0"/>
                <a:ea typeface="Calibri" pitchFamily="34" charset="-122"/>
                <a:cs typeface="Calibri" pitchFamily="34" charset="-120"/>
              </a:rPr>
              <a:t>9:00</a:t>
            </a:r>
            <a:endParaRPr lang="en-US" sz="1200" dirty="0"/>
          </a:p>
        </p:txBody>
      </p:sp>
      <p:sp>
        <p:nvSpPr>
          <p:cNvPr id="7" name="grid17"/>
          <p:cNvSpPr/>
          <p:nvPr/>
        </p:nvSpPr>
        <p:spPr>
          <a:xfrm>
            <a:off x="2880360" y="2103120"/>
            <a:ext cx="0" cy="2743200"/>
          </a:xfrm>
          <a:prstGeom prst="line">
            <a:avLst/>
          </a:prstGeom>
          <a:noFill/>
          <a:ln w="9525">
            <a:solidFill>
              <a:srgbClr val="E3E8E6"/>
            </a:solidFill>
            <a:prstDash val="solid"/>
          </a:ln>
        </p:spPr>
      </p:sp>
      <p:sp>
        <p:nvSpPr>
          <p:cNvPr id="8" name="Text 6"/>
          <p:cNvSpPr txBox="1"/>
          <p:nvPr/>
        </p:nvSpPr>
        <p:spPr>
          <a:xfrm>
            <a:off x="3794760" y="1783080"/>
            <a:ext cx="731520" cy="274320"/>
          </a:xfrm>
          <a:prstGeom prst="rect">
            <a:avLst/>
          </a:prstGeom>
          <a:noFill/>
          <a:ln/>
        </p:spPr>
        <p:txBody>
          <a:bodyPr wrap="square" lIns="0" tIns="0" rIns="0" bIns="0" rtlCol="0" anchor="t"/>
          <a:lstStyle/>
          <a:p>
            <a:pPr algn="ctr" indent="0" marL="0">
              <a:buNone/>
            </a:pPr>
            <a:r>
              <a:rPr lang="en-US" sz="1200" dirty="0">
                <a:solidFill>
                  <a:srgbClr val="5E6E73"/>
                </a:solidFill>
                <a:latin typeface="Calibri" pitchFamily="34" charset="0"/>
                <a:ea typeface="Calibri" pitchFamily="34" charset="-122"/>
                <a:cs typeface="Calibri" pitchFamily="34" charset="-120"/>
              </a:rPr>
              <a:t>10:00</a:t>
            </a:r>
            <a:endParaRPr lang="en-US" sz="1200" dirty="0"/>
          </a:p>
        </p:txBody>
      </p:sp>
      <p:sp>
        <p:nvSpPr>
          <p:cNvPr id="9" name="grid18"/>
          <p:cNvSpPr/>
          <p:nvPr/>
        </p:nvSpPr>
        <p:spPr>
          <a:xfrm>
            <a:off x="4160520" y="2103120"/>
            <a:ext cx="0" cy="2743200"/>
          </a:xfrm>
          <a:prstGeom prst="line">
            <a:avLst/>
          </a:prstGeom>
          <a:noFill/>
          <a:ln w="9525">
            <a:solidFill>
              <a:srgbClr val="E3E8E6"/>
            </a:solidFill>
            <a:prstDash val="solid"/>
          </a:ln>
        </p:spPr>
      </p:sp>
      <p:sp>
        <p:nvSpPr>
          <p:cNvPr id="10" name="Text 8"/>
          <p:cNvSpPr txBox="1"/>
          <p:nvPr/>
        </p:nvSpPr>
        <p:spPr>
          <a:xfrm>
            <a:off x="5074920" y="1783080"/>
            <a:ext cx="731520" cy="274320"/>
          </a:xfrm>
          <a:prstGeom prst="rect">
            <a:avLst/>
          </a:prstGeom>
          <a:noFill/>
          <a:ln/>
        </p:spPr>
        <p:txBody>
          <a:bodyPr wrap="square" lIns="0" tIns="0" rIns="0" bIns="0" rtlCol="0" anchor="t"/>
          <a:lstStyle/>
          <a:p>
            <a:pPr algn="ctr" indent="0" marL="0">
              <a:buNone/>
            </a:pPr>
            <a:r>
              <a:rPr lang="en-US" sz="1200" dirty="0">
                <a:solidFill>
                  <a:srgbClr val="5E6E73"/>
                </a:solidFill>
                <a:latin typeface="Calibri" pitchFamily="34" charset="0"/>
                <a:ea typeface="Calibri" pitchFamily="34" charset="-122"/>
                <a:cs typeface="Calibri" pitchFamily="34" charset="-120"/>
              </a:rPr>
              <a:t>11:00</a:t>
            </a:r>
            <a:endParaRPr lang="en-US" sz="1200" dirty="0"/>
          </a:p>
        </p:txBody>
      </p:sp>
      <p:sp>
        <p:nvSpPr>
          <p:cNvPr id="11" name="grid19"/>
          <p:cNvSpPr/>
          <p:nvPr/>
        </p:nvSpPr>
        <p:spPr>
          <a:xfrm>
            <a:off x="5440680" y="2103120"/>
            <a:ext cx="0" cy="2743200"/>
          </a:xfrm>
          <a:prstGeom prst="line">
            <a:avLst/>
          </a:prstGeom>
          <a:noFill/>
          <a:ln w="9525">
            <a:solidFill>
              <a:srgbClr val="E3E8E6"/>
            </a:solidFill>
            <a:prstDash val="solid"/>
          </a:ln>
        </p:spPr>
      </p:sp>
      <p:sp>
        <p:nvSpPr>
          <p:cNvPr id="12" name="Text 10"/>
          <p:cNvSpPr txBox="1"/>
          <p:nvPr/>
        </p:nvSpPr>
        <p:spPr>
          <a:xfrm>
            <a:off x="6355080" y="1783080"/>
            <a:ext cx="731520" cy="274320"/>
          </a:xfrm>
          <a:prstGeom prst="rect">
            <a:avLst/>
          </a:prstGeom>
          <a:noFill/>
          <a:ln/>
        </p:spPr>
        <p:txBody>
          <a:bodyPr wrap="square" lIns="0" tIns="0" rIns="0" bIns="0" rtlCol="0" anchor="t"/>
          <a:lstStyle/>
          <a:p>
            <a:pPr algn="ctr" indent="0" marL="0">
              <a:buNone/>
            </a:pPr>
            <a:r>
              <a:rPr lang="en-US" sz="1200" dirty="0">
                <a:solidFill>
                  <a:srgbClr val="5E6E73"/>
                </a:solidFill>
                <a:latin typeface="Calibri" pitchFamily="34" charset="0"/>
                <a:ea typeface="Calibri" pitchFamily="34" charset="-122"/>
                <a:cs typeface="Calibri" pitchFamily="34" charset="-120"/>
              </a:rPr>
              <a:t>12:00</a:t>
            </a:r>
            <a:endParaRPr lang="en-US" sz="1200" dirty="0"/>
          </a:p>
        </p:txBody>
      </p:sp>
      <p:sp>
        <p:nvSpPr>
          <p:cNvPr id="13" name="grid20"/>
          <p:cNvSpPr/>
          <p:nvPr/>
        </p:nvSpPr>
        <p:spPr>
          <a:xfrm>
            <a:off x="6720840" y="2103120"/>
            <a:ext cx="0" cy="2743200"/>
          </a:xfrm>
          <a:prstGeom prst="line">
            <a:avLst/>
          </a:prstGeom>
          <a:noFill/>
          <a:ln w="9525">
            <a:solidFill>
              <a:srgbClr val="E3E8E6"/>
            </a:solidFill>
            <a:prstDash val="solid"/>
          </a:ln>
        </p:spPr>
      </p:sp>
      <p:sp>
        <p:nvSpPr>
          <p:cNvPr id="14" name="Text 12"/>
          <p:cNvSpPr txBox="1"/>
          <p:nvPr/>
        </p:nvSpPr>
        <p:spPr>
          <a:xfrm>
            <a:off x="7635240" y="1783080"/>
            <a:ext cx="731520" cy="274320"/>
          </a:xfrm>
          <a:prstGeom prst="rect">
            <a:avLst/>
          </a:prstGeom>
          <a:noFill/>
          <a:ln/>
        </p:spPr>
        <p:txBody>
          <a:bodyPr wrap="square" lIns="0" tIns="0" rIns="0" bIns="0" rtlCol="0" anchor="t"/>
          <a:lstStyle/>
          <a:p>
            <a:pPr algn="ctr" indent="0" marL="0">
              <a:buNone/>
            </a:pPr>
            <a:r>
              <a:rPr lang="en-US" sz="1200" dirty="0">
                <a:solidFill>
                  <a:srgbClr val="5E6E73"/>
                </a:solidFill>
                <a:latin typeface="Calibri" pitchFamily="34" charset="0"/>
                <a:ea typeface="Calibri" pitchFamily="34" charset="-122"/>
                <a:cs typeface="Calibri" pitchFamily="34" charset="-120"/>
              </a:rPr>
              <a:t>13:00</a:t>
            </a:r>
            <a:endParaRPr lang="en-US" sz="1200" dirty="0"/>
          </a:p>
        </p:txBody>
      </p:sp>
      <p:sp>
        <p:nvSpPr>
          <p:cNvPr id="15" name="grid21"/>
          <p:cNvSpPr/>
          <p:nvPr/>
        </p:nvSpPr>
        <p:spPr>
          <a:xfrm>
            <a:off x="8001000" y="2103120"/>
            <a:ext cx="0" cy="2743200"/>
          </a:xfrm>
          <a:prstGeom prst="line">
            <a:avLst/>
          </a:prstGeom>
          <a:noFill/>
          <a:ln w="9525">
            <a:solidFill>
              <a:srgbClr val="E3E8E6"/>
            </a:solidFill>
            <a:prstDash val="solid"/>
          </a:ln>
        </p:spPr>
      </p:sp>
      <p:sp>
        <p:nvSpPr>
          <p:cNvPr id="16" name="Text 14"/>
          <p:cNvSpPr txBox="1"/>
          <p:nvPr/>
        </p:nvSpPr>
        <p:spPr>
          <a:xfrm>
            <a:off x="548640" y="2377440"/>
            <a:ext cx="1005840" cy="320040"/>
          </a:xfrm>
          <a:prstGeom prst="rect">
            <a:avLst/>
          </a:prstGeom>
          <a:noFill/>
          <a:ln/>
        </p:spPr>
        <p:txBody>
          <a:bodyPr wrap="square" lIns="0" tIns="0" rIns="0" bIns="0" rtlCol="0" anchor="t"/>
          <a:lstStyle/>
          <a:p>
            <a:pPr indent="0" marL="0">
              <a:buNone/>
            </a:pPr>
            <a:r>
              <a:rPr lang="en-US" sz="1500" b="1" dirty="0">
                <a:solidFill>
                  <a:srgbClr val="2A78D6"/>
                </a:solidFill>
                <a:latin typeface="Calibri" pitchFamily="34" charset="0"/>
                <a:ea typeface="Calibri" pitchFamily="34" charset="-122"/>
                <a:cs typeface="Calibri" pitchFamily="34" charset="-120"/>
              </a:rPr>
              <a:t>Pre-cleared</a:t>
            </a:r>
            <a:endParaRPr lang="en-US" sz="1500" dirty="0"/>
          </a:p>
        </p:txBody>
      </p:sp>
      <p:sp>
        <p:nvSpPr>
          <p:cNvPr id="17" name="Text 15"/>
          <p:cNvSpPr txBox="1"/>
          <p:nvPr/>
        </p:nvSpPr>
        <p:spPr>
          <a:xfrm>
            <a:off x="548640" y="2697480"/>
            <a:ext cx="1005840" cy="548640"/>
          </a:xfrm>
          <a:prstGeom prst="rect">
            <a:avLst/>
          </a:prstGeom>
          <a:noFill/>
          <a:ln/>
        </p:spPr>
        <p:txBody>
          <a:bodyPr wrap="square" lIns="0" tIns="0" rIns="0" bIns="0" rtlCol="0" anchor="t"/>
          <a:lstStyle/>
          <a:p>
            <a:pPr indent="0" marL="0">
              <a:buNone/>
            </a:pPr>
            <a:r>
              <a:rPr lang="en-US" sz="1100" dirty="0">
                <a:solidFill>
                  <a:srgbClr val="5E6E73"/>
                </a:solidFill>
                <a:latin typeface="Calibri" pitchFamily="34" charset="0"/>
                <a:ea typeface="Calibri" pitchFamily="34" charset="-122"/>
                <a:cs typeface="Calibri" pitchFamily="34" charset="-120"/>
              </a:rPr>
              <a:t>bloods done the day before</a:t>
            </a:r>
            <a:endParaRPr lang="en-US" sz="1100" dirty="0"/>
          </a:p>
        </p:txBody>
      </p:sp>
      <p:sp>
        <p:nvSpPr>
          <p:cNvPr id="18" name="pre22"/>
          <p:cNvSpPr/>
          <p:nvPr/>
        </p:nvSpPr>
        <p:spPr>
          <a:xfrm>
            <a:off x="1600200" y="2331720"/>
            <a:ext cx="1653540" cy="502920"/>
          </a:xfrm>
          <a:prstGeom prst="roundRect">
            <a:avLst>
              <a:gd name="adj" fmla="val 10909"/>
            </a:avLst>
          </a:prstGeom>
          <a:solidFill>
            <a:srgbClr val="D6E6F8"/>
          </a:solidFill>
          <a:ln/>
        </p:spPr>
      </p:sp>
      <p:sp>
        <p:nvSpPr>
          <p:cNvPr id="19" name="Text 17"/>
          <p:cNvSpPr txBox="1"/>
          <p:nvPr/>
        </p:nvSpPr>
        <p:spPr>
          <a:xfrm>
            <a:off x="1691640" y="2459736"/>
            <a:ext cx="1470660" cy="274320"/>
          </a:xfrm>
          <a:prstGeom prst="rect">
            <a:avLst/>
          </a:prstGeom>
          <a:noFill/>
          <a:ln/>
        </p:spPr>
        <p:txBody>
          <a:bodyPr wrap="square" lIns="0" tIns="0" rIns="0" bIns="0" rtlCol="0" anchor="t"/>
          <a:lstStyle/>
          <a:p>
            <a:pPr indent="0" marL="0">
              <a:buNone/>
            </a:pPr>
            <a:r>
              <a:rPr lang="en-US" sz="1150" dirty="0">
                <a:solidFill>
                  <a:srgbClr val="1C2A30"/>
                </a:solidFill>
                <a:latin typeface="Calibri" pitchFamily="34" charset="0"/>
                <a:ea typeface="Calibri" pitchFamily="34" charset="-122"/>
                <a:cs typeface="Calibri" pitchFamily="34" charset="-120"/>
              </a:rPr>
              <a:t>reg. · billing · drug</a:t>
            </a:r>
            <a:endParaRPr lang="en-US" sz="1150" dirty="0"/>
          </a:p>
        </p:txBody>
      </p:sp>
      <p:sp>
        <p:nvSpPr>
          <p:cNvPr id="20" name="chairbar23"/>
          <p:cNvSpPr/>
          <p:nvPr/>
        </p:nvSpPr>
        <p:spPr>
          <a:xfrm>
            <a:off x="3520440" y="2331720"/>
            <a:ext cx="4480560" cy="502920"/>
          </a:xfrm>
          <a:prstGeom prst="roundRect">
            <a:avLst>
              <a:gd name="adj" fmla="val 10909"/>
            </a:avLst>
          </a:prstGeom>
          <a:solidFill>
            <a:srgbClr val="2A78D6"/>
          </a:solidFill>
          <a:ln/>
        </p:spPr>
      </p:sp>
      <p:sp>
        <p:nvSpPr>
          <p:cNvPr id="21" name="Text 19"/>
          <p:cNvSpPr txBox="1"/>
          <p:nvPr/>
        </p:nvSpPr>
        <p:spPr>
          <a:xfrm>
            <a:off x="3630168" y="2459736"/>
            <a:ext cx="1463040"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in the chair</a:t>
            </a:r>
            <a:endParaRPr lang="en-US" sz="1200" dirty="0"/>
          </a:p>
        </p:txBody>
      </p:sp>
      <p:sp>
        <p:nvSpPr>
          <p:cNvPr id="22" name="told24"/>
          <p:cNvSpPr/>
          <p:nvPr/>
        </p:nvSpPr>
        <p:spPr>
          <a:xfrm>
            <a:off x="1517904" y="2926080"/>
            <a:ext cx="164592" cy="164592"/>
          </a:xfrm>
          <a:prstGeom prst="ellipse">
            <a:avLst/>
          </a:prstGeom>
          <a:solidFill>
            <a:srgbClr val="1C2A30"/>
          </a:solidFill>
          <a:ln/>
        </p:spPr>
      </p:sp>
      <p:sp>
        <p:nvSpPr>
          <p:cNvPr id="23" name="Text 21"/>
          <p:cNvSpPr txBox="1"/>
          <p:nvPr/>
        </p:nvSpPr>
        <p:spPr>
          <a:xfrm>
            <a:off x="1508760" y="3136392"/>
            <a:ext cx="1097280" cy="274320"/>
          </a:xfrm>
          <a:prstGeom prst="rect">
            <a:avLst/>
          </a:prstGeom>
          <a:noFill/>
          <a:ln/>
        </p:spPr>
        <p:txBody>
          <a:bodyPr wrap="square" lIns="0" tIns="0" rIns="0" bIns="0" rtlCol="0" anchor="t"/>
          <a:lstStyle/>
          <a:p>
            <a:pPr indent="0" marL="0">
              <a:buNone/>
            </a:pPr>
            <a:r>
              <a:rPr lang="en-US" sz="1150" dirty="0">
                <a:solidFill>
                  <a:srgbClr val="1C2A30"/>
                </a:solidFill>
                <a:latin typeface="Calibri" pitchFamily="34" charset="0"/>
                <a:ea typeface="Calibri" pitchFamily="34" charset="-122"/>
                <a:cs typeface="Calibri" pitchFamily="34" charset="-120"/>
              </a:rPr>
              <a:t>told 08:00</a:t>
            </a:r>
            <a:endParaRPr lang="en-US" sz="1150" dirty="0"/>
          </a:p>
        </p:txBody>
      </p:sp>
      <p:sp>
        <p:nvSpPr>
          <p:cNvPr id="24" name="Text 22"/>
          <p:cNvSpPr txBox="1"/>
          <p:nvPr/>
        </p:nvSpPr>
        <p:spPr>
          <a:xfrm>
            <a:off x="2247900" y="3136392"/>
            <a:ext cx="960120" cy="274320"/>
          </a:xfrm>
          <a:prstGeom prst="rect">
            <a:avLst/>
          </a:prstGeom>
          <a:noFill/>
          <a:ln/>
        </p:spPr>
        <p:txBody>
          <a:bodyPr wrap="square" lIns="0" tIns="0" rIns="0" bIns="0" rtlCol="0" anchor="t"/>
          <a:lstStyle/>
          <a:p>
            <a:pPr algn="r" indent="0" marL="0">
              <a:buNone/>
            </a:pPr>
            <a:r>
              <a:rPr lang="en-US" sz="1150" dirty="0">
                <a:solidFill>
                  <a:srgbClr val="5E6E73"/>
                </a:solidFill>
                <a:latin typeface="Calibri" pitchFamily="34" charset="0"/>
                <a:ea typeface="Calibri" pitchFamily="34" charset="-122"/>
                <a:cs typeface="Calibri" pitchFamily="34" charset="-120"/>
              </a:rPr>
              <a:t>ready ≈ 9:18</a:t>
            </a:r>
            <a:endParaRPr lang="en-US" sz="1150" dirty="0"/>
          </a:p>
        </p:txBody>
      </p:sp>
      <p:sp>
        <p:nvSpPr>
          <p:cNvPr id="25" name="Text 23"/>
          <p:cNvSpPr txBox="1"/>
          <p:nvPr/>
        </p:nvSpPr>
        <p:spPr>
          <a:xfrm>
            <a:off x="3566160" y="3136392"/>
            <a:ext cx="1280160" cy="274320"/>
          </a:xfrm>
          <a:prstGeom prst="rect">
            <a:avLst/>
          </a:prstGeom>
          <a:noFill/>
          <a:ln/>
        </p:spPr>
        <p:txBody>
          <a:bodyPr wrap="square" lIns="0" tIns="0" rIns="0" bIns="0" rtlCol="0" anchor="t"/>
          <a:lstStyle/>
          <a:p>
            <a:pPr indent="0" marL="0">
              <a:buNone/>
            </a:pPr>
            <a:r>
              <a:rPr lang="en-US" sz="1150" b="1" dirty="0">
                <a:solidFill>
                  <a:srgbClr val="2A78D6"/>
                </a:solidFill>
                <a:latin typeface="Calibri" pitchFamily="34" charset="0"/>
                <a:ea typeface="Calibri" pitchFamily="34" charset="-122"/>
                <a:cs typeface="Calibri" pitchFamily="34" charset="-120"/>
              </a:rPr>
              <a:t>chair 9:30</a:t>
            </a:r>
            <a:endParaRPr lang="en-US" sz="1150" dirty="0"/>
          </a:p>
        </p:txBody>
      </p:sp>
      <p:sp>
        <p:nvSpPr>
          <p:cNvPr id="26" name="Text 24"/>
          <p:cNvSpPr txBox="1"/>
          <p:nvPr/>
        </p:nvSpPr>
        <p:spPr>
          <a:xfrm>
            <a:off x="548640" y="3749040"/>
            <a:ext cx="1005840" cy="320040"/>
          </a:xfrm>
          <a:prstGeom prst="rect">
            <a:avLst/>
          </a:prstGeom>
          <a:noFill/>
          <a:ln/>
        </p:spPr>
        <p:txBody>
          <a:bodyPr wrap="square" lIns="0" tIns="0" rIns="0" bIns="0" rtlCol="0" anchor="t"/>
          <a:lstStyle/>
          <a:p>
            <a:pPr indent="0" marL="0">
              <a:buNone/>
            </a:pPr>
            <a:r>
              <a:rPr lang="en-US" sz="1500" b="1" dirty="0">
                <a:solidFill>
                  <a:srgbClr val="EB6834"/>
                </a:solidFill>
                <a:latin typeface="Calibri" pitchFamily="34" charset="0"/>
                <a:ea typeface="Calibri" pitchFamily="34" charset="-122"/>
                <a:cs typeface="Calibri" pitchFamily="34" charset="-120"/>
              </a:rPr>
              <a:t>Same-day</a:t>
            </a:r>
            <a:endParaRPr lang="en-US" sz="1500" dirty="0"/>
          </a:p>
        </p:txBody>
      </p:sp>
      <p:sp>
        <p:nvSpPr>
          <p:cNvPr id="27" name="Text 25"/>
          <p:cNvSpPr txBox="1"/>
          <p:nvPr/>
        </p:nvSpPr>
        <p:spPr>
          <a:xfrm>
            <a:off x="548640" y="4069080"/>
            <a:ext cx="1005840" cy="548640"/>
          </a:xfrm>
          <a:prstGeom prst="rect">
            <a:avLst/>
          </a:prstGeom>
          <a:noFill/>
          <a:ln/>
        </p:spPr>
        <p:txBody>
          <a:bodyPr wrap="square" lIns="0" tIns="0" rIns="0" bIns="0" rtlCol="0" anchor="t"/>
          <a:lstStyle/>
          <a:p>
            <a:pPr indent="0" marL="0">
              <a:buNone/>
            </a:pPr>
            <a:r>
              <a:rPr lang="en-US" sz="1100" dirty="0">
                <a:solidFill>
                  <a:srgbClr val="5E6E73"/>
                </a:solidFill>
                <a:latin typeface="Calibri" pitchFamily="34" charset="0"/>
                <a:ea typeface="Calibri" pitchFamily="34" charset="-122"/>
                <a:cs typeface="Calibri" pitchFamily="34" charset="-120"/>
              </a:rPr>
              <a:t>blood test this morning</a:t>
            </a:r>
            <a:endParaRPr lang="en-US" sz="1100" dirty="0"/>
          </a:p>
        </p:txBody>
      </p:sp>
      <p:sp>
        <p:nvSpPr>
          <p:cNvPr id="28" name="pre25"/>
          <p:cNvSpPr/>
          <p:nvPr/>
        </p:nvSpPr>
        <p:spPr>
          <a:xfrm>
            <a:off x="1600200" y="3703320"/>
            <a:ext cx="4053840" cy="502920"/>
          </a:xfrm>
          <a:prstGeom prst="roundRect">
            <a:avLst>
              <a:gd name="adj" fmla="val 10909"/>
            </a:avLst>
          </a:prstGeom>
          <a:solidFill>
            <a:srgbClr val="FCE1D4"/>
          </a:solidFill>
          <a:ln/>
        </p:spPr>
      </p:sp>
      <p:sp>
        <p:nvSpPr>
          <p:cNvPr id="29" name="Text 27"/>
          <p:cNvSpPr txBox="1"/>
          <p:nvPr/>
        </p:nvSpPr>
        <p:spPr>
          <a:xfrm>
            <a:off x="1691640" y="3831336"/>
            <a:ext cx="3870960" cy="274320"/>
          </a:xfrm>
          <a:prstGeom prst="rect">
            <a:avLst/>
          </a:prstGeom>
          <a:noFill/>
          <a:ln/>
        </p:spPr>
        <p:txBody>
          <a:bodyPr wrap="square" lIns="0" tIns="0" rIns="0" bIns="0" rtlCol="0" anchor="t"/>
          <a:lstStyle/>
          <a:p>
            <a:pPr indent="0" marL="0">
              <a:buNone/>
            </a:pPr>
            <a:r>
              <a:rPr lang="en-US" sz="1150" dirty="0">
                <a:solidFill>
                  <a:srgbClr val="1C2A30"/>
                </a:solidFill>
                <a:latin typeface="Calibri" pitchFamily="34" charset="0"/>
                <a:ea typeface="Calibri" pitchFamily="34" charset="-122"/>
                <a:cs typeface="Calibri" pitchFamily="34" charset="-120"/>
              </a:rPr>
              <a:t>registration · blood · lab · review · billing · drug</a:t>
            </a:r>
            <a:endParaRPr lang="en-US" sz="1150" dirty="0"/>
          </a:p>
        </p:txBody>
      </p:sp>
      <p:sp>
        <p:nvSpPr>
          <p:cNvPr id="30" name="chairbar26"/>
          <p:cNvSpPr/>
          <p:nvPr/>
        </p:nvSpPr>
        <p:spPr>
          <a:xfrm>
            <a:off x="6080760" y="3703320"/>
            <a:ext cx="1920240" cy="502920"/>
          </a:xfrm>
          <a:prstGeom prst="roundRect">
            <a:avLst>
              <a:gd name="adj" fmla="val 10909"/>
            </a:avLst>
          </a:prstGeom>
          <a:solidFill>
            <a:srgbClr val="EB6834"/>
          </a:solidFill>
          <a:ln/>
        </p:spPr>
      </p:sp>
      <p:sp>
        <p:nvSpPr>
          <p:cNvPr id="31" name="Text 29"/>
          <p:cNvSpPr txBox="1"/>
          <p:nvPr/>
        </p:nvSpPr>
        <p:spPr>
          <a:xfrm>
            <a:off x="6190488" y="3831336"/>
            <a:ext cx="1463040"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in the chair</a:t>
            </a:r>
            <a:endParaRPr lang="en-US" sz="1200" dirty="0"/>
          </a:p>
        </p:txBody>
      </p:sp>
      <p:sp>
        <p:nvSpPr>
          <p:cNvPr id="32" name="told27"/>
          <p:cNvSpPr/>
          <p:nvPr/>
        </p:nvSpPr>
        <p:spPr>
          <a:xfrm>
            <a:off x="1517904" y="4297680"/>
            <a:ext cx="164592" cy="164592"/>
          </a:xfrm>
          <a:prstGeom prst="ellipse">
            <a:avLst/>
          </a:prstGeom>
          <a:solidFill>
            <a:srgbClr val="1C2A30"/>
          </a:solidFill>
          <a:ln/>
        </p:spPr>
      </p:sp>
      <p:sp>
        <p:nvSpPr>
          <p:cNvPr id="33" name="Text 31"/>
          <p:cNvSpPr txBox="1"/>
          <p:nvPr/>
        </p:nvSpPr>
        <p:spPr>
          <a:xfrm>
            <a:off x="1508760" y="4507992"/>
            <a:ext cx="1097280" cy="274320"/>
          </a:xfrm>
          <a:prstGeom prst="rect">
            <a:avLst/>
          </a:prstGeom>
          <a:noFill/>
          <a:ln/>
        </p:spPr>
        <p:txBody>
          <a:bodyPr wrap="square" lIns="0" tIns="0" rIns="0" bIns="0" rtlCol="0" anchor="t"/>
          <a:lstStyle/>
          <a:p>
            <a:pPr indent="0" marL="0">
              <a:buNone/>
            </a:pPr>
            <a:r>
              <a:rPr lang="en-US" sz="1150" dirty="0">
                <a:solidFill>
                  <a:srgbClr val="1C2A30"/>
                </a:solidFill>
                <a:latin typeface="Calibri" pitchFamily="34" charset="0"/>
                <a:ea typeface="Calibri" pitchFamily="34" charset="-122"/>
                <a:cs typeface="Calibri" pitchFamily="34" charset="-120"/>
              </a:rPr>
              <a:t>told 08:00</a:t>
            </a:r>
            <a:endParaRPr lang="en-US" sz="1150" dirty="0"/>
          </a:p>
        </p:txBody>
      </p:sp>
      <p:sp>
        <p:nvSpPr>
          <p:cNvPr id="34" name="Text 32"/>
          <p:cNvSpPr txBox="1"/>
          <p:nvPr/>
        </p:nvSpPr>
        <p:spPr>
          <a:xfrm>
            <a:off x="4648200" y="4507992"/>
            <a:ext cx="960120" cy="274320"/>
          </a:xfrm>
          <a:prstGeom prst="rect">
            <a:avLst/>
          </a:prstGeom>
          <a:noFill/>
          <a:ln/>
        </p:spPr>
        <p:txBody>
          <a:bodyPr wrap="square" lIns="0" tIns="0" rIns="0" bIns="0" rtlCol="0" anchor="t"/>
          <a:lstStyle/>
          <a:p>
            <a:pPr algn="r" indent="0" marL="0">
              <a:buNone/>
            </a:pPr>
            <a:r>
              <a:rPr lang="en-US" sz="1150" dirty="0">
                <a:solidFill>
                  <a:srgbClr val="5E6E73"/>
                </a:solidFill>
                <a:latin typeface="Calibri" pitchFamily="34" charset="0"/>
                <a:ea typeface="Calibri" pitchFamily="34" charset="-122"/>
                <a:cs typeface="Calibri" pitchFamily="34" charset="-120"/>
              </a:rPr>
              <a:t>ready ≈ 11:10</a:t>
            </a:r>
            <a:endParaRPr lang="en-US" sz="1150" dirty="0"/>
          </a:p>
        </p:txBody>
      </p:sp>
      <p:sp>
        <p:nvSpPr>
          <p:cNvPr id="35" name="Text 33"/>
          <p:cNvSpPr txBox="1"/>
          <p:nvPr/>
        </p:nvSpPr>
        <p:spPr>
          <a:xfrm>
            <a:off x="6126480" y="4507992"/>
            <a:ext cx="1280160" cy="274320"/>
          </a:xfrm>
          <a:prstGeom prst="rect">
            <a:avLst/>
          </a:prstGeom>
          <a:noFill/>
          <a:ln/>
        </p:spPr>
        <p:txBody>
          <a:bodyPr wrap="square" lIns="0" tIns="0" rIns="0" bIns="0" rtlCol="0" anchor="t"/>
          <a:lstStyle/>
          <a:p>
            <a:pPr indent="0" marL="0">
              <a:buNone/>
            </a:pPr>
            <a:r>
              <a:rPr lang="en-US" sz="1150" b="1" dirty="0">
                <a:solidFill>
                  <a:srgbClr val="EB6834"/>
                </a:solidFill>
                <a:latin typeface="Calibri" pitchFamily="34" charset="0"/>
                <a:ea typeface="Calibri" pitchFamily="34" charset="-122"/>
                <a:cs typeface="Calibri" pitchFamily="34" charset="-120"/>
              </a:rPr>
              <a:t>chair 11:30</a:t>
            </a:r>
            <a:endParaRPr lang="en-US" sz="1150" dirty="0"/>
          </a:p>
        </p:txBody>
      </p:sp>
      <p:sp>
        <p:nvSpPr>
          <p:cNvPr id="36" name="card28"/>
          <p:cNvSpPr/>
          <p:nvPr/>
        </p:nvSpPr>
        <p:spPr>
          <a:xfrm>
            <a:off x="8412480" y="1783080"/>
            <a:ext cx="3200400" cy="4251960"/>
          </a:xfrm>
          <a:prstGeom prst="roundRect">
            <a:avLst>
              <a:gd name="adj" fmla="val 3429"/>
            </a:avLst>
          </a:prstGeom>
          <a:solidFill>
            <a:srgbClr val="12302D"/>
          </a:solidFill>
          <a:ln/>
        </p:spPr>
      </p:sp>
      <p:sp>
        <p:nvSpPr>
          <p:cNvPr id="37" name="Text 35"/>
          <p:cNvSpPr txBox="1"/>
          <p:nvPr/>
        </p:nvSpPr>
        <p:spPr>
          <a:xfrm>
            <a:off x="8686800" y="2011680"/>
            <a:ext cx="2743200" cy="36576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The rule</a:t>
            </a:r>
            <a:endParaRPr lang="en-US" sz="2000" dirty="0"/>
          </a:p>
        </p:txBody>
      </p:sp>
      <p:sp>
        <p:nvSpPr>
          <p:cNvPr id="38" name="Text 36"/>
          <p:cNvSpPr txBox="1"/>
          <p:nvPr/>
        </p:nvSpPr>
        <p:spPr>
          <a:xfrm>
            <a:off x="8686800" y="2514600"/>
            <a:ext cx="2743200" cy="411480"/>
          </a:xfrm>
          <a:prstGeom prst="rect">
            <a:avLst/>
          </a:prstGeom>
          <a:noFill/>
          <a:ln/>
        </p:spPr>
        <p:txBody>
          <a:bodyPr wrap="square" lIns="0" tIns="0" rIns="0" bIns="0" rtlCol="0" anchor="t"/>
          <a:lstStyle/>
          <a:p>
            <a:pPr indent="0" marL="0">
              <a:buNone/>
            </a:pPr>
            <a:r>
              <a:rPr lang="en-US" sz="1900" i="1" dirty="0">
                <a:solidFill>
                  <a:srgbClr val="7FD1C7"/>
                </a:solidFill>
                <a:latin typeface="Cambria" pitchFamily="34" charset="0"/>
                <a:ea typeface="Cambria" pitchFamily="34" charset="-122"/>
                <a:cs typeface="Cambria" pitchFamily="34" charset="-120"/>
              </a:rPr>
              <a:t>chair slot = arrival + B</a:t>
            </a:r>
            <a:endParaRPr lang="en-US" sz="1900" dirty="0"/>
          </a:p>
        </p:txBody>
      </p:sp>
      <p:sp>
        <p:nvSpPr>
          <p:cNvPr id="39" name="Text 37"/>
          <p:cNvSpPr txBox="1"/>
          <p:nvPr/>
        </p:nvSpPr>
        <p:spPr>
          <a:xfrm>
            <a:off x="8686800" y="3017520"/>
            <a:ext cx="2697480" cy="822960"/>
          </a:xfrm>
          <a:prstGeom prst="rect">
            <a:avLst/>
          </a:prstGeom>
          <a:noFill/>
          <a:ln/>
        </p:spPr>
        <p:txBody>
          <a:bodyPr wrap="square" lIns="0" tIns="0" rIns="0" bIns="0" rtlCol="0" anchor="t"/>
          <a:lstStyle/>
          <a:p>
            <a:pPr indent="0" marL="0">
              <a:buNone/>
            </a:pPr>
            <a:r>
              <a:rPr lang="en-US" sz="1400" dirty="0">
                <a:solidFill>
                  <a:srgbClr val="D7EAE6"/>
                </a:solidFill>
                <a:latin typeface="Calibri" pitchFamily="34" charset="0"/>
                <a:ea typeface="Calibri" pitchFamily="34" charset="-122"/>
                <a:cs typeface="Calibri" pitchFamily="34" charset="-120"/>
              </a:rPr>
              <a:t>B covers 80% of patients of that class, so 4 in 5 are ready in time.</a:t>
            </a:r>
            <a:endParaRPr lang="en-US" sz="1400" dirty="0"/>
          </a:p>
        </p:txBody>
      </p:sp>
      <p:sp>
        <p:nvSpPr>
          <p:cNvPr id="40" name="Text 38"/>
          <p:cNvSpPr txBox="1"/>
          <p:nvPr/>
        </p:nvSpPr>
        <p:spPr>
          <a:xfrm>
            <a:off x="8686800" y="3931920"/>
            <a:ext cx="2743200" cy="457200"/>
          </a:xfrm>
          <a:prstGeom prst="rect">
            <a:avLst/>
          </a:prstGeom>
          <a:noFill/>
          <a:ln/>
        </p:spPr>
        <p:txBody>
          <a:bodyPr wrap="square" lIns="0" tIns="0" rIns="0" bIns="0" rtlCol="0" anchor="t"/>
          <a:lstStyle/>
          <a:p>
            <a:pPr indent="0" marL="0">
              <a:buNone/>
            </a:pPr>
            <a:r>
              <a:rPr lang="en-US" sz="3000" b="1" dirty="0">
                <a:solidFill>
                  <a:srgbClr val="7FD1C7"/>
                </a:solidFill>
                <a:latin typeface="Cambria" pitchFamily="34" charset="0"/>
                <a:ea typeface="Cambria" pitchFamily="34" charset="-122"/>
                <a:cs typeface="Cambria" pitchFamily="34" charset="-120"/>
              </a:rPr>
              <a:t>90 min</a:t>
            </a:r>
            <a:endParaRPr lang="en-US" sz="3000" dirty="0"/>
          </a:p>
        </p:txBody>
      </p:sp>
      <p:sp>
        <p:nvSpPr>
          <p:cNvPr id="41" name="Text 39"/>
          <p:cNvSpPr txBox="1"/>
          <p:nvPr/>
        </p:nvSpPr>
        <p:spPr>
          <a:xfrm>
            <a:off x="8686800" y="4434840"/>
            <a:ext cx="2743200" cy="685800"/>
          </a:xfrm>
          <a:prstGeom prst="rect">
            <a:avLst/>
          </a:prstGeom>
          <a:noFill/>
          <a:ln/>
        </p:spPr>
        <p:txBody>
          <a:bodyPr wrap="square" lIns="0" tIns="0" rIns="0" bIns="0" rtlCol="0" anchor="t"/>
          <a:lstStyle/>
          <a:p>
            <a:pPr indent="0" marL="0">
              <a:buNone/>
            </a:pPr>
            <a:r>
              <a:rPr lang="en-US" sz="1300" dirty="0">
                <a:solidFill>
                  <a:srgbClr val="D7EAE6"/>
                </a:solidFill>
                <a:latin typeface="Calibri" pitchFamily="34" charset="0"/>
                <a:ea typeface="Calibri" pitchFamily="34" charset="-122"/>
                <a:cs typeface="Calibri" pitchFamily="34" charset="-120"/>
              </a:rPr>
              <a:t>pre-cleared buffer (89.9 min)</a:t>
            </a:r>
            <a:endParaRPr lang="en-US" sz="1300" dirty="0"/>
          </a:p>
        </p:txBody>
      </p:sp>
      <p:sp>
        <p:nvSpPr>
          <p:cNvPr id="42" name="Text 40"/>
          <p:cNvSpPr txBox="1"/>
          <p:nvPr/>
        </p:nvSpPr>
        <p:spPr>
          <a:xfrm>
            <a:off x="8686800" y="4937760"/>
            <a:ext cx="2743200" cy="457200"/>
          </a:xfrm>
          <a:prstGeom prst="rect">
            <a:avLst/>
          </a:prstGeom>
          <a:noFill/>
          <a:ln/>
        </p:spPr>
        <p:txBody>
          <a:bodyPr wrap="square" lIns="0" tIns="0" rIns="0" bIns="0" rtlCol="0" anchor="t"/>
          <a:lstStyle/>
          <a:p>
            <a:pPr indent="0" marL="0">
              <a:buNone/>
            </a:pPr>
            <a:r>
              <a:rPr lang="en-US" sz="3000" b="1" dirty="0">
                <a:solidFill>
                  <a:srgbClr val="F6A57F"/>
                </a:solidFill>
                <a:latin typeface="Cambria" pitchFamily="34" charset="0"/>
                <a:ea typeface="Cambria" pitchFamily="34" charset="-122"/>
                <a:cs typeface="Cambria" pitchFamily="34" charset="-120"/>
              </a:rPr>
              <a:t>210 min</a:t>
            </a:r>
            <a:endParaRPr lang="en-US" sz="3000" dirty="0"/>
          </a:p>
        </p:txBody>
      </p:sp>
      <p:sp>
        <p:nvSpPr>
          <p:cNvPr id="43" name="Text 41"/>
          <p:cNvSpPr txBox="1"/>
          <p:nvPr/>
        </p:nvSpPr>
        <p:spPr>
          <a:xfrm>
            <a:off x="8686800" y="5440680"/>
            <a:ext cx="2743200" cy="685800"/>
          </a:xfrm>
          <a:prstGeom prst="rect">
            <a:avLst/>
          </a:prstGeom>
          <a:noFill/>
          <a:ln/>
        </p:spPr>
        <p:txBody>
          <a:bodyPr wrap="square" lIns="0" tIns="0" rIns="0" bIns="0" rtlCol="0" anchor="t"/>
          <a:lstStyle/>
          <a:p>
            <a:pPr indent="0" marL="0">
              <a:buNone/>
            </a:pPr>
            <a:r>
              <a:rPr lang="en-US" sz="1300" dirty="0">
                <a:solidFill>
                  <a:srgbClr val="D7EAE6"/>
                </a:solidFill>
                <a:latin typeface="Calibri" pitchFamily="34" charset="0"/>
                <a:ea typeface="Calibri" pitchFamily="34" charset="-122"/>
                <a:cs typeface="Calibri" pitchFamily="34" charset="-120"/>
              </a:rPr>
              <a:t>same-day buffer (206.2 min)</a:t>
            </a:r>
            <a:endParaRPr lang="en-US" sz="1300" dirty="0"/>
          </a:p>
        </p:txBody>
      </p:sp>
      <p:sp>
        <p:nvSpPr>
          <p:cNvPr id="44" name="Text 42"/>
          <p:cNvSpPr txBox="1"/>
          <p:nvPr/>
        </p:nvSpPr>
        <p:spPr>
          <a:xfrm>
            <a:off x="548640" y="5257800"/>
            <a:ext cx="7589520" cy="548640"/>
          </a:xfrm>
          <a:prstGeom prst="rect">
            <a:avLst/>
          </a:prstGeom>
          <a:noFill/>
          <a:ln/>
        </p:spPr>
        <p:txBody>
          <a:bodyPr wrap="square" lIns="0" tIns="0" rIns="0" bIns="0" rtlCol="0" anchor="t"/>
          <a:lstStyle/>
          <a:p>
            <a:pPr indent="0" marL="0">
              <a:buNone/>
            </a:pPr>
            <a:r>
              <a:rPr lang="en-US" sz="1250" dirty="0">
                <a:solidFill>
                  <a:srgbClr val="5E6E73"/>
                </a:solidFill>
                <a:latin typeface="Calibri" pitchFamily="34" charset="0"/>
                <a:ea typeface="Calibri" pitchFamily="34" charset="-122"/>
                <a:cs typeface="Calibri" pitchFamily="34" charset="-120"/>
              </a:rPr>
              <a:t>Bars show average times from our Presentation 3 inputs. Booking a same-day patient's chair at 08:30 would leave it empty for about 2 h 40.</a:t>
            </a:r>
            <a:endParaRPr lang="en-US" sz="12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rgbClr val="0F766E"/>
                </a:solidFill>
              </a:rPr>
              <a:t>OUR PROPOSAL</a:t>
            </a: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3400" b="1" dirty="0">
                <a:solidFill>
                  <a:srgbClr val="1C2A30"/>
                </a:solidFill>
                <a:latin typeface="Cambria" pitchFamily="34" charset="0"/>
                <a:ea typeface="Cambria" pitchFamily="34" charset="-122"/>
                <a:cs typeface="Cambria" pitchFamily="34" charset="-120"/>
              </a:rPr>
              <a:t>Three changes, no new chairs or staff</a:t>
            </a:r>
            <a:endParaRPr lang="en-US" sz="3400" dirty="0"/>
          </a:p>
        </p:txBody>
      </p:sp>
      <p:sp>
        <p:nvSpPr>
          <p:cNvPr id="4" name="card29"/>
          <p:cNvSpPr/>
          <p:nvPr/>
        </p:nvSpPr>
        <p:spPr>
          <a:xfrm>
            <a:off x="548640" y="1783080"/>
            <a:ext cx="3520440" cy="4160520"/>
          </a:xfrm>
          <a:prstGeom prst="roundRect">
            <a:avLst>
              <a:gd name="adj" fmla="val 3117"/>
            </a:avLst>
          </a:prstGeom>
          <a:solidFill>
            <a:srgbClr val="EEF3F1"/>
          </a:solidFill>
          <a:ln/>
        </p:spPr>
      </p:sp>
      <p:sp>
        <p:nvSpPr>
          <p:cNvPr id="5" name="iconbg30"/>
          <p:cNvSpPr/>
          <p:nvPr/>
        </p:nvSpPr>
        <p:spPr>
          <a:xfrm>
            <a:off x="868680" y="2103120"/>
            <a:ext cx="731520" cy="731520"/>
          </a:xfrm>
          <a:prstGeom prst="ellipse">
            <a:avLst/>
          </a:prstGeom>
          <a:solidFill>
            <a:schemeClr val="accent1"/>
          </a:solidFill>
          <a:ln/>
        </p:spPr>
      </p:sp>
      <p:pic>
        <p:nvPicPr>
          <p:cNvPr id="6" name="icon30" descr="preencoded.png">    </p:cNvPr>
          <p:cNvPicPr>
            <a:picLocks noChangeAspect="1"/>
          </p:cNvPicPr>
          <p:nvPr/>
        </p:nvPicPr>
        <p:blipFill>
          <a:blip r:embed="rId1"/>
          <a:stretch>
            <a:fillRect/>
          </a:stretch>
        </p:blipFill>
        <p:spPr>
          <a:xfrm>
            <a:off x="1029614" y="2264054"/>
            <a:ext cx="409651" cy="409651"/>
          </a:xfrm>
          <a:prstGeom prst="rect">
            <a:avLst/>
          </a:prstGeom>
        </p:spPr>
      </p:pic>
      <p:sp>
        <p:nvSpPr>
          <p:cNvPr id="7" name="Text 4"/>
          <p:cNvSpPr txBox="1"/>
          <p:nvPr/>
        </p:nvSpPr>
        <p:spPr>
          <a:xfrm>
            <a:off x="3383280" y="2057400"/>
            <a:ext cx="411480" cy="548640"/>
          </a:xfrm>
          <a:prstGeom prst="rect">
            <a:avLst/>
          </a:prstGeom>
          <a:noFill/>
          <a:ln/>
        </p:spPr>
        <p:txBody>
          <a:bodyPr wrap="square" lIns="0" tIns="0" rIns="0" bIns="0" rtlCol="0" anchor="t"/>
          <a:lstStyle/>
          <a:p>
            <a:pPr algn="r" indent="0" marL="0">
              <a:buNone/>
            </a:pPr>
            <a:r>
              <a:rPr lang="en-US" sz="3000" b="1" dirty="0">
                <a:solidFill>
                  <a:srgbClr val="C6D3CF"/>
                </a:solidFill>
                <a:latin typeface="Cambria" pitchFamily="34" charset="0"/>
                <a:ea typeface="Cambria" pitchFamily="34" charset="-122"/>
                <a:cs typeface="Cambria" pitchFamily="34" charset="-120"/>
              </a:rPr>
              <a:t>1</a:t>
            </a:r>
            <a:endParaRPr lang="en-US" sz="3000" dirty="0"/>
          </a:p>
        </p:txBody>
      </p:sp>
      <p:sp>
        <p:nvSpPr>
          <p:cNvPr id="8" name="Text 5"/>
          <p:cNvSpPr txBox="1"/>
          <p:nvPr/>
        </p:nvSpPr>
        <p:spPr>
          <a:xfrm>
            <a:off x="868680" y="3017520"/>
            <a:ext cx="2880360" cy="731520"/>
          </a:xfrm>
          <a:prstGeom prst="rect">
            <a:avLst/>
          </a:prstGeom>
          <a:noFill/>
          <a:ln/>
        </p:spPr>
        <p:txBody>
          <a:bodyPr wrap="square" lIns="0" tIns="0" rIns="0" bIns="0" rtlCol="0" anchor="t"/>
          <a:lstStyle/>
          <a:p>
            <a:pPr indent="0" marL="0">
              <a:buNone/>
            </a:pPr>
            <a:r>
              <a:rPr lang="en-US" sz="2100" b="1" dirty="0">
                <a:solidFill>
                  <a:srgbClr val="1C2A30"/>
                </a:solidFill>
                <a:latin typeface="Cambria" pitchFamily="34" charset="0"/>
                <a:ea typeface="Cambria" pitchFamily="34" charset="-122"/>
                <a:cs typeface="Cambria" pitchFamily="34" charset="-120"/>
              </a:rPr>
              <a:t>Two-time booking</a:t>
            </a:r>
            <a:endParaRPr lang="en-US" sz="2100" dirty="0"/>
          </a:p>
        </p:txBody>
      </p:sp>
      <p:sp>
        <p:nvSpPr>
          <p:cNvPr id="9" name="Text 6"/>
          <p:cNvSpPr txBox="1"/>
          <p:nvPr/>
        </p:nvSpPr>
        <p:spPr>
          <a:xfrm>
            <a:off x="868680" y="3749040"/>
            <a:ext cx="2880360" cy="1188720"/>
          </a:xfrm>
          <a:prstGeom prst="rect">
            <a:avLst/>
          </a:prstGeom>
          <a:noFill/>
          <a:ln/>
        </p:spPr>
        <p:txBody>
          <a:bodyPr wrap="square" lIns="0" tIns="0" rIns="0" bIns="0" rtlCol="0" anchor="t"/>
          <a:lstStyle/>
          <a:p>
            <a:pPr indent="0" marL="0">
              <a:buNone/>
            </a:pPr>
            <a:r>
              <a:rPr lang="en-US" sz="1500" dirty="0">
                <a:solidFill>
                  <a:srgbClr val="5E6E73"/>
                </a:solidFill>
                <a:latin typeface="Calibri" pitchFamily="34" charset="0"/>
                <a:ea typeface="Calibri" pitchFamily="34" charset="-122"/>
                <a:cs typeface="Calibri" pitchFamily="34" charset="-120"/>
              </a:rPr>
              <a:t>An integer programme sets every chair slot inside the chair and nurse limits; arrival = slot − B.</a:t>
            </a:r>
            <a:endParaRPr lang="en-US" sz="1500" dirty="0"/>
          </a:p>
        </p:txBody>
      </p:sp>
      <p:sp>
        <p:nvSpPr>
          <p:cNvPr id="10" name="res31"/>
          <p:cNvSpPr/>
          <p:nvPr/>
        </p:nvSpPr>
        <p:spPr>
          <a:xfrm>
            <a:off x="868680" y="5029200"/>
            <a:ext cx="2880360" cy="640080"/>
          </a:xfrm>
          <a:prstGeom prst="roundRect">
            <a:avLst>
              <a:gd name="adj" fmla="val 11429"/>
            </a:avLst>
          </a:prstGeom>
          <a:solidFill>
            <a:srgbClr val="FFFFFF"/>
          </a:solidFill>
          <a:ln/>
        </p:spPr>
      </p:sp>
      <p:sp>
        <p:nvSpPr>
          <p:cNvPr id="11" name="Text 8"/>
          <p:cNvSpPr txBox="1"/>
          <p:nvPr/>
        </p:nvSpPr>
        <p:spPr>
          <a:xfrm>
            <a:off x="1005840" y="5029200"/>
            <a:ext cx="2651760" cy="640080"/>
          </a:xfrm>
          <a:prstGeom prst="rect">
            <a:avLst/>
          </a:prstGeom>
          <a:noFill/>
          <a:ln/>
        </p:spPr>
        <p:txBody>
          <a:bodyPr wrap="square" lIns="0" tIns="0" rIns="0" bIns="0" rtlCol="0" anchor="ctr"/>
          <a:lstStyle/>
          <a:p>
            <a:pPr indent="0" marL="0">
              <a:buNone/>
            </a:pPr>
            <a:r>
              <a:rPr lang="en-US" sz="1500" b="1" dirty="0">
                <a:solidFill>
                  <a:srgbClr val="0F766E"/>
                </a:solidFill>
                <a:latin typeface="Calibri" pitchFamily="34" charset="0"/>
                <a:ea typeface="Calibri" pitchFamily="34" charset="-122"/>
                <a:cs typeface="Calibri" pitchFamily="34" charset="-120"/>
              </a:rPr>
              <a:t>Overtime 127 → 37 min</a:t>
            </a:r>
            <a:pPr indent="0" marL="0">
              <a:buNone/>
            </a:pPr>
            <a:r>
              <a:rPr lang="en-US" sz="1100" dirty="0">
                <a:solidFill>
                  <a:srgbClr val="5E6E73"/>
                </a:solidFill>
                <a:latin typeface="Calibri" pitchFamily="34" charset="0"/>
                <a:ea typeface="Calibri" pitchFamily="34" charset="-122"/>
                <a:cs typeface="Calibri" pitchFamily="34" charset="-120"/>
              </a:rPr>
              <a:t>   E1</a:t>
            </a:r>
            <a:endParaRPr lang="en-US" sz="1500" dirty="0"/>
          </a:p>
        </p:txBody>
      </p:sp>
      <p:sp>
        <p:nvSpPr>
          <p:cNvPr id="12" name="card32"/>
          <p:cNvSpPr/>
          <p:nvPr/>
        </p:nvSpPr>
        <p:spPr>
          <a:xfrm>
            <a:off x="4297680" y="1783080"/>
            <a:ext cx="3520440" cy="4160520"/>
          </a:xfrm>
          <a:prstGeom prst="roundRect">
            <a:avLst>
              <a:gd name="adj" fmla="val 3117"/>
            </a:avLst>
          </a:prstGeom>
          <a:solidFill>
            <a:srgbClr val="EEF3F1"/>
          </a:solidFill>
          <a:ln/>
        </p:spPr>
      </p:sp>
      <p:sp>
        <p:nvSpPr>
          <p:cNvPr id="13" name="iconbg33"/>
          <p:cNvSpPr/>
          <p:nvPr/>
        </p:nvSpPr>
        <p:spPr>
          <a:xfrm>
            <a:off x="4617720" y="2103120"/>
            <a:ext cx="731520" cy="731520"/>
          </a:xfrm>
          <a:prstGeom prst="ellipse">
            <a:avLst/>
          </a:prstGeom>
          <a:solidFill>
            <a:schemeClr val="accent1"/>
          </a:solidFill>
          <a:ln/>
        </p:spPr>
      </p:sp>
      <p:pic>
        <p:nvPicPr>
          <p:cNvPr id="14" name="icon33" descr="preencoded.png">    </p:cNvPr>
          <p:cNvPicPr>
            <a:picLocks noChangeAspect="1"/>
          </p:cNvPicPr>
          <p:nvPr/>
        </p:nvPicPr>
        <p:blipFill>
          <a:blip r:embed="rId2"/>
          <a:stretch>
            <a:fillRect/>
          </a:stretch>
        </p:blipFill>
        <p:spPr>
          <a:xfrm>
            <a:off x="4778654" y="2264054"/>
            <a:ext cx="409651" cy="409651"/>
          </a:xfrm>
          <a:prstGeom prst="rect">
            <a:avLst/>
          </a:prstGeom>
        </p:spPr>
      </p:pic>
      <p:sp>
        <p:nvSpPr>
          <p:cNvPr id="15" name="Text 11"/>
          <p:cNvSpPr txBox="1"/>
          <p:nvPr/>
        </p:nvSpPr>
        <p:spPr>
          <a:xfrm>
            <a:off x="7132320" y="2057400"/>
            <a:ext cx="411480" cy="548640"/>
          </a:xfrm>
          <a:prstGeom prst="rect">
            <a:avLst/>
          </a:prstGeom>
          <a:noFill/>
          <a:ln/>
        </p:spPr>
        <p:txBody>
          <a:bodyPr wrap="square" lIns="0" tIns="0" rIns="0" bIns="0" rtlCol="0" anchor="t"/>
          <a:lstStyle/>
          <a:p>
            <a:pPr algn="r" indent="0" marL="0">
              <a:buNone/>
            </a:pPr>
            <a:r>
              <a:rPr lang="en-US" sz="3000" b="1" dirty="0">
                <a:solidFill>
                  <a:srgbClr val="C6D3CF"/>
                </a:solidFill>
                <a:latin typeface="Cambria" pitchFamily="34" charset="0"/>
                <a:ea typeface="Cambria" pitchFamily="34" charset="-122"/>
                <a:cs typeface="Cambria" pitchFamily="34" charset="-120"/>
              </a:rPr>
              <a:t>2</a:t>
            </a:r>
            <a:endParaRPr lang="en-US" sz="3000" dirty="0"/>
          </a:p>
        </p:txBody>
      </p:sp>
      <p:sp>
        <p:nvSpPr>
          <p:cNvPr id="16" name="Text 12"/>
          <p:cNvSpPr txBox="1"/>
          <p:nvPr/>
        </p:nvSpPr>
        <p:spPr>
          <a:xfrm>
            <a:off x="4617720" y="3017520"/>
            <a:ext cx="2880360" cy="731520"/>
          </a:xfrm>
          <a:prstGeom prst="rect">
            <a:avLst/>
          </a:prstGeom>
          <a:noFill/>
          <a:ln/>
        </p:spPr>
        <p:txBody>
          <a:bodyPr wrap="square" lIns="0" tIns="0" rIns="0" bIns="0" rtlCol="0" anchor="t"/>
          <a:lstStyle/>
          <a:p>
            <a:pPr indent="0" marL="0">
              <a:buNone/>
            </a:pPr>
            <a:r>
              <a:rPr lang="en-US" sz="2100" b="1" dirty="0">
                <a:solidFill>
                  <a:srgbClr val="1C2A30"/>
                </a:solidFill>
                <a:latin typeface="Cambria" pitchFamily="34" charset="0"/>
                <a:ea typeface="Cambria" pitchFamily="34" charset="-122"/>
                <a:cs typeface="Cambria" pitchFamily="34" charset="-120"/>
              </a:rPr>
              <a:t>Pre-clear 60% the day before</a:t>
            </a:r>
            <a:endParaRPr lang="en-US" sz="2100" dirty="0"/>
          </a:p>
        </p:txBody>
      </p:sp>
      <p:sp>
        <p:nvSpPr>
          <p:cNvPr id="17" name="Text 13"/>
          <p:cNvSpPr txBox="1"/>
          <p:nvPr/>
        </p:nvSpPr>
        <p:spPr>
          <a:xfrm>
            <a:off x="4617720" y="3749040"/>
            <a:ext cx="2880360" cy="1188720"/>
          </a:xfrm>
          <a:prstGeom prst="rect">
            <a:avLst/>
          </a:prstGeom>
          <a:noFill/>
          <a:ln/>
        </p:spPr>
        <p:txBody>
          <a:bodyPr wrap="square" lIns="0" tIns="0" rIns="0" bIns="0" rtlCol="0" anchor="t"/>
          <a:lstStyle/>
          <a:p>
            <a:pPr indent="0" marL="0">
              <a:buNone/>
            </a:pPr>
            <a:r>
              <a:rPr lang="en-US" sz="1500" dirty="0">
                <a:solidFill>
                  <a:srgbClr val="5E6E73"/>
                </a:solidFill>
                <a:latin typeface="Calibri" pitchFamily="34" charset="0"/>
                <a:ea typeface="Calibri" pitchFamily="34" charset="-122"/>
                <a:cs typeface="Calibri" pitchFamily="34" charset="-120"/>
              </a:rPr>
              <a:t>Phone triage and outside labs, as Kochi did; their drugs are prepared before opening.</a:t>
            </a:r>
            <a:endParaRPr lang="en-US" sz="1500" dirty="0"/>
          </a:p>
        </p:txBody>
      </p:sp>
      <p:sp>
        <p:nvSpPr>
          <p:cNvPr id="18" name="res34"/>
          <p:cNvSpPr/>
          <p:nvPr/>
        </p:nvSpPr>
        <p:spPr>
          <a:xfrm>
            <a:off x="4617720" y="5029200"/>
            <a:ext cx="2880360" cy="640080"/>
          </a:xfrm>
          <a:prstGeom prst="roundRect">
            <a:avLst>
              <a:gd name="adj" fmla="val 11429"/>
            </a:avLst>
          </a:prstGeom>
          <a:solidFill>
            <a:srgbClr val="FFFFFF"/>
          </a:solidFill>
          <a:ln/>
        </p:spPr>
      </p:sp>
      <p:sp>
        <p:nvSpPr>
          <p:cNvPr id="19" name="Text 15"/>
          <p:cNvSpPr txBox="1"/>
          <p:nvPr/>
        </p:nvSpPr>
        <p:spPr>
          <a:xfrm>
            <a:off x="4754880" y="5029200"/>
            <a:ext cx="2651760" cy="640080"/>
          </a:xfrm>
          <a:prstGeom prst="rect">
            <a:avLst/>
          </a:prstGeom>
          <a:noFill/>
          <a:ln/>
        </p:spPr>
        <p:txBody>
          <a:bodyPr wrap="square" lIns="0" tIns="0" rIns="0" bIns="0" rtlCol="0" anchor="ctr"/>
          <a:lstStyle/>
          <a:p>
            <a:pPr indent="0" marL="0">
              <a:buNone/>
            </a:pPr>
            <a:r>
              <a:rPr lang="en-US" sz="1500" b="1" dirty="0">
                <a:solidFill>
                  <a:srgbClr val="0F766E"/>
                </a:solidFill>
                <a:latin typeface="Calibri" pitchFamily="34" charset="0"/>
                <a:ea typeface="Calibri" pitchFamily="34" charset="-122"/>
                <a:cs typeface="Calibri" pitchFamily="34" charset="-120"/>
              </a:rPr>
              <a:t>Overtime 37 → 10 min</a:t>
            </a:r>
            <a:pPr indent="0" marL="0">
              <a:buNone/>
            </a:pPr>
            <a:r>
              <a:rPr lang="en-US" sz="1100" dirty="0">
                <a:solidFill>
                  <a:srgbClr val="5E6E73"/>
                </a:solidFill>
                <a:latin typeface="Calibri" pitchFamily="34" charset="0"/>
                <a:ea typeface="Calibri" pitchFamily="34" charset="-122"/>
                <a:cs typeface="Calibri" pitchFamily="34" charset="-120"/>
              </a:rPr>
              <a:t>   E3, E5</a:t>
            </a:r>
            <a:endParaRPr lang="en-US" sz="1500" dirty="0"/>
          </a:p>
        </p:txBody>
      </p:sp>
      <p:sp>
        <p:nvSpPr>
          <p:cNvPr id="20" name="card35"/>
          <p:cNvSpPr/>
          <p:nvPr/>
        </p:nvSpPr>
        <p:spPr>
          <a:xfrm>
            <a:off x="8046720" y="1783080"/>
            <a:ext cx="3520440" cy="4160520"/>
          </a:xfrm>
          <a:prstGeom prst="roundRect">
            <a:avLst>
              <a:gd name="adj" fmla="val 3117"/>
            </a:avLst>
          </a:prstGeom>
          <a:solidFill>
            <a:srgbClr val="EEF3F1"/>
          </a:solidFill>
          <a:ln/>
        </p:spPr>
      </p:sp>
      <p:sp>
        <p:nvSpPr>
          <p:cNvPr id="21" name="iconbg36"/>
          <p:cNvSpPr/>
          <p:nvPr/>
        </p:nvSpPr>
        <p:spPr>
          <a:xfrm>
            <a:off x="8366760" y="2103120"/>
            <a:ext cx="731520" cy="731520"/>
          </a:xfrm>
          <a:prstGeom prst="ellipse">
            <a:avLst/>
          </a:prstGeom>
          <a:solidFill>
            <a:schemeClr val="accent1"/>
          </a:solidFill>
          <a:ln/>
        </p:spPr>
      </p:sp>
      <p:pic>
        <p:nvPicPr>
          <p:cNvPr id="22" name="icon36" descr="preencoded.png">    </p:cNvPr>
          <p:cNvPicPr>
            <a:picLocks noChangeAspect="1"/>
          </p:cNvPicPr>
          <p:nvPr/>
        </p:nvPicPr>
        <p:blipFill>
          <a:blip r:embed="rId3"/>
          <a:stretch>
            <a:fillRect/>
          </a:stretch>
        </p:blipFill>
        <p:spPr>
          <a:xfrm>
            <a:off x="8527694" y="2264054"/>
            <a:ext cx="409651" cy="409651"/>
          </a:xfrm>
          <a:prstGeom prst="rect">
            <a:avLst/>
          </a:prstGeom>
        </p:spPr>
      </p:pic>
      <p:sp>
        <p:nvSpPr>
          <p:cNvPr id="23" name="Text 18"/>
          <p:cNvSpPr txBox="1"/>
          <p:nvPr/>
        </p:nvSpPr>
        <p:spPr>
          <a:xfrm>
            <a:off x="10881360" y="2057400"/>
            <a:ext cx="411480" cy="548640"/>
          </a:xfrm>
          <a:prstGeom prst="rect">
            <a:avLst/>
          </a:prstGeom>
          <a:noFill/>
          <a:ln/>
        </p:spPr>
        <p:txBody>
          <a:bodyPr wrap="square" lIns="0" tIns="0" rIns="0" bIns="0" rtlCol="0" anchor="t"/>
          <a:lstStyle/>
          <a:p>
            <a:pPr algn="r" indent="0" marL="0">
              <a:buNone/>
            </a:pPr>
            <a:r>
              <a:rPr lang="en-US" sz="3000" b="1" dirty="0">
                <a:solidFill>
                  <a:srgbClr val="C6D3CF"/>
                </a:solidFill>
                <a:latin typeface="Cambria" pitchFamily="34" charset="0"/>
                <a:ea typeface="Cambria" pitchFamily="34" charset="-122"/>
                <a:cs typeface="Cambria" pitchFamily="34" charset="-120"/>
              </a:rPr>
              <a:t>3</a:t>
            </a:r>
            <a:endParaRPr lang="en-US" sz="3000" dirty="0"/>
          </a:p>
        </p:txBody>
      </p:sp>
      <p:sp>
        <p:nvSpPr>
          <p:cNvPr id="24" name="Text 19"/>
          <p:cNvSpPr txBox="1"/>
          <p:nvPr/>
        </p:nvSpPr>
        <p:spPr>
          <a:xfrm>
            <a:off x="8366760" y="3017520"/>
            <a:ext cx="2880360" cy="731520"/>
          </a:xfrm>
          <a:prstGeom prst="rect">
            <a:avLst/>
          </a:prstGeom>
          <a:noFill/>
          <a:ln/>
        </p:spPr>
        <p:txBody>
          <a:bodyPr wrap="square" lIns="0" tIns="0" rIns="0" bIns="0" rtlCol="0" anchor="t"/>
          <a:lstStyle/>
          <a:p>
            <a:pPr indent="0" marL="0">
              <a:buNone/>
            </a:pPr>
            <a:r>
              <a:rPr lang="en-US" sz="2100" b="1" dirty="0">
                <a:solidFill>
                  <a:srgbClr val="1C2A30"/>
                </a:solidFill>
                <a:latin typeface="Cambria" pitchFamily="34" charset="0"/>
                <a:ea typeface="Cambria" pitchFamily="34" charset="-122"/>
                <a:cs typeface="Cambria" pitchFamily="34" charset="-120"/>
              </a:rPr>
              <a:t>Cap arrivals per 15 min</a:t>
            </a:r>
            <a:endParaRPr lang="en-US" sz="2100" dirty="0"/>
          </a:p>
        </p:txBody>
      </p:sp>
      <p:sp>
        <p:nvSpPr>
          <p:cNvPr id="25" name="Text 20"/>
          <p:cNvSpPr txBox="1"/>
          <p:nvPr/>
        </p:nvSpPr>
        <p:spPr>
          <a:xfrm>
            <a:off x="8366760" y="3749040"/>
            <a:ext cx="2880360" cy="1188720"/>
          </a:xfrm>
          <a:prstGeom prst="rect">
            <a:avLst/>
          </a:prstGeom>
          <a:noFill/>
          <a:ln/>
        </p:spPr>
        <p:txBody>
          <a:bodyPr wrap="square" lIns="0" tIns="0" rIns="0" bIns="0" rtlCol="0" anchor="t"/>
          <a:lstStyle/>
          <a:p>
            <a:pPr indent="0" marL="0">
              <a:buNone/>
            </a:pPr>
            <a:r>
              <a:rPr lang="en-US" sz="1500" dirty="0">
                <a:solidFill>
                  <a:srgbClr val="5E6E73"/>
                </a:solidFill>
                <a:latin typeface="Calibri" pitchFamily="34" charset="0"/>
                <a:ea typeface="Calibri" pitchFamily="34" charset="-122"/>
                <a:cs typeface="Calibri" pitchFamily="34" charset="-120"/>
              </a:rPr>
              <a:t>Never send more patients than registration (3) and the doctors (2) can see in 15 minutes.</a:t>
            </a:r>
            <a:endParaRPr lang="en-US" sz="1500" dirty="0"/>
          </a:p>
        </p:txBody>
      </p:sp>
      <p:sp>
        <p:nvSpPr>
          <p:cNvPr id="26" name="res37"/>
          <p:cNvSpPr/>
          <p:nvPr/>
        </p:nvSpPr>
        <p:spPr>
          <a:xfrm>
            <a:off x="8366760" y="5029200"/>
            <a:ext cx="2880360" cy="640080"/>
          </a:xfrm>
          <a:prstGeom prst="roundRect">
            <a:avLst>
              <a:gd name="adj" fmla="val 11429"/>
            </a:avLst>
          </a:prstGeom>
          <a:solidFill>
            <a:srgbClr val="FFFFFF"/>
          </a:solidFill>
          <a:ln/>
        </p:spPr>
      </p:sp>
      <p:sp>
        <p:nvSpPr>
          <p:cNvPr id="27" name="Text 22"/>
          <p:cNvSpPr txBox="1"/>
          <p:nvPr/>
        </p:nvSpPr>
        <p:spPr>
          <a:xfrm>
            <a:off x="8503920" y="5029200"/>
            <a:ext cx="2651760" cy="640080"/>
          </a:xfrm>
          <a:prstGeom prst="rect">
            <a:avLst/>
          </a:prstGeom>
          <a:noFill/>
          <a:ln/>
        </p:spPr>
        <p:txBody>
          <a:bodyPr wrap="square" lIns="0" tIns="0" rIns="0" bIns="0" rtlCol="0" anchor="ctr"/>
          <a:lstStyle/>
          <a:p>
            <a:pPr indent="0" marL="0">
              <a:buNone/>
            </a:pPr>
            <a:r>
              <a:rPr lang="en-US" sz="1500" b="1" dirty="0">
                <a:solidFill>
                  <a:srgbClr val="0F766E"/>
                </a:solidFill>
                <a:latin typeface="Calibri" pitchFamily="34" charset="0"/>
                <a:ea typeface="Calibri" pitchFamily="34" charset="-122"/>
                <a:cs typeface="Calibri" pitchFamily="34" charset="-120"/>
              </a:rPr>
              <a:t>Front-desk queues halved</a:t>
            </a:r>
            <a:pPr indent="0" marL="0">
              <a:buNone/>
            </a:pPr>
            <a:r>
              <a:rPr lang="en-US" sz="1100" dirty="0">
                <a:solidFill>
                  <a:srgbClr val="5E6E73"/>
                </a:solidFill>
                <a:latin typeface="Calibri" pitchFamily="34" charset="0"/>
                <a:ea typeface="Calibri" pitchFamily="34" charset="-122"/>
                <a:cs typeface="Calibri" pitchFamily="34" charset="-120"/>
              </a:rPr>
              <a:t>   E7</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rgbClr val="0F766E"/>
                </a:solidFill>
              </a:rPr>
              <a:t>DATA</a:t>
            </a: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3400" b="1" dirty="0">
                <a:solidFill>
                  <a:srgbClr val="1C2A30"/>
                </a:solidFill>
                <a:latin typeface="Cambria" pitchFamily="34" charset="0"/>
                <a:ea typeface="Cambria" pitchFamily="34" charset="-122"/>
                <a:cs typeface="Cambria" pitchFamily="34" charset="-120"/>
              </a:rPr>
              <a:t>No public data exists, so we built a calibrated dataset</a:t>
            </a:r>
            <a:endParaRPr lang="en-US" sz="3400" dirty="0"/>
          </a:p>
        </p:txBody>
      </p:sp>
      <p:sp>
        <p:nvSpPr>
          <p:cNvPr id="4" name="card38"/>
          <p:cNvSpPr/>
          <p:nvPr/>
        </p:nvSpPr>
        <p:spPr>
          <a:xfrm>
            <a:off x="548640" y="1783080"/>
            <a:ext cx="3017520" cy="932688"/>
          </a:xfrm>
          <a:prstGeom prst="roundRect">
            <a:avLst>
              <a:gd name="adj" fmla="val 11765"/>
            </a:avLst>
          </a:prstGeom>
          <a:solidFill>
            <a:srgbClr val="EEF3F1"/>
          </a:solidFill>
          <a:ln/>
        </p:spPr>
      </p:sp>
      <p:sp>
        <p:nvSpPr>
          <p:cNvPr id="5" name="Text 3"/>
          <p:cNvSpPr txBox="1"/>
          <p:nvPr/>
        </p:nvSpPr>
        <p:spPr>
          <a:xfrm>
            <a:off x="777240" y="1874520"/>
            <a:ext cx="2651760" cy="457200"/>
          </a:xfrm>
          <a:prstGeom prst="rect">
            <a:avLst/>
          </a:prstGeom>
          <a:noFill/>
          <a:ln/>
        </p:spPr>
        <p:txBody>
          <a:bodyPr wrap="square" lIns="0" tIns="0" rIns="0" bIns="0" rtlCol="0" anchor="t"/>
          <a:lstStyle/>
          <a:p>
            <a:pPr indent="0" marL="0">
              <a:buNone/>
            </a:pPr>
            <a:r>
              <a:rPr lang="en-US" sz="2800" b="1" dirty="0">
                <a:solidFill>
                  <a:srgbClr val="0F766E"/>
                </a:solidFill>
                <a:latin typeface="Cambria" pitchFamily="34" charset="0"/>
                <a:ea typeface="Cambria" pitchFamily="34" charset="-122"/>
                <a:cs typeface="Cambria" pitchFamily="34" charset="-120"/>
              </a:rPr>
              <a:t>5,007</a:t>
            </a:r>
            <a:endParaRPr lang="en-US" sz="2800" dirty="0"/>
          </a:p>
        </p:txBody>
      </p:sp>
      <p:sp>
        <p:nvSpPr>
          <p:cNvPr id="6" name="Text 4"/>
          <p:cNvSpPr txBox="1"/>
          <p:nvPr/>
        </p:nvSpPr>
        <p:spPr>
          <a:xfrm>
            <a:off x="777240" y="2331720"/>
            <a:ext cx="2651760" cy="32004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patients</a:t>
            </a:r>
            <a:endParaRPr lang="en-US" sz="1300" dirty="0"/>
          </a:p>
        </p:txBody>
      </p:sp>
      <p:sp>
        <p:nvSpPr>
          <p:cNvPr id="7" name="card39"/>
          <p:cNvSpPr/>
          <p:nvPr/>
        </p:nvSpPr>
        <p:spPr>
          <a:xfrm>
            <a:off x="548640" y="2852928"/>
            <a:ext cx="3017520" cy="932688"/>
          </a:xfrm>
          <a:prstGeom prst="roundRect">
            <a:avLst>
              <a:gd name="adj" fmla="val 11765"/>
            </a:avLst>
          </a:prstGeom>
          <a:solidFill>
            <a:srgbClr val="EEF3F1"/>
          </a:solidFill>
          <a:ln/>
        </p:spPr>
      </p:sp>
      <p:sp>
        <p:nvSpPr>
          <p:cNvPr id="8" name="Text 6"/>
          <p:cNvSpPr txBox="1"/>
          <p:nvPr/>
        </p:nvSpPr>
        <p:spPr>
          <a:xfrm>
            <a:off x="777240" y="2944368"/>
            <a:ext cx="2651760" cy="457200"/>
          </a:xfrm>
          <a:prstGeom prst="rect">
            <a:avLst/>
          </a:prstGeom>
          <a:noFill/>
          <a:ln/>
        </p:spPr>
        <p:txBody>
          <a:bodyPr wrap="square" lIns="0" tIns="0" rIns="0" bIns="0" rtlCol="0" anchor="t"/>
          <a:lstStyle/>
          <a:p>
            <a:pPr indent="0" marL="0">
              <a:buNone/>
            </a:pPr>
            <a:r>
              <a:rPr lang="en-US" sz="2800" b="1" dirty="0">
                <a:solidFill>
                  <a:srgbClr val="0F766E"/>
                </a:solidFill>
                <a:latin typeface="Cambria" pitchFamily="34" charset="0"/>
                <a:ea typeface="Cambria" pitchFamily="34" charset="-122"/>
                <a:cs typeface="Cambria" pitchFamily="34" charset="-120"/>
              </a:rPr>
              <a:t>100</a:t>
            </a:r>
            <a:endParaRPr lang="en-US" sz="2800" dirty="0"/>
          </a:p>
        </p:txBody>
      </p:sp>
      <p:sp>
        <p:nvSpPr>
          <p:cNvPr id="9" name="Text 7"/>
          <p:cNvSpPr txBox="1"/>
          <p:nvPr/>
        </p:nvSpPr>
        <p:spPr>
          <a:xfrm>
            <a:off x="777240" y="3401568"/>
            <a:ext cx="2651760" cy="32004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simulated days</a:t>
            </a:r>
            <a:endParaRPr lang="en-US" sz="1300" dirty="0"/>
          </a:p>
        </p:txBody>
      </p:sp>
      <p:sp>
        <p:nvSpPr>
          <p:cNvPr id="10" name="card40"/>
          <p:cNvSpPr/>
          <p:nvPr/>
        </p:nvSpPr>
        <p:spPr>
          <a:xfrm>
            <a:off x="548640" y="3922776"/>
            <a:ext cx="3017520" cy="932688"/>
          </a:xfrm>
          <a:prstGeom prst="roundRect">
            <a:avLst>
              <a:gd name="adj" fmla="val 11765"/>
            </a:avLst>
          </a:prstGeom>
          <a:solidFill>
            <a:srgbClr val="EEF3F1"/>
          </a:solidFill>
          <a:ln/>
        </p:spPr>
      </p:sp>
      <p:sp>
        <p:nvSpPr>
          <p:cNvPr id="11" name="Text 9"/>
          <p:cNvSpPr txBox="1"/>
          <p:nvPr/>
        </p:nvSpPr>
        <p:spPr>
          <a:xfrm>
            <a:off x="777240" y="4014216"/>
            <a:ext cx="2651760" cy="457200"/>
          </a:xfrm>
          <a:prstGeom prst="rect">
            <a:avLst/>
          </a:prstGeom>
          <a:noFill/>
          <a:ln/>
        </p:spPr>
        <p:txBody>
          <a:bodyPr wrap="square" lIns="0" tIns="0" rIns="0" bIns="0" rtlCol="0" anchor="t"/>
          <a:lstStyle/>
          <a:p>
            <a:pPr indent="0" marL="0">
              <a:buNone/>
            </a:pPr>
            <a:r>
              <a:rPr lang="en-US" sz="2800" b="1" dirty="0">
                <a:solidFill>
                  <a:srgbClr val="0F766E"/>
                </a:solidFill>
                <a:latin typeface="Cambria" pitchFamily="34" charset="0"/>
                <a:ea typeface="Cambria" pitchFamily="34" charset="-122"/>
                <a:cs typeface="Cambria" pitchFamily="34" charset="-120"/>
              </a:rPr>
              <a:t>22</a:t>
            </a:r>
            <a:endParaRPr lang="en-US" sz="2800" dirty="0"/>
          </a:p>
        </p:txBody>
      </p:sp>
      <p:sp>
        <p:nvSpPr>
          <p:cNvPr id="12" name="Text 10"/>
          <p:cNvSpPr txBox="1"/>
          <p:nvPr/>
        </p:nvSpPr>
        <p:spPr>
          <a:xfrm>
            <a:off x="777240" y="4471416"/>
            <a:ext cx="2651760" cy="32004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inputs, each with a source</a:t>
            </a:r>
            <a:endParaRPr lang="en-US" sz="1300" dirty="0"/>
          </a:p>
        </p:txBody>
      </p:sp>
      <p:sp>
        <p:nvSpPr>
          <p:cNvPr id="13" name="card41"/>
          <p:cNvSpPr/>
          <p:nvPr/>
        </p:nvSpPr>
        <p:spPr>
          <a:xfrm>
            <a:off x="548640" y="4992624"/>
            <a:ext cx="3017520" cy="932688"/>
          </a:xfrm>
          <a:prstGeom prst="roundRect">
            <a:avLst>
              <a:gd name="adj" fmla="val 11765"/>
            </a:avLst>
          </a:prstGeom>
          <a:solidFill>
            <a:srgbClr val="EEF3F1"/>
          </a:solidFill>
          <a:ln/>
        </p:spPr>
      </p:sp>
      <p:sp>
        <p:nvSpPr>
          <p:cNvPr id="14" name="Text 12"/>
          <p:cNvSpPr txBox="1"/>
          <p:nvPr/>
        </p:nvSpPr>
        <p:spPr>
          <a:xfrm>
            <a:off x="777240" y="5084064"/>
            <a:ext cx="2651760" cy="457200"/>
          </a:xfrm>
          <a:prstGeom prst="rect">
            <a:avLst/>
          </a:prstGeom>
          <a:noFill/>
          <a:ln/>
        </p:spPr>
        <p:txBody>
          <a:bodyPr wrap="square" lIns="0" tIns="0" rIns="0" bIns="0" rtlCol="0" anchor="t"/>
          <a:lstStyle/>
          <a:p>
            <a:pPr indent="0" marL="0">
              <a:buNone/>
            </a:pPr>
            <a:r>
              <a:rPr lang="en-US" sz="2800" b="1" dirty="0">
                <a:solidFill>
                  <a:srgbClr val="0F766E"/>
                </a:solidFill>
                <a:latin typeface="Cambria" pitchFamily="34" charset="0"/>
                <a:ea typeface="Cambria" pitchFamily="34" charset="-122"/>
                <a:cs typeface="Cambria" pitchFamily="34" charset="-120"/>
              </a:rPr>
              <a:t>23 / 23</a:t>
            </a:r>
            <a:endParaRPr lang="en-US" sz="2800" dirty="0"/>
          </a:p>
        </p:txBody>
      </p:sp>
      <p:sp>
        <p:nvSpPr>
          <p:cNvPr id="15" name="Text 13"/>
          <p:cNvSpPr txBox="1"/>
          <p:nvPr/>
        </p:nvSpPr>
        <p:spPr>
          <a:xfrm>
            <a:off x="777240" y="5541264"/>
            <a:ext cx="2651760" cy="32004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data checks passed</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886200" y="1783080"/>
          <a:ext cx="7726680" cy="914400"/>
        </p:xfrm>
        <a:graphic>
          <a:graphicData uri="http://schemas.openxmlformats.org/drawingml/2006/table">
            <a:tbl>
              <a:tblPr/>
              <a:tblGrid>
                <a:gridCol w="2331720"/>
                <a:gridCol w="3154680"/>
                <a:gridCol w="224028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Input</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12302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Value used</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12302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Source</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12302D"/>
                    </a:solidFill>
                  </a:tcPr>
                </a:tc>
              </a:tr>
              <a:tr h="384048">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Registration · doctor review</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Tri(5, 10, 15) · Tri(10, 15, 20) min</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Presentation 3; TMH visit</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r>
              <a:tr h="384048">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Blood draw + lab result</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Tri(5, 7.5, 10) + Tri(60, 90, 120) min</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Presentation 3; TMH 4 h tested</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Billing · drug preparation</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Tri(30, 45, 60) · Tri(15, 22.5, 30) min</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Presentation 3; EJHP 2017</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r>
              <a:tr h="384048">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Line and pre-meds (1 nurse)</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Tri(20, 30, 40) min</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Hesaraki et al. 2019</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Infusion length mix</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30 min 45% · 2 h 18% · 3 h 18% · 4 h 11%</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Clinic day, n = 55; Liang 2015</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r>
              <a:tr h="384048">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Actual vs planned infusion</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short +17%, long −6%</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Hacettepe study, Bath, Mayo</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Unfit at review · no-show</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8% · 5%</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NCT00883181 · assumed</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r>
              <a:tr h="384048">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Arrival vs told time</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Tri(−30, 0, 30) min</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c>
                  <a:txBody>
                    <a:bodyPr/>
                    <a:lstStyle/>
                    <a:p>
                      <a:pPr indent="0" marL="0">
                        <a:buNone/>
                      </a:pPr>
                      <a:r>
                        <a:rPr lang="en-US" sz="1250" dirty="0">
                          <a:solidFill>
                            <a:srgbClr val="1C2A30"/>
                          </a:solidFill>
                          <a:latin typeface="Calibri" pitchFamily="34" charset="0"/>
                          <a:ea typeface="Calibri" pitchFamily="34" charset="-122"/>
                          <a:cs typeface="Calibri" pitchFamily="34" charset="-120"/>
                        </a:rPr>
                        <a:t>Presentation 3 placeholder</a:t>
                      </a:r>
                      <a:endParaRPr lang="en-US" sz="1250" dirty="0">
                        <a:latin typeface="Calibri" charset="0"/>
                        <a:ea typeface="Calibri" charset="0"/>
                        <a:cs typeface="Calibri" charset="0"/>
                      </a:endParaRPr>
                    </a:p>
                  </a:txBody>
                  <a:tcPr marL="91440" marR="91440"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r>
            </a:tbl>
          </a:graphicData>
        </a:graphic>
      </p:graphicFrame>
      <p:sp>
        <p:nvSpPr>
          <p:cNvPr id="17" name="Text 14"/>
          <p:cNvSpPr txBox="1"/>
          <p:nvPr/>
        </p:nvSpPr>
        <p:spPr>
          <a:xfrm>
            <a:off x="3886200" y="5577840"/>
            <a:ext cx="7726680" cy="548640"/>
          </a:xfrm>
          <a:prstGeom prst="rect">
            <a:avLst/>
          </a:prstGeom>
          <a:noFill/>
          <a:ln/>
        </p:spPr>
        <p:txBody>
          <a:bodyPr wrap="square" lIns="0" tIns="0" rIns="0" bIns="0" rtlCol="0" anchor="t"/>
          <a:lstStyle/>
          <a:p>
            <a:pPr indent="0" marL="0">
              <a:buNone/>
            </a:pPr>
            <a:r>
              <a:rPr lang="en-US" sz="1250" dirty="0">
                <a:solidFill>
                  <a:srgbClr val="5E6E73"/>
                </a:solidFill>
                <a:latin typeface="Calibri" pitchFamily="34" charset="0"/>
                <a:ea typeface="Calibri" pitchFamily="34" charset="-122"/>
                <a:cs typeface="Calibri" pitchFamily="34" charset="-120"/>
              </a:rPr>
              <a:t>Kaggle and the literature hold no per-patient infusion-unit timestamps. Every stage is drawn per patient from a fixed seed, so every rule is tested on the same 100 days. Our buffers reproduce Presentation 3 exactly: 89.9 and 206.2 min.</a:t>
            </a:r>
            <a:endParaRPr lang="en-US" sz="12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rgbClr val="0F766E"/>
                </a:solidFill>
              </a:rPr>
              <a:t>SIMULATION</a:t>
            </a: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3400" b="1" dirty="0">
                <a:solidFill>
                  <a:srgbClr val="1C2A30"/>
                </a:solidFill>
                <a:latin typeface="Cambria" pitchFamily="34" charset="0"/>
                <a:ea typeface="Cambria" pitchFamily="34" charset="-122"/>
                <a:cs typeface="Cambria" pitchFamily="34" charset="-120"/>
              </a:rPr>
              <a:t>A discrete-event simulation of the 10-step flow</a:t>
            </a:r>
            <a:endParaRPr lang="en-US" sz="3400" dirty="0"/>
          </a:p>
        </p:txBody>
      </p:sp>
      <p:sp>
        <p:nvSpPr>
          <p:cNvPr id="4" name="sb42"/>
          <p:cNvSpPr/>
          <p:nvPr/>
        </p:nvSpPr>
        <p:spPr>
          <a:xfrm>
            <a:off x="548640" y="1783080"/>
            <a:ext cx="2240280" cy="1005840"/>
          </a:xfrm>
          <a:prstGeom prst="roundRect">
            <a:avLst>
              <a:gd name="adj" fmla="val 9091"/>
            </a:avLst>
          </a:prstGeom>
          <a:solidFill>
            <a:srgbClr val="EEF3F1"/>
          </a:solidFill>
          <a:ln/>
        </p:spPr>
      </p:sp>
      <p:sp>
        <p:nvSpPr>
          <p:cNvPr id="5" name="Text 3"/>
          <p:cNvSpPr txBox="1"/>
          <p:nvPr/>
        </p:nvSpPr>
        <p:spPr>
          <a:xfrm>
            <a:off x="713232" y="1947672"/>
            <a:ext cx="1920240" cy="365760"/>
          </a:xfrm>
          <a:prstGeom prst="rect">
            <a:avLst/>
          </a:prstGeom>
          <a:noFill/>
          <a:ln/>
        </p:spPr>
        <p:txBody>
          <a:bodyPr wrap="square" lIns="0" tIns="0" rIns="0" bIns="0" rtlCol="0" anchor="t"/>
          <a:lstStyle/>
          <a:p>
            <a:pPr indent="0" marL="0">
              <a:buNone/>
            </a:pPr>
            <a:r>
              <a:rPr lang="en-US" sz="1500" b="1" dirty="0">
                <a:solidFill>
                  <a:srgbClr val="1C2A30"/>
                </a:solidFill>
                <a:latin typeface="Calibri" pitchFamily="34" charset="0"/>
                <a:ea typeface="Calibri" pitchFamily="34" charset="-122"/>
                <a:cs typeface="Calibri" pitchFamily="34" charset="-120"/>
              </a:rPr>
              <a:t>Registration</a:t>
            </a:r>
            <a:endParaRPr lang="en-US" sz="1500" dirty="0"/>
          </a:p>
        </p:txBody>
      </p:sp>
      <p:sp>
        <p:nvSpPr>
          <p:cNvPr id="6" name="Text 4"/>
          <p:cNvSpPr txBox="1"/>
          <p:nvPr/>
        </p:nvSpPr>
        <p:spPr>
          <a:xfrm>
            <a:off x="713232" y="2331720"/>
            <a:ext cx="1920240" cy="320040"/>
          </a:xfrm>
          <a:prstGeom prst="rect">
            <a:avLst/>
          </a:prstGeom>
          <a:noFill/>
          <a:ln/>
        </p:spPr>
        <p:txBody>
          <a:bodyPr wrap="square" lIns="0" tIns="0" rIns="0" bIns="0" rtlCol="0" anchor="t"/>
          <a:lstStyle/>
          <a:p>
            <a:pPr indent="0" marL="0">
              <a:buNone/>
            </a:pPr>
            <a:r>
              <a:rPr lang="en-US" sz="1250" dirty="0">
                <a:solidFill>
                  <a:srgbClr val="5E6E73"/>
                </a:solidFill>
                <a:latin typeface="Calibri" pitchFamily="34" charset="0"/>
                <a:ea typeface="Calibri" pitchFamily="34" charset="-122"/>
                <a:cs typeface="Calibri" pitchFamily="34" charset="-120"/>
              </a:rPr>
              <a:t>2 desks</a:t>
            </a:r>
            <a:endParaRPr lang="en-US" sz="1250" dirty="0"/>
          </a:p>
        </p:txBody>
      </p:sp>
      <p:sp>
        <p:nvSpPr>
          <p:cNvPr id="7" name="ar43"/>
          <p:cNvSpPr/>
          <p:nvPr/>
        </p:nvSpPr>
        <p:spPr>
          <a:xfrm>
            <a:off x="2834640" y="2167128"/>
            <a:ext cx="182880" cy="237744"/>
          </a:xfrm>
          <a:prstGeom prst="rightArrow">
            <a:avLst/>
          </a:prstGeom>
          <a:solidFill>
            <a:srgbClr val="B8C5C1"/>
          </a:solidFill>
          <a:ln/>
        </p:spPr>
      </p:sp>
      <p:sp>
        <p:nvSpPr>
          <p:cNvPr id="8" name="sb44"/>
          <p:cNvSpPr/>
          <p:nvPr/>
        </p:nvSpPr>
        <p:spPr>
          <a:xfrm>
            <a:off x="3063240" y="1783080"/>
            <a:ext cx="2240280" cy="1005840"/>
          </a:xfrm>
          <a:prstGeom prst="roundRect">
            <a:avLst>
              <a:gd name="adj" fmla="val 9091"/>
            </a:avLst>
          </a:prstGeom>
          <a:solidFill>
            <a:srgbClr val="FDEBE2"/>
          </a:solidFill>
          <a:ln/>
        </p:spPr>
      </p:sp>
      <p:sp>
        <p:nvSpPr>
          <p:cNvPr id="9" name="Text 7"/>
          <p:cNvSpPr txBox="1"/>
          <p:nvPr/>
        </p:nvSpPr>
        <p:spPr>
          <a:xfrm>
            <a:off x="3227832" y="1947672"/>
            <a:ext cx="1920240" cy="365760"/>
          </a:xfrm>
          <a:prstGeom prst="rect">
            <a:avLst/>
          </a:prstGeom>
          <a:noFill/>
          <a:ln/>
        </p:spPr>
        <p:txBody>
          <a:bodyPr wrap="square" lIns="0" tIns="0" rIns="0" bIns="0" rtlCol="0" anchor="t"/>
          <a:lstStyle/>
          <a:p>
            <a:pPr indent="0" marL="0">
              <a:buNone/>
            </a:pPr>
            <a:r>
              <a:rPr lang="en-US" sz="1500" b="1" dirty="0">
                <a:solidFill>
                  <a:srgbClr val="1C2A30"/>
                </a:solidFill>
                <a:latin typeface="Calibri" pitchFamily="34" charset="0"/>
                <a:ea typeface="Calibri" pitchFamily="34" charset="-122"/>
                <a:cs typeface="Calibri" pitchFamily="34" charset="-120"/>
              </a:rPr>
              <a:t>Blood · lab · review</a:t>
            </a:r>
            <a:endParaRPr lang="en-US" sz="1500" dirty="0"/>
          </a:p>
        </p:txBody>
      </p:sp>
      <p:sp>
        <p:nvSpPr>
          <p:cNvPr id="10" name="Text 8"/>
          <p:cNvSpPr txBox="1"/>
          <p:nvPr/>
        </p:nvSpPr>
        <p:spPr>
          <a:xfrm>
            <a:off x="3227832" y="2331720"/>
            <a:ext cx="1920240" cy="320040"/>
          </a:xfrm>
          <a:prstGeom prst="rect">
            <a:avLst/>
          </a:prstGeom>
          <a:noFill/>
          <a:ln/>
        </p:spPr>
        <p:txBody>
          <a:bodyPr wrap="square" lIns="0" tIns="0" rIns="0" bIns="0" rtlCol="0" anchor="t"/>
          <a:lstStyle/>
          <a:p>
            <a:pPr indent="0" marL="0">
              <a:buNone/>
            </a:pPr>
            <a:r>
              <a:rPr lang="en-US" sz="1250" dirty="0">
                <a:solidFill>
                  <a:srgbClr val="5E6E73"/>
                </a:solidFill>
                <a:latin typeface="Calibri" pitchFamily="34" charset="0"/>
                <a:ea typeface="Calibri" pitchFamily="34" charset="-122"/>
                <a:cs typeface="Calibri" pitchFamily="34" charset="-120"/>
              </a:rPr>
              <a:t>same-day only · 2 doctors</a:t>
            </a:r>
            <a:endParaRPr lang="en-US" sz="1250" dirty="0"/>
          </a:p>
        </p:txBody>
      </p:sp>
      <p:sp>
        <p:nvSpPr>
          <p:cNvPr id="11" name="ar45"/>
          <p:cNvSpPr/>
          <p:nvPr/>
        </p:nvSpPr>
        <p:spPr>
          <a:xfrm>
            <a:off x="5349240" y="2167128"/>
            <a:ext cx="182880" cy="237744"/>
          </a:xfrm>
          <a:prstGeom prst="rightArrow">
            <a:avLst/>
          </a:prstGeom>
          <a:solidFill>
            <a:srgbClr val="B8C5C1"/>
          </a:solidFill>
          <a:ln/>
        </p:spPr>
      </p:sp>
      <p:sp>
        <p:nvSpPr>
          <p:cNvPr id="12" name="sb46"/>
          <p:cNvSpPr/>
          <p:nvPr/>
        </p:nvSpPr>
        <p:spPr>
          <a:xfrm>
            <a:off x="5577840" y="1783080"/>
            <a:ext cx="2240280" cy="1005840"/>
          </a:xfrm>
          <a:prstGeom prst="roundRect">
            <a:avLst>
              <a:gd name="adj" fmla="val 9091"/>
            </a:avLst>
          </a:prstGeom>
          <a:solidFill>
            <a:srgbClr val="EEF3F1"/>
          </a:solidFill>
          <a:ln/>
        </p:spPr>
      </p:sp>
      <p:sp>
        <p:nvSpPr>
          <p:cNvPr id="13" name="Text 11"/>
          <p:cNvSpPr txBox="1"/>
          <p:nvPr/>
        </p:nvSpPr>
        <p:spPr>
          <a:xfrm>
            <a:off x="5742432" y="1947672"/>
            <a:ext cx="1920240" cy="365760"/>
          </a:xfrm>
          <a:prstGeom prst="rect">
            <a:avLst/>
          </a:prstGeom>
          <a:noFill/>
          <a:ln/>
        </p:spPr>
        <p:txBody>
          <a:bodyPr wrap="square" lIns="0" tIns="0" rIns="0" bIns="0" rtlCol="0" anchor="t"/>
          <a:lstStyle/>
          <a:p>
            <a:pPr indent="0" marL="0">
              <a:buNone/>
            </a:pPr>
            <a:r>
              <a:rPr lang="en-US" sz="1500" b="1" dirty="0">
                <a:solidFill>
                  <a:srgbClr val="1C2A30"/>
                </a:solidFill>
                <a:latin typeface="Calibri" pitchFamily="34" charset="0"/>
                <a:ea typeface="Calibri" pitchFamily="34" charset="-122"/>
                <a:cs typeface="Calibri" pitchFamily="34" charset="-120"/>
              </a:rPr>
              <a:t>Billing</a:t>
            </a:r>
            <a:endParaRPr lang="en-US" sz="1500" dirty="0"/>
          </a:p>
        </p:txBody>
      </p:sp>
      <p:sp>
        <p:nvSpPr>
          <p:cNvPr id="14" name="Text 12"/>
          <p:cNvSpPr txBox="1"/>
          <p:nvPr/>
        </p:nvSpPr>
        <p:spPr>
          <a:xfrm>
            <a:off x="5742432" y="2331720"/>
            <a:ext cx="1920240" cy="320040"/>
          </a:xfrm>
          <a:prstGeom prst="rect">
            <a:avLst/>
          </a:prstGeom>
          <a:noFill/>
          <a:ln/>
        </p:spPr>
        <p:txBody>
          <a:bodyPr wrap="square" lIns="0" tIns="0" rIns="0" bIns="0" rtlCol="0" anchor="t"/>
          <a:lstStyle/>
          <a:p>
            <a:pPr indent="0" marL="0">
              <a:buNone/>
            </a:pPr>
            <a:r>
              <a:rPr lang="en-US" sz="1250" dirty="0">
                <a:solidFill>
                  <a:srgbClr val="5E6E73"/>
                </a:solidFill>
                <a:latin typeface="Calibri" pitchFamily="34" charset="0"/>
                <a:ea typeface="Calibri" pitchFamily="34" charset="-122"/>
                <a:cs typeface="Calibri" pitchFamily="34" charset="-120"/>
              </a:rPr>
              <a:t>approval delay</a:t>
            </a:r>
            <a:endParaRPr lang="en-US" sz="1250" dirty="0"/>
          </a:p>
        </p:txBody>
      </p:sp>
      <p:sp>
        <p:nvSpPr>
          <p:cNvPr id="15" name="sb47"/>
          <p:cNvSpPr/>
          <p:nvPr/>
        </p:nvSpPr>
        <p:spPr>
          <a:xfrm>
            <a:off x="548640" y="3108960"/>
            <a:ext cx="2240280" cy="1005840"/>
          </a:xfrm>
          <a:prstGeom prst="roundRect">
            <a:avLst>
              <a:gd name="adj" fmla="val 9091"/>
            </a:avLst>
          </a:prstGeom>
          <a:solidFill>
            <a:srgbClr val="EEF3F1"/>
          </a:solidFill>
          <a:ln/>
        </p:spPr>
      </p:sp>
      <p:sp>
        <p:nvSpPr>
          <p:cNvPr id="16" name="Text 14"/>
          <p:cNvSpPr txBox="1"/>
          <p:nvPr/>
        </p:nvSpPr>
        <p:spPr>
          <a:xfrm>
            <a:off x="713232" y="3273552"/>
            <a:ext cx="1920240" cy="365760"/>
          </a:xfrm>
          <a:prstGeom prst="rect">
            <a:avLst/>
          </a:prstGeom>
          <a:noFill/>
          <a:ln/>
        </p:spPr>
        <p:txBody>
          <a:bodyPr wrap="square" lIns="0" tIns="0" rIns="0" bIns="0" rtlCol="0" anchor="t"/>
          <a:lstStyle/>
          <a:p>
            <a:pPr indent="0" marL="0">
              <a:buNone/>
            </a:pPr>
            <a:r>
              <a:rPr lang="en-US" sz="1500" b="1" dirty="0">
                <a:solidFill>
                  <a:srgbClr val="1C2A30"/>
                </a:solidFill>
                <a:latin typeface="Calibri" pitchFamily="34" charset="0"/>
                <a:ea typeface="Calibri" pitchFamily="34" charset="-122"/>
                <a:cs typeface="Calibri" pitchFamily="34" charset="-120"/>
              </a:rPr>
              <a:t>Pharmacy</a:t>
            </a:r>
            <a:endParaRPr lang="en-US" sz="1500" dirty="0"/>
          </a:p>
        </p:txBody>
      </p:sp>
      <p:sp>
        <p:nvSpPr>
          <p:cNvPr id="17" name="Text 15"/>
          <p:cNvSpPr txBox="1"/>
          <p:nvPr/>
        </p:nvSpPr>
        <p:spPr>
          <a:xfrm>
            <a:off x="713232" y="3657600"/>
            <a:ext cx="1920240" cy="320040"/>
          </a:xfrm>
          <a:prstGeom prst="rect">
            <a:avLst/>
          </a:prstGeom>
          <a:noFill/>
          <a:ln/>
        </p:spPr>
        <p:txBody>
          <a:bodyPr wrap="square" lIns="0" tIns="0" rIns="0" bIns="0" rtlCol="0" anchor="t"/>
          <a:lstStyle/>
          <a:p>
            <a:pPr indent="0" marL="0">
              <a:buNone/>
            </a:pPr>
            <a:r>
              <a:rPr lang="en-US" sz="1250" dirty="0">
                <a:solidFill>
                  <a:srgbClr val="5E6E73"/>
                </a:solidFill>
                <a:latin typeface="Calibri" pitchFamily="34" charset="0"/>
                <a:ea typeface="Calibri" pitchFamily="34" charset="-122"/>
                <a:cs typeface="Calibri" pitchFamily="34" charset="-120"/>
              </a:rPr>
              <a:t>3 hoods</a:t>
            </a:r>
            <a:endParaRPr lang="en-US" sz="1250" dirty="0"/>
          </a:p>
        </p:txBody>
      </p:sp>
      <p:sp>
        <p:nvSpPr>
          <p:cNvPr id="18" name="ar48"/>
          <p:cNvSpPr/>
          <p:nvPr/>
        </p:nvSpPr>
        <p:spPr>
          <a:xfrm>
            <a:off x="2834640" y="3493008"/>
            <a:ext cx="182880" cy="237744"/>
          </a:xfrm>
          <a:prstGeom prst="rightArrow">
            <a:avLst/>
          </a:prstGeom>
          <a:solidFill>
            <a:srgbClr val="B8C5C1"/>
          </a:solidFill>
          <a:ln/>
        </p:spPr>
      </p:sp>
      <p:sp>
        <p:nvSpPr>
          <p:cNvPr id="19" name="sb49"/>
          <p:cNvSpPr/>
          <p:nvPr/>
        </p:nvSpPr>
        <p:spPr>
          <a:xfrm>
            <a:off x="3063240" y="3108960"/>
            <a:ext cx="2240280" cy="1005840"/>
          </a:xfrm>
          <a:prstGeom prst="roundRect">
            <a:avLst>
              <a:gd name="adj" fmla="val 9091"/>
            </a:avLst>
          </a:prstGeom>
          <a:solidFill>
            <a:srgbClr val="D9EEEA"/>
          </a:solidFill>
          <a:ln/>
        </p:spPr>
      </p:sp>
      <p:sp>
        <p:nvSpPr>
          <p:cNvPr id="20" name="Text 18"/>
          <p:cNvSpPr txBox="1"/>
          <p:nvPr/>
        </p:nvSpPr>
        <p:spPr>
          <a:xfrm>
            <a:off x="3227832" y="3273552"/>
            <a:ext cx="1920240" cy="365760"/>
          </a:xfrm>
          <a:prstGeom prst="rect">
            <a:avLst/>
          </a:prstGeom>
          <a:noFill/>
          <a:ln/>
        </p:spPr>
        <p:txBody>
          <a:bodyPr wrap="square" lIns="0" tIns="0" rIns="0" bIns="0" rtlCol="0" anchor="t"/>
          <a:lstStyle/>
          <a:p>
            <a:pPr indent="0" marL="0">
              <a:buNone/>
            </a:pPr>
            <a:r>
              <a:rPr lang="en-US" sz="1500" b="1" dirty="0">
                <a:solidFill>
                  <a:srgbClr val="1C2A30"/>
                </a:solidFill>
                <a:latin typeface="Calibri" pitchFamily="34" charset="0"/>
                <a:ea typeface="Calibri" pitchFamily="34" charset="-122"/>
                <a:cs typeface="Calibri" pitchFamily="34" charset="-120"/>
              </a:rPr>
              <a:t>Chair + nurse</a:t>
            </a:r>
            <a:endParaRPr lang="en-US" sz="1500" dirty="0"/>
          </a:p>
        </p:txBody>
      </p:sp>
      <p:sp>
        <p:nvSpPr>
          <p:cNvPr id="21" name="Text 19"/>
          <p:cNvSpPr txBox="1"/>
          <p:nvPr/>
        </p:nvSpPr>
        <p:spPr>
          <a:xfrm>
            <a:off x="3227832" y="3657600"/>
            <a:ext cx="1920240" cy="320040"/>
          </a:xfrm>
          <a:prstGeom prst="rect">
            <a:avLst/>
          </a:prstGeom>
          <a:noFill/>
          <a:ln/>
        </p:spPr>
        <p:txBody>
          <a:bodyPr wrap="square" lIns="0" tIns="0" rIns="0" bIns="0" rtlCol="0" anchor="t"/>
          <a:lstStyle/>
          <a:p>
            <a:pPr indent="0" marL="0">
              <a:buNone/>
            </a:pPr>
            <a:r>
              <a:rPr lang="en-US" sz="1250" dirty="0">
                <a:solidFill>
                  <a:srgbClr val="5E6E73"/>
                </a:solidFill>
                <a:latin typeface="Calibri" pitchFamily="34" charset="0"/>
                <a:ea typeface="Calibri" pitchFamily="34" charset="-122"/>
                <a:cs typeface="Calibri" pitchFamily="34" charset="-120"/>
              </a:rPr>
              <a:t>20 chairs · 8 nurses</a:t>
            </a:r>
            <a:endParaRPr lang="en-US" sz="1250" dirty="0"/>
          </a:p>
        </p:txBody>
      </p:sp>
      <p:sp>
        <p:nvSpPr>
          <p:cNvPr id="22" name="ar50"/>
          <p:cNvSpPr/>
          <p:nvPr/>
        </p:nvSpPr>
        <p:spPr>
          <a:xfrm>
            <a:off x="5349240" y="3493008"/>
            <a:ext cx="182880" cy="237744"/>
          </a:xfrm>
          <a:prstGeom prst="rightArrow">
            <a:avLst/>
          </a:prstGeom>
          <a:solidFill>
            <a:srgbClr val="B8C5C1"/>
          </a:solidFill>
          <a:ln/>
        </p:spPr>
      </p:sp>
      <p:sp>
        <p:nvSpPr>
          <p:cNvPr id="23" name="sb51"/>
          <p:cNvSpPr/>
          <p:nvPr/>
        </p:nvSpPr>
        <p:spPr>
          <a:xfrm>
            <a:off x="5577840" y="3108960"/>
            <a:ext cx="2240280" cy="1005840"/>
          </a:xfrm>
          <a:prstGeom prst="roundRect">
            <a:avLst>
              <a:gd name="adj" fmla="val 9091"/>
            </a:avLst>
          </a:prstGeom>
          <a:solidFill>
            <a:srgbClr val="EEF3F1"/>
          </a:solidFill>
          <a:ln/>
        </p:spPr>
      </p:sp>
      <p:sp>
        <p:nvSpPr>
          <p:cNvPr id="24" name="Text 22"/>
          <p:cNvSpPr txBox="1"/>
          <p:nvPr/>
        </p:nvSpPr>
        <p:spPr>
          <a:xfrm>
            <a:off x="5742432" y="3273552"/>
            <a:ext cx="1920240" cy="365760"/>
          </a:xfrm>
          <a:prstGeom prst="rect">
            <a:avLst/>
          </a:prstGeom>
          <a:noFill/>
          <a:ln/>
        </p:spPr>
        <p:txBody>
          <a:bodyPr wrap="square" lIns="0" tIns="0" rIns="0" bIns="0" rtlCol="0" anchor="t"/>
          <a:lstStyle/>
          <a:p>
            <a:pPr indent="0" marL="0">
              <a:buNone/>
            </a:pPr>
            <a:r>
              <a:rPr lang="en-US" sz="1500" b="1" dirty="0">
                <a:solidFill>
                  <a:srgbClr val="1C2A30"/>
                </a:solidFill>
                <a:latin typeface="Calibri" pitchFamily="34" charset="0"/>
                <a:ea typeface="Calibri" pitchFamily="34" charset="-122"/>
                <a:cs typeface="Calibri" pitchFamily="34" charset="-120"/>
              </a:rPr>
              <a:t>Infusion → home</a:t>
            </a:r>
            <a:endParaRPr lang="en-US" sz="1500" dirty="0"/>
          </a:p>
        </p:txBody>
      </p:sp>
      <p:sp>
        <p:nvSpPr>
          <p:cNvPr id="25" name="Text 23"/>
          <p:cNvSpPr txBox="1"/>
          <p:nvPr/>
        </p:nvSpPr>
        <p:spPr>
          <a:xfrm>
            <a:off x="5742432" y="3657600"/>
            <a:ext cx="1920240" cy="320040"/>
          </a:xfrm>
          <a:prstGeom prst="rect">
            <a:avLst/>
          </a:prstGeom>
          <a:noFill/>
          <a:ln/>
        </p:spPr>
        <p:txBody>
          <a:bodyPr wrap="square" lIns="0" tIns="0" rIns="0" bIns="0" rtlCol="0" anchor="t"/>
          <a:lstStyle/>
          <a:p>
            <a:pPr indent="0" marL="0">
              <a:buNone/>
            </a:pPr>
            <a:r>
              <a:rPr lang="en-US" sz="1250" dirty="0">
                <a:solidFill>
                  <a:srgbClr val="5E6E73"/>
                </a:solidFill>
                <a:latin typeface="Calibri" pitchFamily="34" charset="0"/>
                <a:ea typeface="Calibri" pitchFamily="34" charset="-122"/>
                <a:cs typeface="Calibri" pitchFamily="34" charset="-120"/>
              </a:rPr>
              <a:t>1 nurse watches 4</a:t>
            </a:r>
            <a:endParaRPr lang="en-US" sz="1250" dirty="0"/>
          </a:p>
        </p:txBody>
      </p:sp>
      <p:sp>
        <p:nvSpPr>
          <p:cNvPr id="26" name="Text 24"/>
          <p:cNvSpPr txBox="1"/>
          <p:nvPr/>
        </p:nvSpPr>
        <p:spPr>
          <a:xfrm>
            <a:off x="548640" y="4526280"/>
            <a:ext cx="7315200" cy="365760"/>
          </a:xfrm>
          <a:prstGeom prst="rect">
            <a:avLst/>
          </a:prstGeom>
          <a:noFill/>
          <a:ln/>
        </p:spPr>
        <p:txBody>
          <a:bodyPr wrap="square" lIns="0" tIns="0" rIns="0" bIns="0" rtlCol="0" anchor="t"/>
          <a:lstStyle/>
          <a:p>
            <a:pPr indent="0" marL="0">
              <a:buNone/>
            </a:pPr>
            <a:r>
              <a:rPr lang="en-US" sz="1400" b="1" dirty="0">
                <a:solidFill>
                  <a:srgbClr val="1C2A30"/>
                </a:solidFill>
                <a:latin typeface="Calibri" pitchFamily="34" charset="0"/>
                <a:ea typeface="Calibri" pitchFamily="34" charset="-122"/>
                <a:cs typeface="Calibri" pitchFamily="34" charset="-120"/>
              </a:rPr>
              <a:t>Nurse rule (Hesaraki 2019): </a:t>
            </a:r>
            <a:pPr indent="0" marL="0">
              <a:buNone/>
            </a:pPr>
            <a:r>
              <a:rPr lang="en-US" sz="1400" dirty="0">
                <a:solidFill>
                  <a:srgbClr val="1C2A30"/>
                </a:solidFill>
                <a:latin typeface="Calibri" pitchFamily="34" charset="0"/>
                <a:ea typeface="Calibri" pitchFamily="34" charset="-122"/>
                <a:cs typeface="Calibri" pitchFamily="34" charset="-120"/>
              </a:rPr>
              <a:t>4 × (setups + takedowns) + patients on the drip ≤ 4 × nurses, at every minute.</a:t>
            </a:r>
            <a:endParaRPr lang="en-US" sz="1400" dirty="0"/>
          </a:p>
        </p:txBody>
      </p:sp>
      <p:sp>
        <p:nvSpPr>
          <p:cNvPr id="27" name="Text 25"/>
          <p:cNvSpPr txBox="1"/>
          <p:nvPr/>
        </p:nvSpPr>
        <p:spPr>
          <a:xfrm>
            <a:off x="548640" y="4983480"/>
            <a:ext cx="7315200" cy="54864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Built three ways: Python SimPy (all results), an interactive web simulator, and an AnyLogic build kit that replays the same days.</a:t>
            </a:r>
            <a:endParaRPr lang="en-US" sz="1300" dirty="0"/>
          </a:p>
        </p:txBody>
      </p:sp>
      <p:sp>
        <p:nvSpPr>
          <p:cNvPr id="28" name="card52"/>
          <p:cNvSpPr/>
          <p:nvPr/>
        </p:nvSpPr>
        <p:spPr>
          <a:xfrm>
            <a:off x="8183880" y="1783080"/>
            <a:ext cx="3429000" cy="4297680"/>
          </a:xfrm>
          <a:prstGeom prst="roundRect">
            <a:avLst>
              <a:gd name="adj" fmla="val 3200"/>
            </a:avLst>
          </a:prstGeom>
          <a:solidFill>
            <a:srgbClr val="EEF3F1"/>
          </a:solidFill>
          <a:ln/>
        </p:spPr>
      </p:sp>
      <p:sp>
        <p:nvSpPr>
          <p:cNvPr id="29" name="iconbg53"/>
          <p:cNvSpPr/>
          <p:nvPr/>
        </p:nvSpPr>
        <p:spPr>
          <a:xfrm>
            <a:off x="8412480" y="1965960"/>
            <a:ext cx="502920" cy="502920"/>
          </a:xfrm>
          <a:prstGeom prst="ellipse">
            <a:avLst/>
          </a:prstGeom>
          <a:solidFill>
            <a:schemeClr val="accent1"/>
          </a:solidFill>
          <a:ln/>
        </p:spPr>
      </p:sp>
      <p:pic>
        <p:nvPicPr>
          <p:cNvPr id="30" name="icon53" descr="preencoded.png">    </p:cNvPr>
          <p:cNvPicPr>
            <a:picLocks noChangeAspect="1"/>
          </p:cNvPicPr>
          <p:nvPr/>
        </p:nvPicPr>
        <p:blipFill>
          <a:blip r:embed="rId1"/>
          <a:stretch>
            <a:fillRect/>
          </a:stretch>
        </p:blipFill>
        <p:spPr>
          <a:xfrm>
            <a:off x="8523122" y="2076602"/>
            <a:ext cx="281635" cy="281635"/>
          </a:xfrm>
          <a:prstGeom prst="rect">
            <a:avLst/>
          </a:prstGeom>
        </p:spPr>
      </p:pic>
      <p:sp>
        <p:nvSpPr>
          <p:cNvPr id="31" name="Text 28"/>
          <p:cNvSpPr txBox="1"/>
          <p:nvPr/>
        </p:nvSpPr>
        <p:spPr>
          <a:xfrm>
            <a:off x="9052560" y="2075688"/>
            <a:ext cx="2468880" cy="365760"/>
          </a:xfrm>
          <a:prstGeom prst="rect">
            <a:avLst/>
          </a:prstGeom>
          <a:noFill/>
          <a:ln/>
        </p:spPr>
        <p:txBody>
          <a:bodyPr wrap="square" lIns="0" tIns="0" rIns="0" bIns="0" rtlCol="0" anchor="t"/>
          <a:lstStyle/>
          <a:p>
            <a:pPr indent="0" marL="0">
              <a:buNone/>
            </a:pPr>
            <a:r>
              <a:rPr lang="en-US" sz="1600" b="1" dirty="0">
                <a:solidFill>
                  <a:srgbClr val="1C2A30"/>
                </a:solidFill>
                <a:latin typeface="Calibri" pitchFamily="34" charset="0"/>
                <a:ea typeface="Calibri" pitchFamily="34" charset="-122"/>
                <a:cs typeface="Calibri" pitchFamily="34" charset="-120"/>
              </a:rPr>
              <a:t>10 / 10 code checks</a:t>
            </a:r>
            <a:endParaRPr lang="en-US" sz="1600" dirty="0"/>
          </a:p>
        </p:txBody>
      </p:sp>
      <p:sp>
        <p:nvSpPr>
          <p:cNvPr id="32" name="Text 29"/>
          <p:cNvSpPr txBox="1"/>
          <p:nvPr/>
        </p:nvSpPr>
        <p:spPr>
          <a:xfrm>
            <a:off x="8412480" y="2560320"/>
            <a:ext cx="3017520" cy="594360"/>
          </a:xfrm>
          <a:prstGeom prst="rect">
            <a:avLst/>
          </a:prstGeom>
          <a:noFill/>
          <a:ln/>
        </p:spPr>
        <p:txBody>
          <a:bodyPr wrap="square" lIns="0" tIns="0" rIns="0" bIns="0" rtlCol="0" anchor="t"/>
          <a:lstStyle/>
          <a:p>
            <a:pPr indent="0" marL="0">
              <a:buNone/>
            </a:pPr>
            <a:r>
              <a:rPr lang="en-US" sz="1200" dirty="0">
                <a:solidFill>
                  <a:srgbClr val="5E6E73"/>
                </a:solidFill>
                <a:latin typeface="Calibri" pitchFamily="34" charset="0"/>
                <a:ea typeface="Calibri" pitchFamily="34" charset="-122"/>
                <a:cs typeface="Calibri" pitchFamily="34" charset="-120"/>
              </a:rPr>
              <a:t>hand calculation, capacity never exceeded, patients conserved, Little's law</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366760" y="3291840"/>
          <a:ext cx="3108960" cy="914400"/>
        </p:xfrm>
        <a:graphic>
          <a:graphicData uri="http://schemas.openxmlformats.org/drawingml/2006/table">
            <a:tbl>
              <a:tblPr/>
              <a:tblGrid>
                <a:gridCol w="1325880"/>
                <a:gridCol w="1005840"/>
                <a:gridCol w="777240"/>
              </a:tblGrid>
              <a:tr h="438912">
                <a:tc>
                  <a:txBody>
                    <a:bodyPr/>
                    <a:lstStyle/>
                    <a:p>
                      <a:pPr indent="0" marL="0">
                        <a:buNone/>
                      </a:pPr>
                      <a:r>
                        <a:rPr lang="en-US" sz="1300" b="1" dirty="0">
                          <a:solidFill>
                            <a:srgbClr val="5E6E73"/>
                          </a:solidFill>
                          <a:latin typeface="Calibri" pitchFamily="34" charset="0"/>
                          <a:ea typeface="Calibri" pitchFamily="34" charset="-122"/>
                          <a:cs typeface="Calibri" pitchFamily="34" charset="-120"/>
                        </a:rPr>
                        <a:t>Check</a:t>
                      </a:r>
                      <a:endParaRPr lang="en-US" sz="1300" dirty="0">
                        <a:latin typeface="Calibri" charset="0"/>
                        <a:ea typeface="Calibri" charset="0"/>
                        <a:cs typeface="Calibri" charset="0"/>
                      </a:endParaRPr>
                    </a:p>
                  </a:txBody>
                  <a:tcPr marL="36576" marR="36576"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b="1" dirty="0">
                          <a:solidFill>
                            <a:srgbClr val="5E6E73"/>
                          </a:solidFill>
                          <a:latin typeface="Calibri" pitchFamily="34" charset="0"/>
                          <a:ea typeface="Calibri" pitchFamily="34" charset="-122"/>
                          <a:cs typeface="Calibri" pitchFamily="34" charset="-120"/>
                        </a:rPr>
                        <a:t>Published</a:t>
                      </a:r>
                      <a:endParaRPr lang="en-US" sz="1300" dirty="0">
                        <a:latin typeface="Calibri" charset="0"/>
                        <a:ea typeface="Calibri" charset="0"/>
                        <a:cs typeface="Calibri" charset="0"/>
                      </a:endParaRPr>
                    </a:p>
                  </a:txBody>
                  <a:tcPr marL="36576" marR="36576"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b="1" dirty="0">
                          <a:solidFill>
                            <a:srgbClr val="5E6E73"/>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36576" marR="36576" marT="18288" marB="18288" anchor="ctr">
                    <a:lnL w="0" cap="flat" cmpd="sng" algn="ctr">
                      <a:noFill/>
                    </a:lnL>
                    <a:lnR w="0" cap="flat" cmpd="sng" algn="ctr">
                      <a:noFill/>
                    </a:lnR>
                    <a:lnT w="0" cap="flat" cmpd="sng" algn="ctr">
                      <a:noFill/>
                    </a:lnT>
                    <a:lnB w="0" cap="flat" cmpd="sng" algn="ctr">
                      <a:noFill/>
                    </a:lnB>
                  </a:tcPr>
                </a:tc>
              </a:tr>
              <a:tr h="438912">
                <a:tc>
                  <a:txBody>
                    <a:bodyPr/>
                    <a:lstStyle/>
                    <a:p>
                      <a:pPr indent="0" marL="0">
                        <a:buNone/>
                      </a:pPr>
                      <a:r>
                        <a:rPr lang="en-US" sz="1300" dirty="0">
                          <a:solidFill>
                            <a:srgbClr val="1C2A30"/>
                          </a:solidFill>
                          <a:latin typeface="Calibri" pitchFamily="34" charset="0"/>
                          <a:ea typeface="Calibri" pitchFamily="34" charset="-122"/>
                          <a:cs typeface="Calibri" pitchFamily="34" charset="-120"/>
                        </a:rPr>
                        <a:t>Kochi wait</a:t>
                      </a:r>
                      <a:endParaRPr lang="en-US" sz="1300" dirty="0">
                        <a:latin typeface="Calibri" charset="0"/>
                        <a:ea typeface="Calibri" charset="0"/>
                        <a:cs typeface="Calibri" charset="0"/>
                      </a:endParaRPr>
                    </a:p>
                  </a:txBody>
                  <a:tcPr marL="36576" marR="36576"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C2A30"/>
                          </a:solidFill>
                          <a:latin typeface="Calibri" pitchFamily="34" charset="0"/>
                          <a:ea typeface="Calibri" pitchFamily="34" charset="-122"/>
                          <a:cs typeface="Calibri" pitchFamily="34" charset="-120"/>
                        </a:rPr>
                        <a:t>3.5 h</a:t>
                      </a:r>
                      <a:endParaRPr lang="en-US" sz="1300" dirty="0">
                        <a:latin typeface="Calibri" charset="0"/>
                        <a:ea typeface="Calibri" charset="0"/>
                        <a:cs typeface="Calibri" charset="0"/>
                      </a:endParaRPr>
                    </a:p>
                  </a:txBody>
                  <a:tcPr marL="36576" marR="36576"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b="1" dirty="0">
                          <a:solidFill>
                            <a:srgbClr val="0F766E"/>
                          </a:solidFill>
                          <a:latin typeface="Calibri" pitchFamily="34" charset="0"/>
                          <a:ea typeface="Calibri" pitchFamily="34" charset="-122"/>
                          <a:cs typeface="Calibri" pitchFamily="34" charset="-120"/>
                        </a:rPr>
                        <a:t>4.1 h</a:t>
                      </a:r>
                      <a:endParaRPr lang="en-US" sz="1300" dirty="0">
                        <a:latin typeface="Calibri" charset="0"/>
                        <a:ea typeface="Calibri" charset="0"/>
                        <a:cs typeface="Calibri" charset="0"/>
                      </a:endParaRPr>
                    </a:p>
                  </a:txBody>
                  <a:tcPr marL="36576" marR="36576" marT="18288" marB="18288" anchor="ctr">
                    <a:lnL w="0" cap="flat" cmpd="sng" algn="ctr">
                      <a:noFill/>
                    </a:lnL>
                    <a:lnR w="0" cap="flat" cmpd="sng" algn="ctr">
                      <a:noFill/>
                    </a:lnR>
                    <a:lnT w="0" cap="flat" cmpd="sng" algn="ctr">
                      <a:noFill/>
                    </a:lnT>
                    <a:lnB w="0" cap="flat" cmpd="sng" algn="ctr">
                      <a:noFill/>
                    </a:lnB>
                  </a:tcPr>
                </a:tc>
              </a:tr>
              <a:tr h="438912">
                <a:tc>
                  <a:txBody>
                    <a:bodyPr/>
                    <a:lstStyle/>
                    <a:p>
                      <a:pPr indent="0" marL="0">
                        <a:buNone/>
                      </a:pPr>
                      <a:r>
                        <a:rPr lang="en-US" sz="1300" dirty="0">
                          <a:solidFill>
                            <a:srgbClr val="1C2A30"/>
                          </a:solidFill>
                          <a:latin typeface="Calibri" pitchFamily="34" charset="0"/>
                          <a:ea typeface="Calibri" pitchFamily="34" charset="-122"/>
                          <a:cs typeface="Calibri" pitchFamily="34" charset="-120"/>
                        </a:rPr>
                        <a:t>Time in unit</a:t>
                      </a:r>
                      <a:endParaRPr lang="en-US" sz="1300" dirty="0">
                        <a:latin typeface="Calibri" charset="0"/>
                        <a:ea typeface="Calibri" charset="0"/>
                        <a:cs typeface="Calibri" charset="0"/>
                      </a:endParaRPr>
                    </a:p>
                  </a:txBody>
                  <a:tcPr marL="36576" marR="36576"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C2A30"/>
                          </a:solidFill>
                          <a:latin typeface="Calibri" pitchFamily="34" charset="0"/>
                          <a:ea typeface="Calibri" pitchFamily="34" charset="-122"/>
                          <a:cs typeface="Calibri" pitchFamily="34" charset="-120"/>
                        </a:rPr>
                        <a:t>5 h 40</a:t>
                      </a:r>
                      <a:endParaRPr lang="en-US" sz="1300" dirty="0">
                        <a:latin typeface="Calibri" charset="0"/>
                        <a:ea typeface="Calibri" charset="0"/>
                        <a:cs typeface="Calibri" charset="0"/>
                      </a:endParaRPr>
                    </a:p>
                  </a:txBody>
                  <a:tcPr marL="36576" marR="36576"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b="1" dirty="0">
                          <a:solidFill>
                            <a:srgbClr val="0F766E"/>
                          </a:solidFill>
                          <a:latin typeface="Calibri" pitchFamily="34" charset="0"/>
                          <a:ea typeface="Calibri" pitchFamily="34" charset="-122"/>
                          <a:cs typeface="Calibri" pitchFamily="34" charset="-120"/>
                        </a:rPr>
                        <a:t>6 h 28</a:t>
                      </a:r>
                      <a:endParaRPr lang="en-US" sz="1300" dirty="0">
                        <a:latin typeface="Calibri" charset="0"/>
                        <a:ea typeface="Calibri" charset="0"/>
                        <a:cs typeface="Calibri" charset="0"/>
                      </a:endParaRPr>
                    </a:p>
                  </a:txBody>
                  <a:tcPr marL="36576" marR="36576" marT="18288" marB="18288" anchor="ctr">
                    <a:lnL w="0" cap="flat" cmpd="sng" algn="ctr">
                      <a:noFill/>
                    </a:lnL>
                    <a:lnR w="0" cap="flat" cmpd="sng" algn="ctr">
                      <a:noFill/>
                    </a:lnR>
                    <a:lnT w="0" cap="flat" cmpd="sng" algn="ctr">
                      <a:noFill/>
                    </a:lnT>
                    <a:lnB w="0" cap="flat" cmpd="sng" algn="ctr">
                      <a:noFill/>
                    </a:lnB>
                  </a:tcPr>
                </a:tc>
              </a:tr>
              <a:tr h="438912">
                <a:tc>
                  <a:txBody>
                    <a:bodyPr/>
                    <a:lstStyle/>
                    <a:p>
                      <a:pPr indent="0" marL="0">
                        <a:buNone/>
                      </a:pPr>
                      <a:r>
                        <a:rPr lang="en-US" sz="1300" dirty="0">
                          <a:solidFill>
                            <a:srgbClr val="1C2A30"/>
                          </a:solidFill>
                          <a:latin typeface="Calibri" pitchFamily="34" charset="0"/>
                          <a:ea typeface="Calibri" pitchFamily="34" charset="-122"/>
                          <a:cs typeface="Calibri" pitchFamily="34" charset="-120"/>
                        </a:rPr>
                        <a:t>Morning chairs lost</a:t>
                      </a:r>
                      <a:endParaRPr lang="en-US" sz="1300" dirty="0">
                        <a:latin typeface="Calibri" charset="0"/>
                        <a:ea typeface="Calibri" charset="0"/>
                        <a:cs typeface="Calibri" charset="0"/>
                      </a:endParaRPr>
                    </a:p>
                  </a:txBody>
                  <a:tcPr marL="36576" marR="36576"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C2A30"/>
                          </a:solidFill>
                          <a:latin typeface="Calibri" pitchFamily="34" charset="0"/>
                          <a:ea typeface="Calibri" pitchFamily="34" charset="-122"/>
                          <a:cs typeface="Calibri" pitchFamily="34" charset="-120"/>
                        </a:rPr>
                        <a:t>35%</a:t>
                      </a:r>
                      <a:endParaRPr lang="en-US" sz="1300" dirty="0">
                        <a:latin typeface="Calibri" charset="0"/>
                        <a:ea typeface="Calibri" charset="0"/>
                        <a:cs typeface="Calibri" charset="0"/>
                      </a:endParaRPr>
                    </a:p>
                  </a:txBody>
                  <a:tcPr marL="36576" marR="36576"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b="1" dirty="0">
                          <a:solidFill>
                            <a:srgbClr val="0F766E"/>
                          </a:solidFill>
                          <a:latin typeface="Calibri" pitchFamily="34" charset="0"/>
                          <a:ea typeface="Calibri" pitchFamily="34" charset="-122"/>
                          <a:cs typeface="Calibri" pitchFamily="34" charset="-120"/>
                        </a:rPr>
                        <a:t>37%</a:t>
                      </a:r>
                      <a:endParaRPr lang="en-US" sz="1300" dirty="0">
                        <a:latin typeface="Calibri" charset="0"/>
                        <a:ea typeface="Calibri" charset="0"/>
                        <a:cs typeface="Calibri" charset="0"/>
                      </a:endParaRPr>
                    </a:p>
                  </a:txBody>
                  <a:tcPr marL="36576" marR="36576" marT="18288" marB="18288" anchor="ctr">
                    <a:lnL w="0" cap="flat" cmpd="sng" algn="ctr">
                      <a:noFill/>
                    </a:lnL>
                    <a:lnR w="0" cap="flat" cmpd="sng" algn="ctr">
                      <a:noFill/>
                    </a:lnR>
                    <a:lnT w="0" cap="flat" cmpd="sng" algn="ctr">
                      <a:noFill/>
                    </a:lnT>
                    <a:lnB w="0" cap="flat" cmpd="sng" algn="ctr">
                      <a:noFill/>
                    </a:lnB>
                  </a:tcPr>
                </a:tc>
              </a:tr>
              <a:tr h="438912">
                <a:tc>
                  <a:txBody>
                    <a:bodyPr/>
                    <a:lstStyle/>
                    <a:p>
                      <a:pPr indent="0" marL="0">
                        <a:buNone/>
                      </a:pPr>
                      <a:r>
                        <a:rPr lang="en-US" sz="1300" dirty="0">
                          <a:solidFill>
                            <a:srgbClr val="1C2A30"/>
                          </a:solidFill>
                          <a:latin typeface="Calibri" pitchFamily="34" charset="0"/>
                          <a:ea typeface="Calibri" pitchFamily="34" charset="-122"/>
                          <a:cs typeface="Calibri" pitchFamily="34" charset="-120"/>
                        </a:rPr>
                        <a:t>Buffers (min)</a:t>
                      </a:r>
                      <a:endParaRPr lang="en-US" sz="1300" dirty="0">
                        <a:latin typeface="Calibri" charset="0"/>
                        <a:ea typeface="Calibri" charset="0"/>
                        <a:cs typeface="Calibri" charset="0"/>
                      </a:endParaRPr>
                    </a:p>
                  </a:txBody>
                  <a:tcPr marL="36576" marR="36576"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C2A30"/>
                          </a:solidFill>
                          <a:latin typeface="Calibri" pitchFamily="34" charset="0"/>
                          <a:ea typeface="Calibri" pitchFamily="34" charset="-122"/>
                          <a:cs typeface="Calibri" pitchFamily="34" charset="-120"/>
                        </a:rPr>
                        <a:t>89.9 / 206.2</a:t>
                      </a:r>
                      <a:endParaRPr lang="en-US" sz="1300" dirty="0">
                        <a:latin typeface="Calibri" charset="0"/>
                        <a:ea typeface="Calibri" charset="0"/>
                        <a:cs typeface="Calibri" charset="0"/>
                      </a:endParaRPr>
                    </a:p>
                  </a:txBody>
                  <a:tcPr marL="36576" marR="36576"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b="1" dirty="0">
                          <a:solidFill>
                            <a:srgbClr val="0F766E"/>
                          </a:solidFill>
                          <a:latin typeface="Calibri" pitchFamily="34" charset="0"/>
                          <a:ea typeface="Calibri" pitchFamily="34" charset="-122"/>
                          <a:cs typeface="Calibri" pitchFamily="34" charset="-120"/>
                        </a:rPr>
                        <a:t>exact</a:t>
                      </a:r>
                      <a:endParaRPr lang="en-US" sz="1300" dirty="0">
                        <a:latin typeface="Calibri" charset="0"/>
                        <a:ea typeface="Calibri" charset="0"/>
                        <a:cs typeface="Calibri" charset="0"/>
                      </a:endParaRPr>
                    </a:p>
                  </a:txBody>
                  <a:tcPr marL="36576" marR="36576" marT="18288" marB="18288" anchor="ctr">
                    <a:lnL w="0" cap="flat" cmpd="sng" algn="ctr">
                      <a:noFill/>
                    </a:lnL>
                    <a:lnR w="0" cap="flat" cmpd="sng" algn="ctr">
                      <a:noFill/>
                    </a:lnR>
                    <a:lnT w="0" cap="flat" cmpd="sng" algn="ctr">
                      <a:noFill/>
                    </a:lnT>
                    <a:lnB w="0" cap="flat" cmpd="sng" algn="ctr">
                      <a:noFill/>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rgbClr val="0F766E"/>
                </a:solidFill>
              </a:rPr>
              <a:t>FORMULATION</a:t>
            </a: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3400" b="1" dirty="0">
                <a:solidFill>
                  <a:srgbClr val="1C2A30"/>
                </a:solidFill>
                <a:latin typeface="Cambria" pitchFamily="34" charset="0"/>
                <a:ea typeface="Cambria" pitchFamily="34" charset="-122"/>
                <a:cs typeface="Cambria" pitchFamily="34" charset="-120"/>
              </a:rPr>
              <a:t>Formulation: a buffer rule plus an integer programme</a:t>
            </a:r>
            <a:endParaRPr lang="en-US" sz="3400" dirty="0"/>
          </a:p>
        </p:txBody>
      </p:sp>
      <p:sp>
        <p:nvSpPr>
          <p:cNvPr id="4" name="card54"/>
          <p:cNvSpPr/>
          <p:nvPr/>
        </p:nvSpPr>
        <p:spPr>
          <a:xfrm>
            <a:off x="548640" y="1783080"/>
            <a:ext cx="4754880" cy="4297680"/>
          </a:xfrm>
          <a:prstGeom prst="roundRect">
            <a:avLst>
              <a:gd name="adj" fmla="val 2553"/>
            </a:avLst>
          </a:prstGeom>
          <a:solidFill>
            <a:srgbClr val="EEF3F1"/>
          </a:solidFill>
          <a:ln/>
        </p:spPr>
      </p:sp>
      <p:sp>
        <p:nvSpPr>
          <p:cNvPr id="5" name="iconbg55"/>
          <p:cNvSpPr/>
          <p:nvPr/>
        </p:nvSpPr>
        <p:spPr>
          <a:xfrm>
            <a:off x="777240" y="1965960"/>
            <a:ext cx="548640" cy="548640"/>
          </a:xfrm>
          <a:prstGeom prst="ellipse">
            <a:avLst/>
          </a:prstGeom>
          <a:solidFill>
            <a:schemeClr val="accent1"/>
          </a:solidFill>
          <a:ln/>
        </p:spPr>
      </p:sp>
      <p:pic>
        <p:nvPicPr>
          <p:cNvPr id="6" name="icon55" descr="preencoded.png">    </p:cNvPr>
          <p:cNvPicPr>
            <a:picLocks noChangeAspect="1"/>
          </p:cNvPicPr>
          <p:nvPr/>
        </p:nvPicPr>
        <p:blipFill>
          <a:blip r:embed="rId1"/>
          <a:stretch>
            <a:fillRect/>
          </a:stretch>
        </p:blipFill>
        <p:spPr>
          <a:xfrm>
            <a:off x="897941" y="2086661"/>
            <a:ext cx="307238" cy="307238"/>
          </a:xfrm>
          <a:prstGeom prst="rect">
            <a:avLst/>
          </a:prstGeom>
        </p:spPr>
      </p:pic>
      <p:sp>
        <p:nvSpPr>
          <p:cNvPr id="7" name="Text 4"/>
          <p:cNvSpPr txBox="1"/>
          <p:nvPr/>
        </p:nvSpPr>
        <p:spPr>
          <a:xfrm>
            <a:off x="1463040" y="2075688"/>
            <a:ext cx="3657600" cy="365760"/>
          </a:xfrm>
          <a:prstGeom prst="rect">
            <a:avLst/>
          </a:prstGeom>
          <a:noFill/>
          <a:ln/>
        </p:spPr>
        <p:txBody>
          <a:bodyPr wrap="square" lIns="0" tIns="0" rIns="0" bIns="0" rtlCol="0" anchor="t"/>
          <a:lstStyle/>
          <a:p>
            <a:pPr indent="0" marL="0">
              <a:buNone/>
            </a:pPr>
            <a:r>
              <a:rPr lang="en-US" sz="2000" b="1" dirty="0">
                <a:solidFill>
                  <a:srgbClr val="1C2A30"/>
                </a:solidFill>
                <a:latin typeface="Cambria" pitchFamily="34" charset="0"/>
                <a:ea typeface="Cambria" pitchFamily="34" charset="-122"/>
                <a:cs typeface="Cambria" pitchFamily="34" charset="-120"/>
              </a:rPr>
              <a:t>1  Booking rule</a:t>
            </a:r>
            <a:endParaRPr lang="en-US" sz="2000" dirty="0"/>
          </a:p>
        </p:txBody>
      </p:sp>
      <p:sp>
        <p:nvSpPr>
          <p:cNvPr id="8" name="Text 5"/>
          <p:cNvSpPr txBox="1"/>
          <p:nvPr/>
        </p:nvSpPr>
        <p:spPr>
          <a:xfrm>
            <a:off x="822960" y="2697480"/>
            <a:ext cx="4297680" cy="868680"/>
          </a:xfrm>
          <a:prstGeom prst="rect">
            <a:avLst/>
          </a:prstGeom>
          <a:noFill/>
          <a:ln/>
        </p:spPr>
        <p:txBody>
          <a:bodyPr wrap="square" lIns="0" tIns="0" rIns="0" bIns="0" rtlCol="0" anchor="t"/>
          <a:lstStyle/>
          <a:p>
            <a:pPr indent="0" marL="0">
              <a:buNone/>
            </a:pPr>
            <a:r>
              <a:rPr lang="en-US" sz="1900" dirty="0">
                <a:solidFill>
                  <a:srgbClr val="12302D"/>
                </a:solidFill>
                <a:latin typeface="Cambria" pitchFamily="34" charset="0"/>
                <a:ea typeface="Cambria" pitchFamily="34" charset="-122"/>
                <a:cs typeface="Cambria" pitchFamily="34" charset="-120"/>
              </a:rPr>
              <a:t>P( aᵢ + Dᵢ ≤ sᵢ ) ≥ q</a:t>
            </a:r>
            <a:endParaRPr lang="en-US" sz="1900" dirty="0"/>
          </a:p>
          <a:p>
            <a:pPr indent="0" marL="0">
              <a:buNone/>
            </a:pPr>
            <a:r>
              <a:rPr lang="en-US" sz="1900" dirty="0">
                <a:solidFill>
                  <a:srgbClr val="12302D"/>
                </a:solidFill>
                <a:latin typeface="Cambria" pitchFamily="34" charset="0"/>
                <a:ea typeface="Cambria" pitchFamily="34" charset="-122"/>
                <a:cs typeface="Cambria" pitchFamily="34" charset="-120"/>
              </a:rPr>
              <a:t>⇒  sᵢ = aᵢ + B,   B = q-quantile of D</a:t>
            </a:r>
            <a:endParaRPr lang="en-US" sz="1900" dirty="0"/>
          </a:p>
        </p:txBody>
      </p:sp>
      <p:sp>
        <p:nvSpPr>
          <p:cNvPr id="9" name="Text 6"/>
          <p:cNvSpPr txBox="1"/>
          <p:nvPr/>
        </p:nvSpPr>
        <p:spPr>
          <a:xfrm>
            <a:off x="822960" y="3703320"/>
            <a:ext cx="4297680" cy="1280160"/>
          </a:xfrm>
          <a:prstGeom prst="rect">
            <a:avLst/>
          </a:prstGeom>
          <a:noFill/>
          <a:ln/>
        </p:spPr>
        <p:txBody>
          <a:bodyPr wrap="square" lIns="0" tIns="0" rIns="0" bIns="0" rtlCol="0" anchor="t"/>
          <a:lstStyle/>
          <a:p>
            <a:pPr indent="0" marL="0">
              <a:spcAft>
                <a:spcPts val="400"/>
              </a:spcAft>
              <a:buNone/>
            </a:pPr>
            <a:r>
              <a:rPr lang="en-US" sz="1400" dirty="0">
                <a:solidFill>
                  <a:srgbClr val="5E6E73"/>
                </a:solidFill>
                <a:latin typeface="Calibri" pitchFamily="34" charset="0"/>
                <a:ea typeface="Calibri" pitchFamily="34" charset="-122"/>
                <a:cs typeface="Calibri" pitchFamily="34" charset="-120"/>
              </a:rPr>
              <a:t>a = told arrival, s = chair slot, D = random delay to drug ready, B set per class.</a:t>
            </a:r>
            <a:endParaRPr lang="en-US" sz="1400" dirty="0"/>
          </a:p>
          <a:p>
            <a:pPr indent="0" marL="0">
              <a:spcAft>
                <a:spcPts val="400"/>
              </a:spcAft>
              <a:buNone/>
            </a:pPr>
            <a:r>
              <a:rPr lang="en-US" sz="1400" dirty="0">
                <a:solidFill>
                  <a:srgbClr val="5E6E73"/>
                </a:solidFill>
                <a:latin typeface="Calibri" pitchFamily="34" charset="0"/>
                <a:ea typeface="Calibri" pitchFamily="34" charset="-122"/>
                <a:cs typeface="Calibri" pitchFamily="34" charset="-120"/>
              </a:rPr>
              <a:t>q = 0.8 gives B = 90 and 210 min.</a:t>
            </a:r>
            <a:endParaRPr lang="en-US" sz="1400" dirty="0"/>
          </a:p>
          <a:p>
            <a:pPr indent="0" marL="0">
              <a:spcAft>
                <a:spcPts val="400"/>
              </a:spcAft>
              <a:buNone/>
            </a:pPr>
            <a:r>
              <a:rPr lang="en-US" sz="1400" dirty="0">
                <a:solidFill>
                  <a:srgbClr val="5E6E73"/>
                </a:solidFill>
                <a:latin typeface="Calibri" pitchFamily="34" charset="0"/>
                <a:ea typeface="Calibri" pitchFamily="34" charset="-122"/>
                <a:cs typeface="Calibri" pitchFamily="34" charset="-120"/>
              </a:rPr>
              <a:t>Newsvendor view: best q = idle cost ÷ (idle cost + wait cost).</a:t>
            </a:r>
            <a:endParaRPr lang="en-US" sz="1400" dirty="0"/>
          </a:p>
        </p:txBody>
      </p:sp>
      <p:sp>
        <p:nvSpPr>
          <p:cNvPr id="10" name="Text 7"/>
          <p:cNvSpPr txBox="1"/>
          <p:nvPr/>
        </p:nvSpPr>
        <p:spPr>
          <a:xfrm>
            <a:off x="822960" y="5120640"/>
            <a:ext cx="4297680" cy="731520"/>
          </a:xfrm>
          <a:prstGeom prst="rect">
            <a:avLst/>
          </a:prstGeom>
          <a:noFill/>
          <a:ln/>
        </p:spPr>
        <p:txBody>
          <a:bodyPr wrap="square" lIns="0" tIns="0" rIns="0" bIns="0" rtlCol="0" anchor="t"/>
          <a:lstStyle/>
          <a:p>
            <a:pPr indent="0" marL="0">
              <a:buNone/>
            </a:pPr>
            <a:r>
              <a:rPr lang="en-US" sz="1400" b="1" dirty="0">
                <a:solidFill>
                  <a:srgbClr val="0F766E"/>
                </a:solidFill>
                <a:latin typeface="Calibri" pitchFamily="34" charset="0"/>
                <a:ea typeface="Calibri" pitchFamily="34" charset="-122"/>
                <a:cs typeface="Calibri" pitchFamily="34" charset="-120"/>
              </a:rPr>
              <a:t>Two numbers carry all the randomness, so the daily problem stays deterministic and fast.</a:t>
            </a:r>
            <a:endParaRPr lang="en-US" sz="1400" dirty="0"/>
          </a:p>
        </p:txBody>
      </p:sp>
      <p:sp>
        <p:nvSpPr>
          <p:cNvPr id="11" name="card56"/>
          <p:cNvSpPr/>
          <p:nvPr/>
        </p:nvSpPr>
        <p:spPr>
          <a:xfrm>
            <a:off x="5577840" y="1783080"/>
            <a:ext cx="6035040" cy="4297680"/>
          </a:xfrm>
          <a:prstGeom prst="roundRect">
            <a:avLst>
              <a:gd name="adj" fmla="val 2553"/>
            </a:avLst>
          </a:prstGeom>
          <a:solidFill>
            <a:srgbClr val="12302D"/>
          </a:solidFill>
          <a:ln/>
        </p:spPr>
      </p:sp>
      <p:sp>
        <p:nvSpPr>
          <p:cNvPr id="12" name="Text 9"/>
          <p:cNvSpPr txBox="1"/>
          <p:nvPr/>
        </p:nvSpPr>
        <p:spPr>
          <a:xfrm>
            <a:off x="5852160" y="1965960"/>
            <a:ext cx="5577840" cy="36576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2  Daily chair slots (time-indexed MIP)</a:t>
            </a:r>
            <a:endParaRPr lang="en-US" sz="2000" dirty="0"/>
          </a:p>
        </p:txBody>
      </p:sp>
      <p:sp>
        <p:nvSpPr>
          <p:cNvPr id="13" name="Text 10"/>
          <p:cNvSpPr txBox="1"/>
          <p:nvPr/>
        </p:nvSpPr>
        <p:spPr>
          <a:xfrm>
            <a:off x="5852160" y="2395728"/>
            <a:ext cx="5577840" cy="320040"/>
          </a:xfrm>
          <a:prstGeom prst="rect">
            <a:avLst/>
          </a:prstGeom>
          <a:noFill/>
          <a:ln/>
        </p:spPr>
        <p:txBody>
          <a:bodyPr wrap="square" lIns="0" tIns="0" rIns="0" bIns="0" rtlCol="0" anchor="t"/>
          <a:lstStyle/>
          <a:p>
            <a:pPr indent="0" marL="0">
              <a:buNone/>
            </a:pPr>
            <a:r>
              <a:rPr lang="en-US" sz="1300" dirty="0">
                <a:solidFill>
                  <a:srgbClr val="9FC9C3"/>
                </a:solidFill>
                <a:latin typeface="Calibri" pitchFamily="34" charset="0"/>
                <a:ea typeface="Calibri" pitchFamily="34" charset="-122"/>
                <a:cs typeface="Calibri" pitchFamily="34" charset="-120"/>
              </a:rPr>
              <a:t>y(g, t) = patients of group g starting at 15-min slot t;  z(τ) = unit still open at τ</a:t>
            </a:r>
            <a:endParaRPr lang="en-US" sz="1300" dirty="0"/>
          </a:p>
        </p:txBody>
      </p:sp>
      <p:sp>
        <p:nvSpPr>
          <p:cNvPr id="14" name="Text 11"/>
          <p:cNvSpPr txBox="1"/>
          <p:nvPr/>
        </p:nvSpPr>
        <p:spPr>
          <a:xfrm>
            <a:off x="5852160" y="2834640"/>
            <a:ext cx="5577840" cy="411480"/>
          </a:xfrm>
          <a:prstGeom prst="rect">
            <a:avLst/>
          </a:prstGeom>
          <a:noFill/>
          <a:ln/>
        </p:spPr>
        <p:txBody>
          <a:bodyPr wrap="square" lIns="0" tIns="0" rIns="0" bIns="0" rtlCol="0" anchor="t"/>
          <a:lstStyle/>
          <a:p>
            <a:pPr indent="0" marL="0">
              <a:buNone/>
            </a:pPr>
            <a:r>
              <a:rPr lang="en-US" sz="1700" b="1" dirty="0">
                <a:solidFill>
                  <a:srgbClr val="7FD1C7"/>
                </a:solidFill>
                <a:latin typeface="Cambria" pitchFamily="34" charset="0"/>
                <a:ea typeface="Cambria" pitchFamily="34" charset="-122"/>
                <a:cs typeface="Cambria" pitchFamily="34" charset="-120"/>
              </a:rPr>
              <a:t>min  Σ finish time  +  wₘ · day length  +  wₒ · overtime</a:t>
            </a:r>
            <a:endParaRPr lang="en-US" sz="1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806440" y="3383280"/>
          <a:ext cx="5623560" cy="914400"/>
        </p:xfrm>
        <a:graphic>
          <a:graphicData uri="http://schemas.openxmlformats.org/drawingml/2006/table">
            <a:tbl>
              <a:tblPr/>
              <a:tblGrid>
                <a:gridCol w="1783080"/>
                <a:gridCol w="3840480"/>
              </a:tblGrid>
              <a:tr h="402336">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Everyone booked</a:t>
                      </a:r>
                      <a:endParaRPr lang="en-US" sz="1350" dirty="0">
                        <a:latin typeface="Calibri" charset="0"/>
                        <a:ea typeface="Calibri" charset="0"/>
                        <a:cs typeface="Calibri" charset="0"/>
                      </a:endParaRPr>
                    </a:p>
                  </a:txBody>
                  <a:tcPr marL="45720" marR="45720"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350" dirty="0">
                          <a:solidFill>
                            <a:srgbClr val="D7EAE6"/>
                          </a:solidFill>
                          <a:latin typeface="Calibri" pitchFamily="34" charset="0"/>
                          <a:ea typeface="Calibri" pitchFamily="34" charset="-122"/>
                          <a:cs typeface="Calibri" pitchFamily="34" charset="-120"/>
                        </a:rPr>
                        <a:t>Σₜ y(g, t) = n(g) for every group</a:t>
                      </a:r>
                      <a:endParaRPr lang="en-US" sz="1350" dirty="0">
                        <a:latin typeface="Calibri" charset="0"/>
                        <a:ea typeface="Calibri" charset="0"/>
                        <a:cs typeface="Calibri" charset="0"/>
                      </a:endParaRPr>
                    </a:p>
                  </a:txBody>
                  <a:tcPr marL="45720" marR="45720" marT="18288" marB="18288" anchor="ctr">
                    <a:lnL w="0" cap="flat" cmpd="sng" algn="ctr">
                      <a:noFill/>
                    </a:lnL>
                    <a:lnR w="0" cap="flat" cmpd="sng" algn="ctr">
                      <a:noFill/>
                    </a:lnR>
                    <a:lnT w="0" cap="flat" cmpd="sng" algn="ctr">
                      <a:noFill/>
                    </a:lnT>
                    <a:lnB w="0" cap="flat" cmpd="sng" algn="ctr">
                      <a:noFill/>
                    </a:lnB>
                  </a:tcPr>
                </a:tc>
              </a:tr>
              <a:tr h="402336">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Chairs</a:t>
                      </a:r>
                      <a:endParaRPr lang="en-US" sz="1350" dirty="0">
                        <a:latin typeface="Calibri" charset="0"/>
                        <a:ea typeface="Calibri" charset="0"/>
                        <a:cs typeface="Calibri" charset="0"/>
                      </a:endParaRPr>
                    </a:p>
                  </a:txBody>
                  <a:tcPr marL="45720" marR="45720"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350" dirty="0">
                          <a:solidFill>
                            <a:srgbClr val="D7EAE6"/>
                          </a:solidFill>
                          <a:latin typeface="Calibri" pitchFamily="34" charset="0"/>
                          <a:ea typeface="Calibri" pitchFamily="34" charset="-122"/>
                          <a:cs typeface="Calibri" pitchFamily="34" charset="-120"/>
                        </a:rPr>
                        <a:t>patients in chairs at τ ≤ 20 · z(τ)</a:t>
                      </a:r>
                      <a:endParaRPr lang="en-US" sz="1350" dirty="0">
                        <a:latin typeface="Calibri" charset="0"/>
                        <a:ea typeface="Calibri" charset="0"/>
                        <a:cs typeface="Calibri" charset="0"/>
                      </a:endParaRPr>
                    </a:p>
                  </a:txBody>
                  <a:tcPr marL="45720" marR="45720" marT="18288" marB="18288" anchor="ctr">
                    <a:lnL w="0" cap="flat" cmpd="sng" algn="ctr">
                      <a:noFill/>
                    </a:lnL>
                    <a:lnR w="0" cap="flat" cmpd="sng" algn="ctr">
                      <a:noFill/>
                    </a:lnR>
                    <a:lnT w="0" cap="flat" cmpd="sng" algn="ctr">
                      <a:noFill/>
                    </a:lnT>
                    <a:lnB w="0" cap="flat" cmpd="sng" algn="ctr">
                      <a:noFill/>
                    </a:lnB>
                  </a:tcPr>
                </a:tc>
              </a:tr>
              <a:tr h="402336">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Nurses</a:t>
                      </a:r>
                      <a:endParaRPr lang="en-US" sz="1350" dirty="0">
                        <a:latin typeface="Calibri" charset="0"/>
                        <a:ea typeface="Calibri" charset="0"/>
                        <a:cs typeface="Calibri" charset="0"/>
                      </a:endParaRPr>
                    </a:p>
                  </a:txBody>
                  <a:tcPr marL="45720" marR="45720"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350" dirty="0">
                          <a:solidFill>
                            <a:srgbClr val="D7EAE6"/>
                          </a:solidFill>
                          <a:latin typeface="Calibri" pitchFamily="34" charset="0"/>
                          <a:ea typeface="Calibri" pitchFamily="34" charset="-122"/>
                          <a:cs typeface="Calibri" pitchFamily="34" charset="-120"/>
                        </a:rPr>
                        <a:t>4 · (setups + takedowns) + drips ≤ 4 · N</a:t>
                      </a:r>
                      <a:endParaRPr lang="en-US" sz="1350" dirty="0">
                        <a:latin typeface="Calibri" charset="0"/>
                        <a:ea typeface="Calibri" charset="0"/>
                        <a:cs typeface="Calibri" charset="0"/>
                      </a:endParaRPr>
                    </a:p>
                  </a:txBody>
                  <a:tcPr marL="45720" marR="45720" marT="18288" marB="18288" anchor="ctr">
                    <a:lnL w="0" cap="flat" cmpd="sng" algn="ctr">
                      <a:noFill/>
                    </a:lnL>
                    <a:lnR w="0" cap="flat" cmpd="sng" algn="ctr">
                      <a:noFill/>
                    </a:lnR>
                    <a:lnT w="0" cap="flat" cmpd="sng" algn="ctr">
                      <a:noFill/>
                    </a:lnT>
                    <a:lnB w="0" cap="flat" cmpd="sng" algn="ctr">
                      <a:noFill/>
                    </a:lnB>
                  </a:tcPr>
                </a:tc>
              </a:tr>
              <a:tr h="402336">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Buffer</a:t>
                      </a:r>
                      <a:endParaRPr lang="en-US" sz="1350" dirty="0">
                        <a:latin typeface="Calibri" charset="0"/>
                        <a:ea typeface="Calibri" charset="0"/>
                        <a:cs typeface="Calibri" charset="0"/>
                      </a:endParaRPr>
                    </a:p>
                  </a:txBody>
                  <a:tcPr marL="45720" marR="45720"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350" dirty="0">
                          <a:solidFill>
                            <a:srgbClr val="D7EAE6"/>
                          </a:solidFill>
                          <a:latin typeface="Calibri" pitchFamily="34" charset="0"/>
                          <a:ea typeface="Calibri" pitchFamily="34" charset="-122"/>
                          <a:cs typeface="Calibri" pitchFamily="34" charset="-120"/>
                        </a:rPr>
                        <a:t>y(g, t) = 0 before open + B</a:t>
                      </a:r>
                      <a:endParaRPr lang="en-US" sz="1350" dirty="0">
                        <a:latin typeface="Calibri" charset="0"/>
                        <a:ea typeface="Calibri" charset="0"/>
                        <a:cs typeface="Calibri" charset="0"/>
                      </a:endParaRPr>
                    </a:p>
                  </a:txBody>
                  <a:tcPr marL="45720" marR="45720" marT="18288" marB="18288" anchor="ctr">
                    <a:lnL w="0" cap="flat" cmpd="sng" algn="ctr">
                      <a:noFill/>
                    </a:lnL>
                    <a:lnR w="0" cap="flat" cmpd="sng" algn="ctr">
                      <a:noFill/>
                    </a:lnR>
                    <a:lnT w="0" cap="flat" cmpd="sng" algn="ctr">
                      <a:noFill/>
                    </a:lnT>
                    <a:lnB w="0" cap="flat" cmpd="sng" algn="ctr">
                      <a:noFill/>
                    </a:lnB>
                  </a:tcPr>
                </a:tc>
              </a:tr>
              <a:tr h="402336">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Open is one block</a:t>
                      </a:r>
                      <a:endParaRPr lang="en-US" sz="1350" dirty="0">
                        <a:latin typeface="Calibri" charset="0"/>
                        <a:ea typeface="Calibri" charset="0"/>
                        <a:cs typeface="Calibri" charset="0"/>
                      </a:endParaRPr>
                    </a:p>
                  </a:txBody>
                  <a:tcPr marL="45720" marR="45720"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350" dirty="0">
                          <a:solidFill>
                            <a:srgbClr val="D7EAE6"/>
                          </a:solidFill>
                          <a:latin typeface="Calibri" pitchFamily="34" charset="0"/>
                          <a:ea typeface="Calibri" pitchFamily="34" charset="-122"/>
                          <a:cs typeface="Calibri" pitchFamily="34" charset="-120"/>
                        </a:rPr>
                        <a:t>z(τ) ≥ z(τ + 1)</a:t>
                      </a:r>
                      <a:endParaRPr lang="en-US" sz="1350" dirty="0">
                        <a:latin typeface="Calibri" charset="0"/>
                        <a:ea typeface="Calibri" charset="0"/>
                        <a:cs typeface="Calibri" charset="0"/>
                      </a:endParaRPr>
                    </a:p>
                  </a:txBody>
                  <a:tcPr marL="45720" marR="45720" marT="18288" marB="18288" anchor="ctr">
                    <a:lnL w="0" cap="flat" cmpd="sng" algn="ctr">
                      <a:noFill/>
                    </a:lnL>
                    <a:lnR w="0" cap="flat" cmpd="sng" algn="ctr">
                      <a:noFill/>
                    </a:lnR>
                    <a:lnT w="0" cap="flat" cmpd="sng" algn="ctr">
                      <a:noFill/>
                    </a:lnT>
                    <a:lnB w="0" cap="flat" cmpd="sng" algn="ctr">
                      <a:noFill/>
                    </a:lnB>
                  </a:tcPr>
                </a:tc>
              </a:tr>
              <a:tr h="402336">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Arrival cap</a:t>
                      </a:r>
                      <a:endParaRPr lang="en-US" sz="1350" dirty="0">
                        <a:latin typeface="Calibri" charset="0"/>
                        <a:ea typeface="Calibri" charset="0"/>
                        <a:cs typeface="Calibri" charset="0"/>
                      </a:endParaRPr>
                    </a:p>
                  </a:txBody>
                  <a:tcPr marL="45720" marR="45720"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350" dirty="0">
                          <a:solidFill>
                            <a:srgbClr val="D7EAE6"/>
                          </a:solidFill>
                          <a:latin typeface="Calibri" pitchFamily="34" charset="0"/>
                          <a:ea typeface="Calibri" pitchFamily="34" charset="-122"/>
                          <a:cs typeface="Calibri" pitchFamily="34" charset="-120"/>
                        </a:rPr>
                        <a:t>told per 15 min ≤ 3, same-day ≤ 2</a:t>
                      </a:r>
                      <a:endParaRPr lang="en-US" sz="1350" dirty="0">
                        <a:latin typeface="Calibri" charset="0"/>
                        <a:ea typeface="Calibri" charset="0"/>
                        <a:cs typeface="Calibri" charset="0"/>
                      </a:endParaRPr>
                    </a:p>
                  </a:txBody>
                  <a:tcPr marL="45720" marR="45720" marT="18288" marB="18288" anchor="ctr">
                    <a:lnL w="0" cap="flat" cmpd="sng" algn="ctr">
                      <a:noFill/>
                    </a:lnL>
                    <a:lnR w="0" cap="flat" cmpd="sng" algn="ctr">
                      <a:noFill/>
                    </a:lnR>
                    <a:lnT w="0" cap="flat" cmpd="sng" algn="ctr">
                      <a:noFill/>
                    </a:lnT>
                    <a:lnB w="0" cap="flat" cmpd="sng" algn="ctr">
                      <a:noFill/>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rgbClr val="0F766E"/>
                </a:solidFill>
              </a:rPr>
              <a:t>FORMULATION</a:t>
            </a: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3400" b="1" dirty="0">
                <a:solidFill>
                  <a:srgbClr val="1C2A30"/>
                </a:solidFill>
                <a:latin typeface="Cambria" pitchFamily="34" charset="0"/>
                <a:ea typeface="Cambria" pitchFamily="34" charset="-122"/>
                <a:cs typeface="Cambria" pitchFamily="34" charset="-120"/>
              </a:rPr>
              <a:t>The MIP finds the true best schedule in 7 seconds</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852160" cy="914400"/>
        </p:xfrm>
        <a:graphic>
          <a:graphicData uri="http://schemas.openxmlformats.org/drawingml/2006/table">
            <a:tbl>
              <a:tblPr/>
              <a:tblGrid>
                <a:gridCol w="1097280"/>
                <a:gridCol w="1463040"/>
                <a:gridCol w="1188720"/>
                <a:gridCol w="1188720"/>
                <a:gridCol w="914400"/>
              </a:tblGrid>
              <a:tr h="43891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Test case</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12302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Schedules tried</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12302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Brute force</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12302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MIP</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12302D"/>
                    </a:solidFill>
                  </a:tcPr>
                </a:tc>
                <a:tc>
                  <a:txBody>
                    <a:bodyPr/>
                    <a:lstStyle/>
                    <a:p>
                      <a:pPr indent="0" marL="0">
                        <a:buNone/>
                      </a:pP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12302D"/>
                    </a:solidFill>
                  </a:tcPr>
                </a:tc>
              </a:tr>
              <a:tr h="438912">
                <a:tc>
                  <a:txBody>
                    <a:bodyPr/>
                    <a:lstStyle/>
                    <a:p>
                      <a:pPr algn="l" indent="0" marL="0">
                        <a:buNone/>
                      </a:pPr>
                      <a:r>
                        <a:rPr lang="en-US" sz="1400" dirty="0">
                          <a:solidFill>
                            <a:srgbClr val="1C2A30"/>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c>
                  <a:txBody>
                    <a:bodyPr/>
                    <a:lstStyle/>
                    <a:p>
                      <a:pPr algn="r" indent="0" marL="0">
                        <a:buNone/>
                      </a:pPr>
                      <a:r>
                        <a:rPr lang="en-US" sz="1400" dirty="0">
                          <a:solidFill>
                            <a:srgbClr val="1C2A30"/>
                          </a:solidFill>
                          <a:latin typeface="Calibri" pitchFamily="34" charset="0"/>
                          <a:ea typeface="Calibri" pitchFamily="34" charset="-122"/>
                          <a:cs typeface="Calibri" pitchFamily="34" charset="-120"/>
                        </a:rPr>
                        <a:t>4,800</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c>
                  <a:txBody>
                    <a:bodyPr/>
                    <a:lstStyle/>
                    <a:p>
                      <a:pPr algn="r" indent="0" marL="0">
                        <a:buNone/>
                      </a:pPr>
                      <a:r>
                        <a:rPr lang="en-US" sz="1400" dirty="0">
                          <a:solidFill>
                            <a:srgbClr val="1C2A30"/>
                          </a:solidFill>
                          <a:latin typeface="Calibri" pitchFamily="34" charset="0"/>
                          <a:ea typeface="Calibri" pitchFamily="34" charset="-122"/>
                          <a:cs typeface="Calibri" pitchFamily="34" charset="-120"/>
                        </a:rPr>
                        <a:t>378</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c>
                  <a:txBody>
                    <a:bodyPr/>
                    <a:lstStyle/>
                    <a:p>
                      <a:pPr algn="r" indent="0" marL="0">
                        <a:buNone/>
                      </a:pPr>
                      <a:r>
                        <a:rPr lang="en-US" sz="1400" dirty="0">
                          <a:solidFill>
                            <a:srgbClr val="1C2A30"/>
                          </a:solidFill>
                          <a:latin typeface="Calibri" pitchFamily="34" charset="0"/>
                          <a:ea typeface="Calibri" pitchFamily="34" charset="-122"/>
                          <a:cs typeface="Calibri" pitchFamily="34" charset="-120"/>
                        </a:rPr>
                        <a:t>378</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c>
                  <a:txBody>
                    <a:bodyPr/>
                    <a:lstStyle/>
                    <a:p>
                      <a:pPr algn="r" indent="0" marL="0">
                        <a:buNone/>
                      </a:pPr>
                      <a:r>
                        <a:rPr lang="en-US" sz="1400" b="1" dirty="0">
                          <a:solidFill>
                            <a:srgbClr val="0F766E"/>
                          </a:solidFill>
                          <a:latin typeface="Calibri" pitchFamily="34" charset="0"/>
                          <a:ea typeface="Calibri" pitchFamily="34" charset="-122"/>
                          <a:cs typeface="Calibri" pitchFamily="34" charset="-120"/>
                        </a:rPr>
                        <a:t>exact</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r>
              <a:tr h="438912">
                <a:tc>
                  <a:txBody>
                    <a:bodyPr/>
                    <a:lstStyle/>
                    <a:p>
                      <a:pPr algn="l" indent="0" marL="0">
                        <a:buNone/>
                      </a:pPr>
                      <a:r>
                        <a:rPr lang="en-US" sz="1400" dirty="0">
                          <a:solidFill>
                            <a:srgbClr val="1C2A30"/>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C2A30"/>
                          </a:solidFill>
                          <a:latin typeface="Calibri" pitchFamily="34" charset="0"/>
                          <a:ea typeface="Calibri" pitchFamily="34" charset="-122"/>
                          <a:cs typeface="Calibri" pitchFamily="34" charset="-120"/>
                        </a:rPr>
                        <a:t>12,000</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C2A30"/>
                          </a:solidFill>
                          <a:latin typeface="Calibri" pitchFamily="34" charset="0"/>
                          <a:ea typeface="Calibri" pitchFamily="34" charset="-122"/>
                          <a:cs typeface="Calibri" pitchFamily="34" charset="-120"/>
                        </a:rPr>
                        <a:t>208</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C2A30"/>
                          </a:solidFill>
                          <a:latin typeface="Calibri" pitchFamily="34" charset="0"/>
                          <a:ea typeface="Calibri" pitchFamily="34" charset="-122"/>
                          <a:cs typeface="Calibri" pitchFamily="34" charset="-120"/>
                        </a:rPr>
                        <a:t>208</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F766E"/>
                          </a:solidFill>
                          <a:latin typeface="Calibri" pitchFamily="34" charset="0"/>
                          <a:ea typeface="Calibri" pitchFamily="34" charset="-122"/>
                          <a:cs typeface="Calibri" pitchFamily="34" charset="-120"/>
                        </a:rPr>
                        <a:t>exact</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r>
              <a:tr h="438912">
                <a:tc>
                  <a:txBody>
                    <a:bodyPr/>
                    <a:lstStyle/>
                    <a:p>
                      <a:pPr algn="l" indent="0" marL="0">
                        <a:buNone/>
                      </a:pPr>
                      <a:r>
                        <a:rPr lang="en-US" sz="1400" dirty="0">
                          <a:solidFill>
                            <a:srgbClr val="1C2A30"/>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c>
                  <a:txBody>
                    <a:bodyPr/>
                    <a:lstStyle/>
                    <a:p>
                      <a:pPr algn="r" indent="0" marL="0">
                        <a:buNone/>
                      </a:pPr>
                      <a:r>
                        <a:rPr lang="en-US" sz="1400" dirty="0">
                          <a:solidFill>
                            <a:srgbClr val="1C2A30"/>
                          </a:solidFill>
                          <a:latin typeface="Calibri" pitchFamily="34" charset="0"/>
                          <a:ea typeface="Calibri" pitchFamily="34" charset="-122"/>
                          <a:cs typeface="Calibri" pitchFamily="34" charset="-120"/>
                        </a:rPr>
                        <a:t>2,560</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c>
                  <a:txBody>
                    <a:bodyPr/>
                    <a:lstStyle/>
                    <a:p>
                      <a:pPr algn="r" indent="0" marL="0">
                        <a:buNone/>
                      </a:pPr>
                      <a:r>
                        <a:rPr lang="en-US" sz="1400" dirty="0">
                          <a:solidFill>
                            <a:srgbClr val="1C2A30"/>
                          </a:solidFill>
                          <a:latin typeface="Calibri" pitchFamily="34" charset="0"/>
                          <a:ea typeface="Calibri" pitchFamily="34" charset="-122"/>
                          <a:cs typeface="Calibri" pitchFamily="34" charset="-120"/>
                        </a:rPr>
                        <a:t>infeasible</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c>
                  <a:txBody>
                    <a:bodyPr/>
                    <a:lstStyle/>
                    <a:p>
                      <a:pPr algn="r" indent="0" marL="0">
                        <a:buNone/>
                      </a:pPr>
                      <a:r>
                        <a:rPr lang="en-US" sz="1400" dirty="0">
                          <a:solidFill>
                            <a:srgbClr val="1C2A30"/>
                          </a:solidFill>
                          <a:latin typeface="Calibri" pitchFamily="34" charset="0"/>
                          <a:ea typeface="Calibri" pitchFamily="34" charset="-122"/>
                          <a:cs typeface="Calibri" pitchFamily="34" charset="-120"/>
                        </a:rPr>
                        <a:t>infeasible</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c>
                  <a:txBody>
                    <a:bodyPr/>
                    <a:lstStyle/>
                    <a:p>
                      <a:pPr algn="r" indent="0" marL="0">
                        <a:buNone/>
                      </a:pPr>
                      <a:r>
                        <a:rPr lang="en-US" sz="1400" b="1" dirty="0">
                          <a:solidFill>
                            <a:srgbClr val="0F766E"/>
                          </a:solidFill>
                          <a:latin typeface="Calibri" pitchFamily="34" charset="0"/>
                          <a:ea typeface="Calibri" pitchFamily="34" charset="-122"/>
                          <a:cs typeface="Calibri" pitchFamily="34" charset="-120"/>
                        </a:rPr>
                        <a:t>agree</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r>
              <a:tr h="438912">
                <a:tc>
                  <a:txBody>
                    <a:bodyPr/>
                    <a:lstStyle/>
                    <a:p>
                      <a:pPr algn="l" indent="0" marL="0">
                        <a:buNone/>
                      </a:pPr>
                      <a:r>
                        <a:rPr lang="en-US" sz="1400" dirty="0">
                          <a:solidFill>
                            <a:srgbClr val="1C2A30"/>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C2A30"/>
                          </a:solidFill>
                          <a:latin typeface="Calibri" pitchFamily="34" charset="0"/>
                          <a:ea typeface="Calibri" pitchFamily="34" charset="-122"/>
                          <a:cs typeface="Calibri" pitchFamily="34" charset="-120"/>
                        </a:rPr>
                        <a:t>2,880</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C2A30"/>
                          </a:solidFill>
                          <a:latin typeface="Calibri" pitchFamily="34" charset="0"/>
                          <a:ea typeface="Calibri" pitchFamily="34" charset="-122"/>
                          <a:cs typeface="Calibri" pitchFamily="34" charset="-120"/>
                        </a:rPr>
                        <a:t>infeasible</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C2A30"/>
                          </a:solidFill>
                          <a:latin typeface="Calibri" pitchFamily="34" charset="0"/>
                          <a:ea typeface="Calibri" pitchFamily="34" charset="-122"/>
                          <a:cs typeface="Calibri" pitchFamily="34" charset="-120"/>
                        </a:rPr>
                        <a:t>infeasible</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F766E"/>
                          </a:solidFill>
                          <a:latin typeface="Calibri" pitchFamily="34" charset="0"/>
                          <a:ea typeface="Calibri" pitchFamily="34" charset="-122"/>
                          <a:cs typeface="Calibri" pitchFamily="34" charset="-120"/>
                        </a:rPr>
                        <a:t>agree</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r>
              <a:tr h="438912">
                <a:tc>
                  <a:txBody>
                    <a:bodyPr/>
                    <a:lstStyle/>
                    <a:p>
                      <a:pPr algn="l" indent="0" marL="0">
                        <a:buNone/>
                      </a:pPr>
                      <a:r>
                        <a:rPr lang="en-US" sz="1400" dirty="0">
                          <a:solidFill>
                            <a:srgbClr val="1C2A30"/>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c>
                  <a:txBody>
                    <a:bodyPr/>
                    <a:lstStyle/>
                    <a:p>
                      <a:pPr algn="r" indent="0" marL="0">
                        <a:buNone/>
                      </a:pPr>
                      <a:r>
                        <a:rPr lang="en-US" sz="1400" dirty="0">
                          <a:solidFill>
                            <a:srgbClr val="1C2A30"/>
                          </a:solidFill>
                          <a:latin typeface="Calibri" pitchFamily="34" charset="0"/>
                          <a:ea typeface="Calibri" pitchFamily="34" charset="-122"/>
                          <a:cs typeface="Calibri" pitchFamily="34" charset="-120"/>
                        </a:rPr>
                        <a:t>1,152</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c>
                  <a:txBody>
                    <a:bodyPr/>
                    <a:lstStyle/>
                    <a:p>
                      <a:pPr algn="r" indent="0" marL="0">
                        <a:buNone/>
                      </a:pPr>
                      <a:r>
                        <a:rPr lang="en-US" sz="1400" dirty="0">
                          <a:solidFill>
                            <a:srgbClr val="1C2A30"/>
                          </a:solidFill>
                          <a:latin typeface="Calibri" pitchFamily="34" charset="0"/>
                          <a:ea typeface="Calibri" pitchFamily="34" charset="-122"/>
                          <a:cs typeface="Calibri" pitchFamily="34" charset="-120"/>
                        </a:rPr>
                        <a:t>infeasible</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c>
                  <a:txBody>
                    <a:bodyPr/>
                    <a:lstStyle/>
                    <a:p>
                      <a:pPr algn="r" indent="0" marL="0">
                        <a:buNone/>
                      </a:pPr>
                      <a:r>
                        <a:rPr lang="en-US" sz="1400" dirty="0">
                          <a:solidFill>
                            <a:srgbClr val="1C2A30"/>
                          </a:solidFill>
                          <a:latin typeface="Calibri" pitchFamily="34" charset="0"/>
                          <a:ea typeface="Calibri" pitchFamily="34" charset="-122"/>
                          <a:cs typeface="Calibri" pitchFamily="34" charset="-120"/>
                        </a:rPr>
                        <a:t>infeasible</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c>
                  <a:txBody>
                    <a:bodyPr/>
                    <a:lstStyle/>
                    <a:p>
                      <a:pPr algn="r" indent="0" marL="0">
                        <a:buNone/>
                      </a:pPr>
                      <a:r>
                        <a:rPr lang="en-US" sz="1400" b="1" dirty="0">
                          <a:solidFill>
                            <a:srgbClr val="0F766E"/>
                          </a:solidFill>
                          <a:latin typeface="Calibri" pitchFamily="34" charset="0"/>
                          <a:ea typeface="Calibri" pitchFamily="34" charset="-122"/>
                          <a:cs typeface="Calibri" pitchFamily="34" charset="-120"/>
                        </a:rPr>
                        <a:t>agree</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5F8F7"/>
                    </a:solidFill>
                  </a:tcPr>
                </a:tc>
              </a:tr>
              <a:tr h="438912">
                <a:tc>
                  <a:txBody>
                    <a:bodyPr/>
                    <a:lstStyle/>
                    <a:p>
                      <a:pPr algn="l" indent="0" marL="0">
                        <a:buNone/>
                      </a:pPr>
                      <a:r>
                        <a:rPr lang="en-US" sz="1400" dirty="0">
                          <a:solidFill>
                            <a:srgbClr val="1C2A30"/>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C2A30"/>
                          </a:solidFill>
                          <a:latin typeface="Calibri" pitchFamily="34" charset="0"/>
                          <a:ea typeface="Calibri" pitchFamily="34" charset="-122"/>
                          <a:cs typeface="Calibri" pitchFamily="34" charset="-120"/>
                        </a:rPr>
                        <a:t>4,800</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C2A30"/>
                          </a:solidFill>
                          <a:latin typeface="Calibri" pitchFamily="34" charset="0"/>
                          <a:ea typeface="Calibri" pitchFamily="34" charset="-122"/>
                          <a:cs typeface="Calibri" pitchFamily="34" charset="-120"/>
                        </a:rPr>
                        <a:t>384</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C2A30"/>
                          </a:solidFill>
                          <a:latin typeface="Calibri" pitchFamily="34" charset="0"/>
                          <a:ea typeface="Calibri" pitchFamily="34" charset="-122"/>
                          <a:cs typeface="Calibri" pitchFamily="34" charset="-120"/>
                        </a:rPr>
                        <a:t>384</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F766E"/>
                          </a:solidFill>
                          <a:latin typeface="Calibri" pitchFamily="34" charset="0"/>
                          <a:ea typeface="Calibri" pitchFamily="34" charset="-122"/>
                          <a:cs typeface="Calibri" pitchFamily="34" charset="-120"/>
                        </a:rPr>
                        <a:t>exact</a:t>
                      </a:r>
                      <a:endParaRPr lang="en-US" sz="1400" dirty="0">
                        <a:latin typeface="Calibri" charset="0"/>
                        <a:ea typeface="Calibri" charset="0"/>
                        <a:cs typeface="Calibri" charset="0"/>
                      </a:endParaRPr>
                    </a:p>
                  </a:txBody>
                  <a:tcPr marL="109728" marR="109728" marT="36576" marB="36576" anchor="ctr">
                    <a:lnL w="9525" cap="flat" cmpd="sng" algn="ctr">
                      <a:solidFill>
                        <a:srgbClr val="E3E8E6"/>
                      </a:solidFill>
                      <a:prstDash val="solid"/>
                      <a:round/>
                      <a:headEnd type="none" w="med" len="med"/>
                      <a:tailEnd type="none" w="med" len="med"/>
                    </a:lnL>
                    <a:lnR w="9525" cap="flat" cmpd="sng" algn="ctr">
                      <a:solidFill>
                        <a:srgbClr val="E3E8E6"/>
                      </a:solidFill>
                      <a:prstDash val="solid"/>
                      <a:round/>
                      <a:headEnd type="none" w="med" len="med"/>
                      <a:tailEnd type="none" w="med" len="med"/>
                    </a:lnR>
                    <a:lnT w="9525" cap="flat" cmpd="sng" algn="ctr">
                      <a:solidFill>
                        <a:srgbClr val="E3E8E6"/>
                      </a:solidFill>
                      <a:prstDash val="solid"/>
                      <a:round/>
                      <a:headEnd type="none" w="med" len="med"/>
                      <a:tailEnd type="none" w="med" len="med"/>
                    </a:lnT>
                    <a:lnB w="9525" cap="flat" cmpd="sng" algn="ctr">
                      <a:solidFill>
                        <a:srgbClr val="E3E8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4983480"/>
            <a:ext cx="5852160" cy="73152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Brute force: every combination of start times for 4 patients, 2 chairs, 2 nurses. The MIP matches all 6, including proving 3 cases have no feasible schedule.</a:t>
            </a:r>
            <a:endParaRPr lang="en-US" sz="1300" dirty="0"/>
          </a:p>
        </p:txBody>
      </p:sp>
      <p:sp>
        <p:nvSpPr>
          <p:cNvPr id="6" name="card57"/>
          <p:cNvSpPr/>
          <p:nvPr/>
        </p:nvSpPr>
        <p:spPr>
          <a:xfrm>
            <a:off x="6858000" y="1783080"/>
            <a:ext cx="2240280" cy="1874520"/>
          </a:xfrm>
          <a:prstGeom prst="roundRect">
            <a:avLst>
              <a:gd name="adj" fmla="val 5854"/>
            </a:avLst>
          </a:prstGeom>
          <a:solidFill>
            <a:srgbClr val="EEF3F1"/>
          </a:solidFill>
          <a:ln/>
        </p:spPr>
      </p:sp>
      <p:sp>
        <p:nvSpPr>
          <p:cNvPr id="7" name="Text 4"/>
          <p:cNvSpPr txBox="1"/>
          <p:nvPr/>
        </p:nvSpPr>
        <p:spPr>
          <a:xfrm>
            <a:off x="7059168" y="1965960"/>
            <a:ext cx="1920240" cy="594360"/>
          </a:xfrm>
          <a:prstGeom prst="rect">
            <a:avLst/>
          </a:prstGeom>
          <a:noFill/>
          <a:ln/>
        </p:spPr>
        <p:txBody>
          <a:bodyPr wrap="square" lIns="0" tIns="0" rIns="0" bIns="0" rtlCol="0" anchor="t"/>
          <a:lstStyle/>
          <a:p>
            <a:pPr indent="0" marL="0">
              <a:buNone/>
            </a:pPr>
            <a:r>
              <a:rPr lang="en-US" sz="3000" b="1" dirty="0">
                <a:solidFill>
                  <a:srgbClr val="0F766E"/>
                </a:solidFill>
                <a:latin typeface="Cambria" pitchFamily="34" charset="0"/>
                <a:ea typeface="Cambria" pitchFamily="34" charset="-122"/>
                <a:cs typeface="Cambria" pitchFamily="34" charset="-120"/>
              </a:rPr>
              <a:t>48%</a:t>
            </a:r>
            <a:endParaRPr lang="en-US" sz="3000" dirty="0"/>
          </a:p>
        </p:txBody>
      </p:sp>
      <p:sp>
        <p:nvSpPr>
          <p:cNvPr id="8" name="Text 5"/>
          <p:cNvSpPr txBox="1"/>
          <p:nvPr/>
        </p:nvSpPr>
        <p:spPr>
          <a:xfrm>
            <a:off x="7059168" y="2606040"/>
            <a:ext cx="1874520" cy="96012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better objective than the greedy list schedule, every one of 20 real days</a:t>
            </a:r>
            <a:endParaRPr lang="en-US" sz="1300" dirty="0"/>
          </a:p>
        </p:txBody>
      </p:sp>
      <p:sp>
        <p:nvSpPr>
          <p:cNvPr id="9" name="card58"/>
          <p:cNvSpPr/>
          <p:nvPr/>
        </p:nvSpPr>
        <p:spPr>
          <a:xfrm>
            <a:off x="9281160" y="1783080"/>
            <a:ext cx="2240280" cy="1874520"/>
          </a:xfrm>
          <a:prstGeom prst="roundRect">
            <a:avLst>
              <a:gd name="adj" fmla="val 5854"/>
            </a:avLst>
          </a:prstGeom>
          <a:solidFill>
            <a:srgbClr val="EEF3F1"/>
          </a:solidFill>
          <a:ln/>
        </p:spPr>
      </p:sp>
      <p:sp>
        <p:nvSpPr>
          <p:cNvPr id="10" name="Text 7"/>
          <p:cNvSpPr txBox="1"/>
          <p:nvPr/>
        </p:nvSpPr>
        <p:spPr>
          <a:xfrm>
            <a:off x="9482328" y="1965960"/>
            <a:ext cx="1920240" cy="594360"/>
          </a:xfrm>
          <a:prstGeom prst="rect">
            <a:avLst/>
          </a:prstGeom>
          <a:noFill/>
          <a:ln/>
        </p:spPr>
        <p:txBody>
          <a:bodyPr wrap="square" lIns="0" tIns="0" rIns="0" bIns="0" rtlCol="0" anchor="t"/>
          <a:lstStyle/>
          <a:p>
            <a:pPr indent="0" marL="0">
              <a:buNone/>
            </a:pPr>
            <a:r>
              <a:rPr lang="en-US" sz="3000" b="1" dirty="0">
                <a:solidFill>
                  <a:srgbClr val="0F766E"/>
                </a:solidFill>
                <a:latin typeface="Cambria" pitchFamily="34" charset="0"/>
                <a:ea typeface="Cambria" pitchFamily="34" charset="-122"/>
                <a:cs typeface="Cambria" pitchFamily="34" charset="-120"/>
              </a:rPr>
              <a:t>11 min</a:t>
            </a:r>
            <a:endParaRPr lang="en-US" sz="3000" dirty="0"/>
          </a:p>
        </p:txBody>
      </p:sp>
      <p:sp>
        <p:nvSpPr>
          <p:cNvPr id="11" name="Text 8"/>
          <p:cNvSpPr txBox="1"/>
          <p:nvPr/>
        </p:nvSpPr>
        <p:spPr>
          <a:xfrm>
            <a:off x="9482328" y="2606040"/>
            <a:ext cx="1874520" cy="96012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planned overtime, against 76 min for greedy</a:t>
            </a:r>
            <a:endParaRPr lang="en-US" sz="1300" dirty="0"/>
          </a:p>
        </p:txBody>
      </p:sp>
      <p:sp>
        <p:nvSpPr>
          <p:cNvPr id="12" name="card59"/>
          <p:cNvSpPr/>
          <p:nvPr/>
        </p:nvSpPr>
        <p:spPr>
          <a:xfrm>
            <a:off x="6858000" y="3840480"/>
            <a:ext cx="2240280" cy="1874520"/>
          </a:xfrm>
          <a:prstGeom prst="roundRect">
            <a:avLst>
              <a:gd name="adj" fmla="val 5854"/>
            </a:avLst>
          </a:prstGeom>
          <a:solidFill>
            <a:srgbClr val="EEF3F1"/>
          </a:solidFill>
          <a:ln/>
        </p:spPr>
      </p:sp>
      <p:sp>
        <p:nvSpPr>
          <p:cNvPr id="13" name="Text 10"/>
          <p:cNvSpPr txBox="1"/>
          <p:nvPr/>
        </p:nvSpPr>
        <p:spPr>
          <a:xfrm>
            <a:off x="7059168" y="4023360"/>
            <a:ext cx="1920240" cy="594360"/>
          </a:xfrm>
          <a:prstGeom prst="rect">
            <a:avLst/>
          </a:prstGeom>
          <a:noFill/>
          <a:ln/>
        </p:spPr>
        <p:txBody>
          <a:bodyPr wrap="square" lIns="0" tIns="0" rIns="0" bIns="0" rtlCol="0" anchor="t"/>
          <a:lstStyle/>
          <a:p>
            <a:pPr indent="0" marL="0">
              <a:buNone/>
            </a:pPr>
            <a:r>
              <a:rPr lang="en-US" sz="3000" b="1" dirty="0">
                <a:solidFill>
                  <a:srgbClr val="0F766E"/>
                </a:solidFill>
                <a:latin typeface="Cambria" pitchFamily="34" charset="0"/>
                <a:ea typeface="Cambria" pitchFamily="34" charset="-122"/>
                <a:cs typeface="Cambria" pitchFamily="34" charset="-120"/>
              </a:rPr>
              <a:t>6.9 s</a:t>
            </a:r>
            <a:endParaRPr lang="en-US" sz="3000" dirty="0"/>
          </a:p>
        </p:txBody>
      </p:sp>
      <p:sp>
        <p:nvSpPr>
          <p:cNvPr id="14" name="Text 11"/>
          <p:cNvSpPr txBox="1"/>
          <p:nvPr/>
        </p:nvSpPr>
        <p:spPr>
          <a:xfrm>
            <a:off x="7059168" y="4663440"/>
            <a:ext cx="1874520" cy="96012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mean solve time per day (560 variables)</a:t>
            </a:r>
            <a:endParaRPr lang="en-US" sz="1300" dirty="0"/>
          </a:p>
        </p:txBody>
      </p:sp>
      <p:sp>
        <p:nvSpPr>
          <p:cNvPr id="15" name="card60"/>
          <p:cNvSpPr/>
          <p:nvPr/>
        </p:nvSpPr>
        <p:spPr>
          <a:xfrm>
            <a:off x="9281160" y="3840480"/>
            <a:ext cx="2240280" cy="1874520"/>
          </a:xfrm>
          <a:prstGeom prst="roundRect">
            <a:avLst>
              <a:gd name="adj" fmla="val 5854"/>
            </a:avLst>
          </a:prstGeom>
          <a:solidFill>
            <a:srgbClr val="FFFFFF"/>
          </a:solidFill>
          <a:ln/>
        </p:spPr>
      </p:sp>
      <p:sp>
        <p:nvSpPr>
          <p:cNvPr id="16" name="Text 13"/>
          <p:cNvSpPr txBox="1"/>
          <p:nvPr/>
        </p:nvSpPr>
        <p:spPr>
          <a:xfrm>
            <a:off x="9482328" y="4023360"/>
            <a:ext cx="1920240" cy="594360"/>
          </a:xfrm>
          <a:prstGeom prst="rect">
            <a:avLst/>
          </a:prstGeom>
          <a:noFill/>
          <a:ln/>
        </p:spPr>
        <p:txBody>
          <a:bodyPr wrap="square" lIns="0" tIns="0" rIns="0" bIns="0" rtlCol="0" anchor="t"/>
          <a:lstStyle/>
          <a:p>
            <a:pPr indent="0" marL="0">
              <a:buNone/>
            </a:pPr>
            <a:r>
              <a:rPr lang="en-US" sz="3000" b="1" dirty="0">
                <a:solidFill>
                  <a:srgbClr val="5E6E73"/>
                </a:solidFill>
                <a:latin typeface="Cambria" pitchFamily="34" charset="0"/>
                <a:ea typeface="Cambria" pitchFamily="34" charset="-122"/>
                <a:cs typeface="Cambria" pitchFamily="34" charset="-120"/>
              </a:rPr>
              <a:t>13 h</a:t>
            </a:r>
            <a:endParaRPr lang="en-US" sz="3000" dirty="0"/>
          </a:p>
        </p:txBody>
      </p:sp>
      <p:sp>
        <p:nvSpPr>
          <p:cNvPr id="17" name="Text 14"/>
          <p:cNvSpPr txBox="1"/>
          <p:nvPr/>
        </p:nvSpPr>
        <p:spPr>
          <a:xfrm>
            <a:off x="9482328" y="4663440"/>
            <a:ext cx="1874520" cy="96012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for 246 appointments in Hadid 2022's full search</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rgbClr val="0F766E"/>
                </a:solidFill>
              </a:rPr>
              <a:t>RESULT 1 · BOOKING RULES</a:t>
            </a: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3400" b="1" dirty="0">
                <a:solidFill>
                  <a:srgbClr val="1C2A30"/>
                </a:solidFill>
                <a:latin typeface="Cambria" pitchFamily="34" charset="0"/>
                <a:ea typeface="Cambria" pitchFamily="34" charset="-122"/>
                <a:cs typeface="Cambria" pitchFamily="34" charset="-120"/>
              </a:rPr>
              <a:t>Two-time booking cuts overtime by 71%</a:t>
            </a:r>
            <a:endParaRPr lang="en-US" sz="3400" dirty="0"/>
          </a:p>
        </p:txBody>
      </p:sp>
      <p:graphicFrame>
        <p:nvGraphicFramePr>
          <p:cNvPr id="4" name="Chart 0" descr=""/>
          <p:cNvGraphicFramePr/>
          <p:nvPr/>
        </p:nvGraphicFramePr>
        <p:xfrm>
          <a:off x="548640" y="1737360"/>
          <a:ext cx="548640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63640" y="1737360"/>
          <a:ext cx="5349240" cy="393192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548640" y="5760720"/>
            <a:ext cx="11064240" cy="457200"/>
          </a:xfrm>
          <a:prstGeom prst="rect">
            <a:avLst/>
          </a:prstGeom>
          <a:noFill/>
          <a:ln/>
        </p:spPr>
        <p:txBody>
          <a:bodyPr wrap="square" lIns="0" tIns="0" rIns="0" bIns="0" rtlCol="0" anchor="t"/>
          <a:lstStyle/>
          <a:p>
            <a:pPr indent="0" marL="0">
              <a:buNone/>
            </a:pPr>
            <a:r>
              <a:rPr lang="en-US" sz="1250" dirty="0">
                <a:solidFill>
                  <a:srgbClr val="5E6E73"/>
                </a:solidFill>
                <a:latin typeface="Calibri" pitchFamily="34" charset="0"/>
                <a:ea typeface="Calibri" pitchFamily="34" charset="-122"/>
                <a:cs typeface="Calibri" pitchFamily="34" charset="-120"/>
              </a:rPr>
              <a:t>100 identical simulated days, 30% pre-cleared, 20 chairs, 8 nurses. 95% CIs: overtime ±5–13 min, wait ±2–4 min. Against everyone-at-08:00: overtime −71%, wait −33%.</a:t>
            </a:r>
            <a:endParaRPr lang="en-US" sz="12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rgbClr val="0F766E"/>
                </a:solidFill>
              </a:rPr>
              <a:t>RESULT 2 · PRE-CLEARANCE</a:t>
            </a: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3400" b="1" dirty="0">
                <a:solidFill>
                  <a:srgbClr val="1C2A30"/>
                </a:solidFill>
                <a:latin typeface="Cambria" pitchFamily="34" charset="0"/>
                <a:ea typeface="Cambria" pitchFamily="34" charset="-122"/>
                <a:cs typeface="Cambria" pitchFamily="34" charset="-120"/>
              </a:rPr>
              <a:t>Pre-clearing 60% of patients captures most of the gain</a:t>
            </a:r>
            <a:endParaRPr lang="en-US" sz="3400" dirty="0"/>
          </a:p>
        </p:txBody>
      </p:sp>
      <p:graphicFrame>
        <p:nvGraphicFramePr>
          <p:cNvPr id="4" name="Chart 0" descr=""/>
          <p:cNvGraphicFramePr/>
          <p:nvPr/>
        </p:nvGraphicFramePr>
        <p:xfrm>
          <a:off x="548640" y="1737360"/>
          <a:ext cx="7040880" cy="4023360"/>
        </p:xfrm>
        <a:graphic xmlns:a="http://schemas.openxmlformats.org/drawingml/2006/main">
          <a:graphicData uri="http://schemas.openxmlformats.org/drawingml/2006/chart">
            <c:chart xmlns:c="http://schemas.openxmlformats.org/drawingml/2006/chart" r:id="rId1"/>
          </a:graphicData>
        </a:graphic>
      </p:graphicFrame>
      <p:sp>
        <p:nvSpPr>
          <p:cNvPr id="5" name="card61"/>
          <p:cNvSpPr/>
          <p:nvPr/>
        </p:nvSpPr>
        <p:spPr>
          <a:xfrm>
            <a:off x="7955280" y="1783080"/>
            <a:ext cx="3657600" cy="3977640"/>
          </a:xfrm>
          <a:prstGeom prst="roundRect">
            <a:avLst>
              <a:gd name="adj" fmla="val 3000"/>
            </a:avLst>
          </a:prstGeom>
          <a:solidFill>
            <a:srgbClr val="EEF3F1"/>
          </a:solidFill>
          <a:ln/>
        </p:spPr>
      </p:sp>
      <p:sp>
        <p:nvSpPr>
          <p:cNvPr id="6" name="Text 3"/>
          <p:cNvSpPr txBox="1"/>
          <p:nvPr/>
        </p:nvSpPr>
        <p:spPr>
          <a:xfrm>
            <a:off x="8229600" y="1965960"/>
            <a:ext cx="3200400" cy="365760"/>
          </a:xfrm>
          <a:prstGeom prst="rect">
            <a:avLst/>
          </a:prstGeom>
          <a:noFill/>
          <a:ln/>
        </p:spPr>
        <p:txBody>
          <a:bodyPr wrap="square" lIns="0" tIns="0" rIns="0" bIns="0" rtlCol="0" anchor="t"/>
          <a:lstStyle/>
          <a:p>
            <a:pPr indent="0" marL="0">
              <a:buNone/>
            </a:pPr>
            <a:r>
              <a:rPr lang="en-US" sz="1400" b="1" dirty="0">
                <a:solidFill>
                  <a:srgbClr val="5E6E73"/>
                </a:solidFill>
                <a:latin typeface="Calibri" pitchFamily="34" charset="0"/>
                <a:ea typeface="Calibri" pitchFamily="34" charset="-122"/>
                <a:cs typeface="Calibri" pitchFamily="34" charset="-120"/>
              </a:rPr>
              <a:t>At 60% pre-cleared, two-time booking</a:t>
            </a:r>
            <a:endParaRPr lang="en-US" sz="1400" dirty="0"/>
          </a:p>
        </p:txBody>
      </p:sp>
      <p:sp>
        <p:nvSpPr>
          <p:cNvPr id="7" name="Text 4"/>
          <p:cNvSpPr txBox="1"/>
          <p:nvPr/>
        </p:nvSpPr>
        <p:spPr>
          <a:xfrm>
            <a:off x="8229600" y="2377440"/>
            <a:ext cx="3200400" cy="548640"/>
          </a:xfrm>
          <a:prstGeom prst="rect">
            <a:avLst/>
          </a:prstGeom>
          <a:noFill/>
          <a:ln/>
        </p:spPr>
        <p:txBody>
          <a:bodyPr wrap="square" lIns="0" tIns="0" rIns="0" bIns="0" rtlCol="0" anchor="t"/>
          <a:lstStyle/>
          <a:p>
            <a:pPr indent="0" marL="0">
              <a:buNone/>
            </a:pPr>
            <a:r>
              <a:rPr lang="en-US" sz="3600" b="1" dirty="0">
                <a:solidFill>
                  <a:srgbClr val="0F766E"/>
                </a:solidFill>
                <a:latin typeface="Cambria" pitchFamily="34" charset="0"/>
                <a:ea typeface="Cambria" pitchFamily="34" charset="-122"/>
                <a:cs typeface="Cambria" pitchFamily="34" charset="-120"/>
              </a:rPr>
              <a:t>15 min</a:t>
            </a:r>
            <a:endParaRPr lang="en-US" sz="3600" dirty="0"/>
          </a:p>
        </p:txBody>
      </p:sp>
      <p:sp>
        <p:nvSpPr>
          <p:cNvPr id="8" name="Text 5"/>
          <p:cNvSpPr txBox="1"/>
          <p:nvPr/>
        </p:nvSpPr>
        <p:spPr>
          <a:xfrm>
            <a:off x="8229600" y="2971800"/>
            <a:ext cx="3200400" cy="68580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overtime (100 at 0%)</a:t>
            </a:r>
            <a:endParaRPr lang="en-US" sz="1300" dirty="0"/>
          </a:p>
        </p:txBody>
      </p:sp>
      <p:sp>
        <p:nvSpPr>
          <p:cNvPr id="9" name="Text 6"/>
          <p:cNvSpPr txBox="1"/>
          <p:nvPr/>
        </p:nvSpPr>
        <p:spPr>
          <a:xfrm>
            <a:off x="8229600" y="3520440"/>
            <a:ext cx="3200400" cy="548640"/>
          </a:xfrm>
          <a:prstGeom prst="rect">
            <a:avLst/>
          </a:prstGeom>
          <a:noFill/>
          <a:ln/>
        </p:spPr>
        <p:txBody>
          <a:bodyPr wrap="square" lIns="0" tIns="0" rIns="0" bIns="0" rtlCol="0" anchor="t"/>
          <a:lstStyle/>
          <a:p>
            <a:pPr indent="0" marL="0">
              <a:buNone/>
            </a:pPr>
            <a:r>
              <a:rPr lang="en-US" sz="3600" b="1" dirty="0">
                <a:solidFill>
                  <a:srgbClr val="0F766E"/>
                </a:solidFill>
                <a:latin typeface="Cambria" pitchFamily="34" charset="0"/>
                <a:ea typeface="Cambria" pitchFamily="34" charset="-122"/>
                <a:cs typeface="Cambria" pitchFamily="34" charset="-120"/>
              </a:rPr>
              <a:t>178 min</a:t>
            </a:r>
            <a:endParaRPr lang="en-US" sz="3600" dirty="0"/>
          </a:p>
        </p:txBody>
      </p:sp>
      <p:sp>
        <p:nvSpPr>
          <p:cNvPr id="10" name="Text 7"/>
          <p:cNvSpPr txBox="1"/>
          <p:nvPr/>
        </p:nvSpPr>
        <p:spPr>
          <a:xfrm>
            <a:off x="8229600" y="4114800"/>
            <a:ext cx="3200400" cy="68580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mean wait (238 at 0%)</a:t>
            </a:r>
            <a:endParaRPr lang="en-US" sz="1300" dirty="0"/>
          </a:p>
        </p:txBody>
      </p:sp>
      <p:sp>
        <p:nvSpPr>
          <p:cNvPr id="11" name="Text 8"/>
          <p:cNvSpPr txBox="1"/>
          <p:nvPr/>
        </p:nvSpPr>
        <p:spPr>
          <a:xfrm>
            <a:off x="8229600" y="4663440"/>
            <a:ext cx="3246120" cy="1005840"/>
          </a:xfrm>
          <a:prstGeom prst="rect">
            <a:avLst/>
          </a:prstGeom>
          <a:noFill/>
          <a:ln/>
        </p:spPr>
        <p:txBody>
          <a:bodyPr wrap="square" lIns="0" tIns="0" rIns="0" bIns="0" rtlCol="0" anchor="t"/>
          <a:lstStyle/>
          <a:p>
            <a:pPr indent="0" marL="0">
              <a:buNone/>
            </a:pPr>
            <a:r>
              <a:rPr lang="en-US" sz="1300" dirty="0">
                <a:solidFill>
                  <a:srgbClr val="1C2A30"/>
                </a:solidFill>
                <a:latin typeface="Calibri" pitchFamily="34" charset="0"/>
                <a:ea typeface="Calibri" pitchFamily="34" charset="-122"/>
                <a:cs typeface="Calibri" pitchFamily="34" charset="-120"/>
              </a:rPr>
              <a:t>Beyond 60%, overtime falls only 15 → 4 min. Waiting keeps falling to 125 min, because each pre-cleared patient skips about 2 h of tests.</a:t>
            </a:r>
            <a:endParaRPr lang="en-US" sz="1300" dirty="0"/>
          </a:p>
        </p:txBody>
      </p:sp>
      <p:sp>
        <p:nvSpPr>
          <p:cNvPr id="12" name="Text 9"/>
          <p:cNvSpPr txBox="1"/>
          <p:nvPr/>
        </p:nvSpPr>
        <p:spPr>
          <a:xfrm>
            <a:off x="548640" y="5806440"/>
            <a:ext cx="11064240" cy="457200"/>
          </a:xfrm>
          <a:prstGeom prst="rect">
            <a:avLst/>
          </a:prstGeom>
          <a:noFill/>
          <a:ln/>
        </p:spPr>
        <p:txBody>
          <a:bodyPr wrap="square" lIns="0" tIns="0" rIns="0" bIns="0" rtlCol="0" anchor="t"/>
          <a:lstStyle/>
          <a:p>
            <a:pPr indent="0" marL="0">
              <a:buNone/>
            </a:pPr>
            <a:r>
              <a:rPr lang="en-US" sz="1250" dirty="0">
                <a:solidFill>
                  <a:srgbClr val="5E6E73"/>
                </a:solidFill>
                <a:latin typeface="Calibri" pitchFamily="34" charset="0"/>
                <a:ea typeface="Calibri" pitchFamily="34" charset="-122"/>
                <a:cs typeface="Calibri" pitchFamily="34" charset="-120"/>
              </a:rPr>
              <a:t>Under everyone-at-08:00, wait stops improving after 60% (271 → 250 min): the morning crowd at registration dominates, so pre-clearance needs two-time booking alongside it.</a:t>
            </a:r>
            <a:endParaRPr lang="en-US" sz="12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rgbClr val="0F766E"/>
                </a:solidFill>
              </a:rPr>
              <a:t>RESULT 3 · BOTTLENECKS</a:t>
            </a: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3400" b="1" dirty="0">
                <a:solidFill>
                  <a:srgbClr val="1C2A30"/>
                </a:solidFill>
                <a:latin typeface="Cambria" pitchFamily="34" charset="0"/>
                <a:ea typeface="Cambria" pitchFamily="34" charset="-122"/>
                <a:cs typeface="Cambria" pitchFamily="34" charset="-120"/>
              </a:rPr>
              <a:t>Process changes beat buying capacity</a:t>
            </a:r>
            <a:endParaRPr lang="en-US" sz="3400" dirty="0"/>
          </a:p>
        </p:txBody>
      </p:sp>
      <p:graphicFrame>
        <p:nvGraphicFramePr>
          <p:cNvPr id="4" name="Chart 0" descr=""/>
          <p:cNvGraphicFramePr/>
          <p:nvPr/>
        </p:nvGraphicFramePr>
        <p:xfrm>
          <a:off x="548640" y="1737360"/>
          <a:ext cx="6583680" cy="4114800"/>
        </p:xfrm>
        <a:graphic xmlns:a="http://schemas.openxmlformats.org/drawingml/2006/main">
          <a:graphicData uri="http://schemas.openxmlformats.org/drawingml/2006/chart">
            <c:chart xmlns:c="http://schemas.openxmlformats.org/drawingml/2006/chart" r:id="rId1"/>
          </a:graphicData>
        </a:graphic>
      </p:graphicFrame>
      <p:sp>
        <p:nvSpPr>
          <p:cNvPr id="5" name="iconbg62"/>
          <p:cNvSpPr/>
          <p:nvPr/>
        </p:nvSpPr>
        <p:spPr>
          <a:xfrm>
            <a:off x="7498080" y="1783080"/>
            <a:ext cx="502920" cy="502920"/>
          </a:xfrm>
          <a:prstGeom prst="ellipse">
            <a:avLst/>
          </a:prstGeom>
          <a:solidFill>
            <a:srgbClr val="5E6E73"/>
          </a:solidFill>
          <a:ln/>
        </p:spPr>
      </p:sp>
      <p:pic>
        <p:nvPicPr>
          <p:cNvPr id="6" name="icon62" descr="preencoded.png">    </p:cNvPr>
          <p:cNvPicPr>
            <a:picLocks noChangeAspect="1"/>
          </p:cNvPicPr>
          <p:nvPr/>
        </p:nvPicPr>
        <p:blipFill>
          <a:blip r:embed="rId2"/>
          <a:stretch>
            <a:fillRect/>
          </a:stretch>
        </p:blipFill>
        <p:spPr>
          <a:xfrm>
            <a:off x="7608722" y="1893722"/>
            <a:ext cx="281635" cy="281635"/>
          </a:xfrm>
          <a:prstGeom prst="rect">
            <a:avLst/>
          </a:prstGeom>
        </p:spPr>
      </p:pic>
      <p:sp>
        <p:nvSpPr>
          <p:cNvPr id="7" name="Text 3"/>
          <p:cNvSpPr txBox="1"/>
          <p:nvPr/>
        </p:nvSpPr>
        <p:spPr>
          <a:xfrm>
            <a:off x="8183880" y="1783080"/>
            <a:ext cx="3429000" cy="365760"/>
          </a:xfrm>
          <a:prstGeom prst="rect">
            <a:avLst/>
          </a:prstGeom>
          <a:noFill/>
          <a:ln/>
        </p:spPr>
        <p:txBody>
          <a:bodyPr wrap="square" lIns="0" tIns="0" rIns="0" bIns="0" rtlCol="0" anchor="t"/>
          <a:lstStyle/>
          <a:p>
            <a:pPr indent="0" marL="0">
              <a:buNone/>
            </a:pPr>
            <a:r>
              <a:rPr lang="en-US" sz="1550" b="1" dirty="0">
                <a:solidFill>
                  <a:srgbClr val="1C2A30"/>
                </a:solidFill>
                <a:latin typeface="Calibri" pitchFamily="34" charset="0"/>
                <a:ea typeface="Calibri" pitchFamily="34" charset="-122"/>
                <a:cs typeface="Calibri" pitchFamily="34" charset="-120"/>
              </a:rPr>
              <a:t>Chairs are not the constraint</a:t>
            </a:r>
            <a:endParaRPr lang="en-US" sz="1550" dirty="0"/>
          </a:p>
        </p:txBody>
      </p:sp>
      <p:sp>
        <p:nvSpPr>
          <p:cNvPr id="8" name="Text 4"/>
          <p:cNvSpPr txBox="1"/>
          <p:nvPr/>
        </p:nvSpPr>
        <p:spPr>
          <a:xfrm>
            <a:off x="8183880" y="2148840"/>
            <a:ext cx="3429000" cy="91440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+4 chairs: 37 → 38 min. No change.</a:t>
            </a:r>
            <a:endParaRPr lang="en-US" sz="1300" dirty="0"/>
          </a:p>
        </p:txBody>
      </p:sp>
      <p:sp>
        <p:nvSpPr>
          <p:cNvPr id="9" name="iconbg63"/>
          <p:cNvSpPr/>
          <p:nvPr/>
        </p:nvSpPr>
        <p:spPr>
          <a:xfrm>
            <a:off x="7498080" y="3154680"/>
            <a:ext cx="502920" cy="502920"/>
          </a:xfrm>
          <a:prstGeom prst="ellipse">
            <a:avLst/>
          </a:prstGeom>
          <a:solidFill>
            <a:srgbClr val="5E6E73"/>
          </a:solidFill>
          <a:ln/>
        </p:spPr>
      </p:sp>
      <p:pic>
        <p:nvPicPr>
          <p:cNvPr id="10" name="icon63" descr="preencoded.png">    </p:cNvPr>
          <p:cNvPicPr>
            <a:picLocks noChangeAspect="1"/>
          </p:cNvPicPr>
          <p:nvPr/>
        </p:nvPicPr>
        <p:blipFill>
          <a:blip r:embed="rId3"/>
          <a:stretch>
            <a:fillRect/>
          </a:stretch>
        </p:blipFill>
        <p:spPr>
          <a:xfrm>
            <a:off x="7608722" y="3265322"/>
            <a:ext cx="281635" cy="281635"/>
          </a:xfrm>
          <a:prstGeom prst="rect">
            <a:avLst/>
          </a:prstGeom>
        </p:spPr>
      </p:pic>
      <p:sp>
        <p:nvSpPr>
          <p:cNvPr id="11" name="Text 6"/>
          <p:cNvSpPr txBox="1"/>
          <p:nvPr/>
        </p:nvSpPr>
        <p:spPr>
          <a:xfrm>
            <a:off x="8183880" y="3154680"/>
            <a:ext cx="3429000" cy="365760"/>
          </a:xfrm>
          <a:prstGeom prst="rect">
            <a:avLst/>
          </a:prstGeom>
          <a:noFill/>
          <a:ln/>
        </p:spPr>
        <p:txBody>
          <a:bodyPr wrap="square" lIns="0" tIns="0" rIns="0" bIns="0" rtlCol="0" anchor="t"/>
          <a:lstStyle/>
          <a:p>
            <a:pPr indent="0" marL="0">
              <a:buNone/>
            </a:pPr>
            <a:r>
              <a:rPr lang="en-US" sz="1550" b="1" dirty="0">
                <a:solidFill>
                  <a:srgbClr val="1C2A30"/>
                </a:solidFill>
                <a:latin typeface="Calibri" pitchFamily="34" charset="0"/>
                <a:ea typeface="Calibri" pitchFamily="34" charset="-122"/>
                <a:cs typeface="Calibri" pitchFamily="34" charset="-120"/>
              </a:rPr>
              <a:t>Extra nurses moved the queue</a:t>
            </a:r>
            <a:endParaRPr lang="en-US" sz="1550" dirty="0"/>
          </a:p>
        </p:txBody>
      </p:sp>
      <p:sp>
        <p:nvSpPr>
          <p:cNvPr id="12" name="Text 7"/>
          <p:cNvSpPr txBox="1"/>
          <p:nvPr/>
        </p:nvSpPr>
        <p:spPr>
          <a:xfrm>
            <a:off x="8183880" y="3520440"/>
            <a:ext cx="3429000" cy="91440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Without the arrival cap, the plan bunched arrivals: registration queue 13 → 28 min. With the cap, 10 nurses cut overtime to 28 min.</a:t>
            </a:r>
            <a:endParaRPr lang="en-US" sz="1300" dirty="0"/>
          </a:p>
        </p:txBody>
      </p:sp>
      <p:sp>
        <p:nvSpPr>
          <p:cNvPr id="13" name="iconbg64"/>
          <p:cNvSpPr/>
          <p:nvPr/>
        </p:nvSpPr>
        <p:spPr>
          <a:xfrm>
            <a:off x="7498080" y="4526280"/>
            <a:ext cx="502920" cy="502920"/>
          </a:xfrm>
          <a:prstGeom prst="ellipse">
            <a:avLst/>
          </a:prstGeom>
          <a:solidFill>
            <a:schemeClr val="accent1"/>
          </a:solidFill>
          <a:ln/>
        </p:spPr>
      </p:sp>
      <p:pic>
        <p:nvPicPr>
          <p:cNvPr id="14" name="icon64" descr="preencoded.png">    </p:cNvPr>
          <p:cNvPicPr>
            <a:picLocks noChangeAspect="1"/>
          </p:cNvPicPr>
          <p:nvPr/>
        </p:nvPicPr>
        <p:blipFill>
          <a:blip r:embed="rId4"/>
          <a:stretch>
            <a:fillRect/>
          </a:stretch>
        </p:blipFill>
        <p:spPr>
          <a:xfrm>
            <a:off x="7608722" y="4636922"/>
            <a:ext cx="281635" cy="281635"/>
          </a:xfrm>
          <a:prstGeom prst="rect">
            <a:avLst/>
          </a:prstGeom>
        </p:spPr>
      </p:pic>
      <p:sp>
        <p:nvSpPr>
          <p:cNvPr id="15" name="Text 9"/>
          <p:cNvSpPr txBox="1"/>
          <p:nvPr/>
        </p:nvSpPr>
        <p:spPr>
          <a:xfrm>
            <a:off x="8183880" y="4526280"/>
            <a:ext cx="3429000" cy="365760"/>
          </a:xfrm>
          <a:prstGeom prst="rect">
            <a:avLst/>
          </a:prstGeom>
          <a:noFill/>
          <a:ln/>
        </p:spPr>
        <p:txBody>
          <a:bodyPr wrap="square" lIns="0" tIns="0" rIns="0" bIns="0" rtlCol="0" anchor="t"/>
          <a:lstStyle/>
          <a:p>
            <a:pPr indent="0" marL="0">
              <a:buNone/>
            </a:pPr>
            <a:r>
              <a:rPr lang="en-US" sz="1550" b="1" dirty="0">
                <a:solidFill>
                  <a:srgbClr val="1C2A30"/>
                </a:solidFill>
                <a:latin typeface="Calibri" pitchFamily="34" charset="0"/>
                <a:ea typeface="Calibri" pitchFamily="34" charset="-122"/>
                <a:cs typeface="Calibri" pitchFamily="34" charset="-120"/>
              </a:rPr>
              <a:t>Best package, no new staff</a:t>
            </a:r>
            <a:endParaRPr lang="en-US" sz="1550" dirty="0"/>
          </a:p>
        </p:txBody>
      </p:sp>
      <p:sp>
        <p:nvSpPr>
          <p:cNvPr id="16" name="Text 10"/>
          <p:cNvSpPr txBox="1"/>
          <p:nvPr/>
        </p:nvSpPr>
        <p:spPr>
          <a:xfrm>
            <a:off x="8183880" y="4892040"/>
            <a:ext cx="3429000" cy="91440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Pre-clear 60% and pre-compound: wait 157 min, overtime 10 min. With the arrival cap: 145 min (40-day run).</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rgbClr val="0F766E"/>
                </a:solidFill>
              </a:rPr>
              <a:t>RESULT 4 · ROBUSTNESS</a:t>
            </a: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3400" b="1" dirty="0">
                <a:solidFill>
                  <a:srgbClr val="1C2A30"/>
                </a:solidFill>
                <a:latin typeface="Cambria" pitchFamily="34" charset="0"/>
                <a:ea typeface="Cambria" pitchFamily="34" charset="-122"/>
                <a:cs typeface="Cambria" pitchFamily="34" charset="-120"/>
              </a:rPr>
              <a:t>The plan survives wrong inputs, except a slow lab</a:t>
            </a:r>
            <a:endParaRPr lang="en-US" sz="3400" dirty="0"/>
          </a:p>
        </p:txBody>
      </p:sp>
      <p:graphicFrame>
        <p:nvGraphicFramePr>
          <p:cNvPr id="4" name="Chart 0" descr=""/>
          <p:cNvGraphicFramePr/>
          <p:nvPr/>
        </p:nvGraphicFramePr>
        <p:xfrm>
          <a:off x="548640" y="1737360"/>
          <a:ext cx="7315200" cy="4069080"/>
        </p:xfrm>
        <a:graphic xmlns:a="http://schemas.openxmlformats.org/drawingml/2006/main">
          <a:graphicData uri="http://schemas.openxmlformats.org/drawingml/2006/chart">
            <c:chart xmlns:c="http://schemas.openxmlformats.org/drawingml/2006/chart" r:id="rId1"/>
          </a:graphicData>
        </a:graphic>
      </p:graphicFrame>
      <p:sp>
        <p:nvSpPr>
          <p:cNvPr id="5" name="card65"/>
          <p:cNvSpPr/>
          <p:nvPr/>
        </p:nvSpPr>
        <p:spPr>
          <a:xfrm>
            <a:off x="8183880" y="1783080"/>
            <a:ext cx="3429000" cy="4023360"/>
          </a:xfrm>
          <a:prstGeom prst="roundRect">
            <a:avLst>
              <a:gd name="adj" fmla="val 3200"/>
            </a:avLst>
          </a:prstGeom>
          <a:solidFill>
            <a:srgbClr val="EEF3F1"/>
          </a:solidFill>
          <a:ln/>
        </p:spPr>
      </p:sp>
      <p:sp>
        <p:nvSpPr>
          <p:cNvPr id="6" name="iconbg66"/>
          <p:cNvSpPr/>
          <p:nvPr/>
        </p:nvSpPr>
        <p:spPr>
          <a:xfrm>
            <a:off x="8412480" y="2011680"/>
            <a:ext cx="502920" cy="502920"/>
          </a:xfrm>
          <a:prstGeom prst="ellipse">
            <a:avLst/>
          </a:prstGeom>
          <a:solidFill>
            <a:schemeClr val="accent1"/>
          </a:solidFill>
          <a:ln/>
        </p:spPr>
      </p:sp>
      <p:pic>
        <p:nvPicPr>
          <p:cNvPr id="7" name="icon66" descr="preencoded.png">    </p:cNvPr>
          <p:cNvPicPr>
            <a:picLocks noChangeAspect="1"/>
          </p:cNvPicPr>
          <p:nvPr/>
        </p:nvPicPr>
        <p:blipFill>
          <a:blip r:embed="rId2"/>
          <a:stretch>
            <a:fillRect/>
          </a:stretch>
        </p:blipFill>
        <p:spPr>
          <a:xfrm>
            <a:off x="8523122" y="2122322"/>
            <a:ext cx="281635" cy="281635"/>
          </a:xfrm>
          <a:prstGeom prst="rect">
            <a:avLst/>
          </a:prstGeom>
        </p:spPr>
      </p:pic>
      <p:sp>
        <p:nvSpPr>
          <p:cNvPr id="8" name="Text 4"/>
          <p:cNvSpPr txBox="1"/>
          <p:nvPr/>
        </p:nvSpPr>
        <p:spPr>
          <a:xfrm>
            <a:off x="8412480" y="2651760"/>
            <a:ext cx="3017520" cy="640080"/>
          </a:xfrm>
          <a:prstGeom prst="rect">
            <a:avLst/>
          </a:prstGeom>
          <a:noFill/>
          <a:ln/>
        </p:spPr>
        <p:txBody>
          <a:bodyPr wrap="square" lIns="0" tIns="0" rIns="0" bIns="0" rtlCol="0" anchor="t"/>
          <a:lstStyle/>
          <a:p>
            <a:pPr indent="0" marL="0">
              <a:buNone/>
            </a:pPr>
            <a:r>
              <a:rPr lang="en-US" sz="1500" b="1" dirty="0">
                <a:solidFill>
                  <a:srgbClr val="1C2A30"/>
                </a:solidFill>
                <a:latin typeface="Calibri" pitchFamily="34" charset="0"/>
                <a:ea typeface="Calibri" pitchFamily="34" charset="-122"/>
                <a:cs typeface="Calibri" pitchFamily="34" charset="-120"/>
              </a:rPr>
              <a:t>Two-time booking wins in all 6 cases</a:t>
            </a:r>
            <a:endParaRPr lang="en-US" sz="1500" dirty="0"/>
          </a:p>
        </p:txBody>
      </p:sp>
      <p:sp>
        <p:nvSpPr>
          <p:cNvPr id="9" name="Text 5"/>
          <p:cNvSpPr txBox="1"/>
          <p:nvPr/>
        </p:nvSpPr>
        <p:spPr>
          <a:xfrm>
            <a:off x="8412480" y="3291840"/>
            <a:ext cx="3017520" cy="64008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Doubling every spread costs 18 min of overtime (37 → 55).</a:t>
            </a:r>
            <a:endParaRPr lang="en-US" sz="1300" dirty="0"/>
          </a:p>
        </p:txBody>
      </p:sp>
      <p:sp>
        <p:nvSpPr>
          <p:cNvPr id="10" name="iconbg67"/>
          <p:cNvSpPr/>
          <p:nvPr/>
        </p:nvSpPr>
        <p:spPr>
          <a:xfrm>
            <a:off x="8412480" y="3977640"/>
            <a:ext cx="502920" cy="502920"/>
          </a:xfrm>
          <a:prstGeom prst="ellipse">
            <a:avLst/>
          </a:prstGeom>
          <a:solidFill>
            <a:schemeClr val="accent2"/>
          </a:solidFill>
          <a:ln/>
        </p:spPr>
      </p:sp>
      <p:pic>
        <p:nvPicPr>
          <p:cNvPr id="11" name="icon67" descr="preencoded.png">    </p:cNvPr>
          <p:cNvPicPr>
            <a:picLocks noChangeAspect="1"/>
          </p:cNvPicPr>
          <p:nvPr/>
        </p:nvPicPr>
        <p:blipFill>
          <a:blip r:embed="rId3"/>
          <a:stretch>
            <a:fillRect/>
          </a:stretch>
        </p:blipFill>
        <p:spPr>
          <a:xfrm>
            <a:off x="8523122" y="4088282"/>
            <a:ext cx="281635" cy="281635"/>
          </a:xfrm>
          <a:prstGeom prst="rect">
            <a:avLst/>
          </a:prstGeom>
        </p:spPr>
      </p:pic>
      <p:sp>
        <p:nvSpPr>
          <p:cNvPr id="12" name="Text 7"/>
          <p:cNvSpPr txBox="1"/>
          <p:nvPr/>
        </p:nvSpPr>
        <p:spPr>
          <a:xfrm>
            <a:off x="8412480" y="4617720"/>
            <a:ext cx="3017520" cy="1005840"/>
          </a:xfrm>
          <a:prstGeom prst="rect">
            <a:avLst/>
          </a:prstGeom>
          <a:noFill/>
          <a:ln/>
        </p:spPr>
        <p:txBody>
          <a:bodyPr wrap="square" lIns="0" tIns="0" rIns="0" bIns="0" rtlCol="0" anchor="t"/>
          <a:lstStyle/>
          <a:p>
            <a:pPr indent="0" marL="0">
              <a:buNone/>
            </a:pPr>
            <a:r>
              <a:rPr lang="en-US" sz="1300" b="1" dirty="0">
                <a:solidFill>
                  <a:srgbClr val="EB6834"/>
                </a:solidFill>
                <a:latin typeface="Calibri" pitchFamily="34" charset="0"/>
                <a:ea typeface="Calibri" pitchFamily="34" charset="-122"/>
                <a:cs typeface="Calibri" pitchFamily="34" charset="-120"/>
              </a:rPr>
              <a:t>A 2–4 h lab breaks the buffers: 137 min overtime. Measure lab turnaround first at TMH.</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rgbClr val="9FC9C3"/>
                </a:solidFill>
              </a:rPr>
              <a:t>WHAT WE ACHIEVED</a:t>
            </a: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Same staff: half the wait, a tenth of the overtime</a:t>
            </a:r>
            <a:endParaRPr lang="en-US" sz="3400" dirty="0"/>
          </a:p>
        </p:txBody>
      </p:sp>
      <p:sp>
        <p:nvSpPr>
          <p:cNvPr id="4" name="hs68"/>
          <p:cNvSpPr/>
          <p:nvPr/>
        </p:nvSpPr>
        <p:spPr>
          <a:xfrm>
            <a:off x="548640" y="1828800"/>
            <a:ext cx="2606040" cy="3108960"/>
          </a:xfrm>
          <a:prstGeom prst="roundRect">
            <a:avLst>
              <a:gd name="adj" fmla="val 4912"/>
            </a:avLst>
          </a:prstGeom>
          <a:solidFill>
            <a:srgbClr val="1C4541"/>
          </a:solidFill>
          <a:ln/>
        </p:spPr>
      </p:sp>
      <p:sp>
        <p:nvSpPr>
          <p:cNvPr id="5" name="Text 3"/>
          <p:cNvSpPr txBox="1"/>
          <p:nvPr/>
        </p:nvSpPr>
        <p:spPr>
          <a:xfrm>
            <a:off x="777240" y="2103120"/>
            <a:ext cx="2194560" cy="1005840"/>
          </a:xfrm>
          <a:prstGeom prst="rect">
            <a:avLst/>
          </a:prstGeom>
          <a:noFill/>
          <a:ln/>
        </p:spPr>
        <p:txBody>
          <a:bodyPr wrap="square" lIns="0" tIns="0" rIns="0" bIns="0" rtlCol="0" anchor="t"/>
          <a:lstStyle/>
          <a:p>
            <a:pPr indent="0" marL="0">
              <a:buNone/>
            </a:pPr>
            <a:r>
              <a:rPr lang="en-US" sz="5400" b="1" dirty="0">
                <a:solidFill>
                  <a:srgbClr val="7FD1C7"/>
                </a:solidFill>
                <a:latin typeface="Cambria" pitchFamily="34" charset="0"/>
                <a:ea typeface="Cambria" pitchFamily="34" charset="-122"/>
                <a:cs typeface="Cambria" pitchFamily="34" charset="-120"/>
              </a:rPr>
              <a:t>−50%</a:t>
            </a:r>
            <a:endParaRPr lang="en-US" sz="5400" dirty="0"/>
          </a:p>
        </p:txBody>
      </p:sp>
      <p:sp>
        <p:nvSpPr>
          <p:cNvPr id="6" name="Text 4"/>
          <p:cNvSpPr txBox="1"/>
          <p:nvPr/>
        </p:nvSpPr>
        <p:spPr>
          <a:xfrm>
            <a:off x="777240" y="3246120"/>
            <a:ext cx="2194560" cy="6858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mean wait before the drip</a:t>
            </a:r>
            <a:endParaRPr lang="en-US" sz="1600" dirty="0"/>
          </a:p>
        </p:txBody>
      </p:sp>
      <p:sp>
        <p:nvSpPr>
          <p:cNvPr id="7" name="Text 5"/>
          <p:cNvSpPr txBox="1"/>
          <p:nvPr/>
        </p:nvSpPr>
        <p:spPr>
          <a:xfrm>
            <a:off x="777240" y="4160520"/>
            <a:ext cx="2194560" cy="457200"/>
          </a:xfrm>
          <a:prstGeom prst="rect">
            <a:avLst/>
          </a:prstGeom>
          <a:noFill/>
          <a:ln/>
        </p:spPr>
        <p:txBody>
          <a:bodyPr wrap="square" lIns="0" tIns="0" rIns="0" bIns="0" rtlCol="0" anchor="t"/>
          <a:lstStyle/>
          <a:p>
            <a:pPr indent="0" marL="0">
              <a:buNone/>
            </a:pPr>
            <a:r>
              <a:rPr lang="en-US" sz="1400" dirty="0">
                <a:solidFill>
                  <a:srgbClr val="9FC9C3"/>
                </a:solidFill>
                <a:latin typeface="Calibri" pitchFamily="34" charset="0"/>
                <a:ea typeface="Calibri" pitchFamily="34" charset="-122"/>
                <a:cs typeface="Calibri" pitchFamily="34" charset="-120"/>
              </a:rPr>
              <a:t>316 → 157 min</a:t>
            </a:r>
            <a:endParaRPr lang="en-US" sz="1400" dirty="0"/>
          </a:p>
        </p:txBody>
      </p:sp>
      <p:sp>
        <p:nvSpPr>
          <p:cNvPr id="8" name="hs69"/>
          <p:cNvSpPr/>
          <p:nvPr/>
        </p:nvSpPr>
        <p:spPr>
          <a:xfrm>
            <a:off x="3364992" y="1828800"/>
            <a:ext cx="2606040" cy="3108960"/>
          </a:xfrm>
          <a:prstGeom prst="roundRect">
            <a:avLst>
              <a:gd name="adj" fmla="val 4912"/>
            </a:avLst>
          </a:prstGeom>
          <a:solidFill>
            <a:srgbClr val="1C4541"/>
          </a:solidFill>
          <a:ln/>
        </p:spPr>
      </p:sp>
      <p:sp>
        <p:nvSpPr>
          <p:cNvPr id="9" name="Text 7"/>
          <p:cNvSpPr txBox="1"/>
          <p:nvPr/>
        </p:nvSpPr>
        <p:spPr>
          <a:xfrm>
            <a:off x="3593592" y="2103120"/>
            <a:ext cx="2194560" cy="1005840"/>
          </a:xfrm>
          <a:prstGeom prst="rect">
            <a:avLst/>
          </a:prstGeom>
          <a:noFill/>
          <a:ln/>
        </p:spPr>
        <p:txBody>
          <a:bodyPr wrap="square" lIns="0" tIns="0" rIns="0" bIns="0" rtlCol="0" anchor="t"/>
          <a:lstStyle/>
          <a:p>
            <a:pPr indent="0" marL="0">
              <a:buNone/>
            </a:pPr>
            <a:r>
              <a:rPr lang="en-US" sz="5400" b="1" dirty="0">
                <a:solidFill>
                  <a:srgbClr val="F6A57F"/>
                </a:solidFill>
                <a:latin typeface="Cambria" pitchFamily="34" charset="0"/>
                <a:ea typeface="Cambria" pitchFamily="34" charset="-122"/>
                <a:cs typeface="Cambria" pitchFamily="34" charset="-120"/>
              </a:rPr>
              <a:t>−92%</a:t>
            </a:r>
            <a:endParaRPr lang="en-US" sz="5400" dirty="0"/>
          </a:p>
        </p:txBody>
      </p:sp>
      <p:sp>
        <p:nvSpPr>
          <p:cNvPr id="10" name="Text 8"/>
          <p:cNvSpPr txBox="1"/>
          <p:nvPr/>
        </p:nvSpPr>
        <p:spPr>
          <a:xfrm>
            <a:off x="3593592" y="3246120"/>
            <a:ext cx="2194560" cy="6858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overtime after closing</a:t>
            </a:r>
            <a:endParaRPr lang="en-US" sz="1600" dirty="0"/>
          </a:p>
        </p:txBody>
      </p:sp>
      <p:sp>
        <p:nvSpPr>
          <p:cNvPr id="11" name="Text 9"/>
          <p:cNvSpPr txBox="1"/>
          <p:nvPr/>
        </p:nvSpPr>
        <p:spPr>
          <a:xfrm>
            <a:off x="3593592" y="4160520"/>
            <a:ext cx="2194560" cy="457200"/>
          </a:xfrm>
          <a:prstGeom prst="rect">
            <a:avLst/>
          </a:prstGeom>
          <a:noFill/>
          <a:ln/>
        </p:spPr>
        <p:txBody>
          <a:bodyPr wrap="square" lIns="0" tIns="0" rIns="0" bIns="0" rtlCol="0" anchor="t"/>
          <a:lstStyle/>
          <a:p>
            <a:pPr indent="0" marL="0">
              <a:buNone/>
            </a:pPr>
            <a:r>
              <a:rPr lang="en-US" sz="1400" dirty="0">
                <a:solidFill>
                  <a:srgbClr val="9FC9C3"/>
                </a:solidFill>
                <a:latin typeface="Calibri" pitchFamily="34" charset="0"/>
                <a:ea typeface="Calibri" pitchFamily="34" charset="-122"/>
                <a:cs typeface="Calibri" pitchFamily="34" charset="-120"/>
              </a:rPr>
              <a:t>127 → 10 min a day</a:t>
            </a:r>
            <a:endParaRPr lang="en-US" sz="1400" dirty="0"/>
          </a:p>
        </p:txBody>
      </p:sp>
      <p:sp>
        <p:nvSpPr>
          <p:cNvPr id="12" name="hs70"/>
          <p:cNvSpPr/>
          <p:nvPr/>
        </p:nvSpPr>
        <p:spPr>
          <a:xfrm>
            <a:off x="6181344" y="1828800"/>
            <a:ext cx="2606040" cy="3108960"/>
          </a:xfrm>
          <a:prstGeom prst="roundRect">
            <a:avLst>
              <a:gd name="adj" fmla="val 4912"/>
            </a:avLst>
          </a:prstGeom>
          <a:solidFill>
            <a:srgbClr val="1C4541"/>
          </a:solidFill>
          <a:ln/>
        </p:spPr>
      </p:sp>
      <p:sp>
        <p:nvSpPr>
          <p:cNvPr id="13" name="Text 11"/>
          <p:cNvSpPr txBox="1"/>
          <p:nvPr/>
        </p:nvSpPr>
        <p:spPr>
          <a:xfrm>
            <a:off x="6409944" y="2103120"/>
            <a:ext cx="2194560" cy="1005840"/>
          </a:xfrm>
          <a:prstGeom prst="rect">
            <a:avLst/>
          </a:prstGeom>
          <a:noFill/>
          <a:ln/>
        </p:spPr>
        <p:txBody>
          <a:bodyPr wrap="square" lIns="0" tIns="0" rIns="0" bIns="0" rtlCol="0" anchor="t"/>
          <a:lstStyle/>
          <a:p>
            <a:pPr indent="0" marL="0">
              <a:buNone/>
            </a:pPr>
            <a:r>
              <a:rPr lang="en-US" sz="5400" b="1" dirty="0">
                <a:solidFill>
                  <a:srgbClr val="7FD1C7"/>
                </a:solidFill>
                <a:latin typeface="Cambria" pitchFamily="34" charset="0"/>
                <a:ea typeface="Cambria" pitchFamily="34" charset="-122"/>
                <a:cs typeface="Cambria" pitchFamily="34" charset="-120"/>
              </a:rPr>
              <a:t>−71%</a:t>
            </a:r>
            <a:endParaRPr lang="en-US" sz="5400" dirty="0"/>
          </a:p>
        </p:txBody>
      </p:sp>
      <p:sp>
        <p:nvSpPr>
          <p:cNvPr id="14" name="Text 12"/>
          <p:cNvSpPr txBox="1"/>
          <p:nvPr/>
        </p:nvSpPr>
        <p:spPr>
          <a:xfrm>
            <a:off x="6409944" y="3246120"/>
            <a:ext cx="2194560" cy="6858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overtime from booking alone</a:t>
            </a:r>
            <a:endParaRPr lang="en-US" sz="1600" dirty="0"/>
          </a:p>
        </p:txBody>
      </p:sp>
      <p:sp>
        <p:nvSpPr>
          <p:cNvPr id="15" name="Text 13"/>
          <p:cNvSpPr txBox="1"/>
          <p:nvPr/>
        </p:nvSpPr>
        <p:spPr>
          <a:xfrm>
            <a:off x="6409944" y="4160520"/>
            <a:ext cx="2194560" cy="457200"/>
          </a:xfrm>
          <a:prstGeom prst="rect">
            <a:avLst/>
          </a:prstGeom>
          <a:noFill/>
          <a:ln/>
        </p:spPr>
        <p:txBody>
          <a:bodyPr wrap="square" lIns="0" tIns="0" rIns="0" bIns="0" rtlCol="0" anchor="t"/>
          <a:lstStyle/>
          <a:p>
            <a:pPr indent="0" marL="0">
              <a:buNone/>
            </a:pPr>
            <a:r>
              <a:rPr lang="en-US" sz="1400" dirty="0">
                <a:solidFill>
                  <a:srgbClr val="9FC9C3"/>
                </a:solidFill>
                <a:latin typeface="Calibri" pitchFamily="34" charset="0"/>
                <a:ea typeface="Calibri" pitchFamily="34" charset="-122"/>
                <a:cs typeface="Calibri" pitchFamily="34" charset="-120"/>
              </a:rPr>
              <a:t>127 → 37 min</a:t>
            </a:r>
            <a:endParaRPr lang="en-US" sz="1400" dirty="0"/>
          </a:p>
        </p:txBody>
      </p:sp>
      <p:sp>
        <p:nvSpPr>
          <p:cNvPr id="16" name="hs71"/>
          <p:cNvSpPr/>
          <p:nvPr/>
        </p:nvSpPr>
        <p:spPr>
          <a:xfrm>
            <a:off x="8997696" y="1828800"/>
            <a:ext cx="2606040" cy="3108960"/>
          </a:xfrm>
          <a:prstGeom prst="roundRect">
            <a:avLst>
              <a:gd name="adj" fmla="val 4912"/>
            </a:avLst>
          </a:prstGeom>
          <a:solidFill>
            <a:srgbClr val="1C4541"/>
          </a:solidFill>
          <a:ln/>
        </p:spPr>
      </p:sp>
      <p:sp>
        <p:nvSpPr>
          <p:cNvPr id="17" name="Text 15"/>
          <p:cNvSpPr txBox="1"/>
          <p:nvPr/>
        </p:nvSpPr>
        <p:spPr>
          <a:xfrm>
            <a:off x="9226296" y="2103120"/>
            <a:ext cx="2194560" cy="1005840"/>
          </a:xfrm>
          <a:prstGeom prst="rect">
            <a:avLst/>
          </a:prstGeom>
          <a:noFill/>
          <a:ln/>
        </p:spPr>
        <p:txBody>
          <a:bodyPr wrap="square" lIns="0" tIns="0" rIns="0" bIns="0" rtlCol="0" anchor="t"/>
          <a:lstStyle/>
          <a:p>
            <a:pPr indent="0" marL="0">
              <a:buNone/>
            </a:pPr>
            <a:r>
              <a:rPr lang="en-US" sz="5400" b="1" dirty="0">
                <a:solidFill>
                  <a:srgbClr val="7FD1C7"/>
                </a:solidFill>
                <a:latin typeface="Cambria" pitchFamily="34" charset="0"/>
                <a:ea typeface="Cambria" pitchFamily="34" charset="-122"/>
                <a:cs typeface="Cambria" pitchFamily="34" charset="-120"/>
              </a:rPr>
              <a:t>0</a:t>
            </a:r>
            <a:endParaRPr lang="en-US" sz="5400" dirty="0"/>
          </a:p>
        </p:txBody>
      </p:sp>
      <p:sp>
        <p:nvSpPr>
          <p:cNvPr id="18" name="Text 16"/>
          <p:cNvSpPr txBox="1"/>
          <p:nvPr/>
        </p:nvSpPr>
        <p:spPr>
          <a:xfrm>
            <a:off x="9226296" y="3246120"/>
            <a:ext cx="2194560" cy="6858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new chairs, nurses or doctors</a:t>
            </a:r>
            <a:endParaRPr lang="en-US" sz="1600" dirty="0"/>
          </a:p>
        </p:txBody>
      </p:sp>
      <p:sp>
        <p:nvSpPr>
          <p:cNvPr id="19" name="Text 17"/>
          <p:cNvSpPr txBox="1"/>
          <p:nvPr/>
        </p:nvSpPr>
        <p:spPr>
          <a:xfrm>
            <a:off x="9226296" y="4160520"/>
            <a:ext cx="2194560" cy="457200"/>
          </a:xfrm>
          <a:prstGeom prst="rect">
            <a:avLst/>
          </a:prstGeom>
          <a:noFill/>
          <a:ln/>
        </p:spPr>
        <p:txBody>
          <a:bodyPr wrap="square" lIns="0" tIns="0" rIns="0" bIns="0" rtlCol="0" anchor="t"/>
          <a:lstStyle/>
          <a:p>
            <a:pPr indent="0" marL="0">
              <a:buNone/>
            </a:pPr>
            <a:r>
              <a:rPr lang="en-US" sz="1400" dirty="0">
                <a:solidFill>
                  <a:srgbClr val="9FC9C3"/>
                </a:solidFill>
                <a:latin typeface="Calibri" pitchFamily="34" charset="0"/>
                <a:ea typeface="Calibri" pitchFamily="34" charset="-122"/>
                <a:cs typeface="Calibri" pitchFamily="34" charset="-120"/>
              </a:rPr>
              <a:t>process changes only</a:t>
            </a:r>
            <a:endParaRPr lang="en-US" sz="1400" dirty="0"/>
          </a:p>
        </p:txBody>
      </p:sp>
      <p:sp>
        <p:nvSpPr>
          <p:cNvPr id="20" name="Text 18"/>
          <p:cNvSpPr txBox="1"/>
          <p:nvPr/>
        </p:nvSpPr>
        <p:spPr>
          <a:xfrm>
            <a:off x="548640" y="5257800"/>
            <a:ext cx="11064240" cy="548640"/>
          </a:xfrm>
          <a:prstGeom prst="rect">
            <a:avLst/>
          </a:prstGeom>
          <a:noFill/>
          <a:ln/>
        </p:spPr>
        <p:txBody>
          <a:bodyPr wrap="square" lIns="0" tIns="0" rIns="0" bIns="0" rtlCol="0" anchor="t"/>
          <a:lstStyle/>
          <a:p>
            <a:pPr indent="0" marL="0">
              <a:buNone/>
            </a:pPr>
            <a:r>
              <a:rPr lang="en-US" sz="1400" dirty="0">
                <a:solidFill>
                  <a:srgbClr val="D7EAE6"/>
                </a:solidFill>
                <a:latin typeface="Calibri" pitchFamily="34" charset="0"/>
                <a:ea typeface="Calibri" pitchFamily="34" charset="-122"/>
                <a:cs typeface="Calibri" pitchFamily="34" charset="-120"/>
              </a:rPr>
              <a:t>Two-time booking + 60% pre-cleared + pre-compounded drugs, against everyone told 08:00. 100 identical simulated days, 20 chairs, 8 nurses.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C9C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rgbClr val="0F766E"/>
                </a:solidFill>
              </a:rPr>
              <a:t>ASSUMPTIONS AND LIMITS</a:t>
            </a: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3400" b="1" dirty="0">
                <a:solidFill>
                  <a:srgbClr val="1C2A30"/>
                </a:solidFill>
                <a:latin typeface="Cambria" pitchFamily="34" charset="0"/>
                <a:ea typeface="Cambria" pitchFamily="34" charset="-122"/>
                <a:cs typeface="Cambria" pitchFamily="34" charset="-120"/>
              </a:rPr>
              <a:t>What these numbers rest on</a:t>
            </a:r>
            <a:endParaRPr lang="en-US" sz="3400" dirty="0"/>
          </a:p>
        </p:txBody>
      </p:sp>
      <p:sp>
        <p:nvSpPr>
          <p:cNvPr id="4" name="card72"/>
          <p:cNvSpPr/>
          <p:nvPr/>
        </p:nvSpPr>
        <p:spPr>
          <a:xfrm>
            <a:off x="548640" y="1737360"/>
            <a:ext cx="5440680" cy="2057400"/>
          </a:xfrm>
          <a:prstGeom prst="roundRect">
            <a:avLst>
              <a:gd name="adj" fmla="val 5333"/>
            </a:avLst>
          </a:prstGeom>
          <a:solidFill>
            <a:srgbClr val="EEF3F1"/>
          </a:solidFill>
          <a:ln/>
        </p:spPr>
      </p:sp>
      <p:sp>
        <p:nvSpPr>
          <p:cNvPr id="5" name="iconbg73"/>
          <p:cNvSpPr/>
          <p:nvPr/>
        </p:nvSpPr>
        <p:spPr>
          <a:xfrm>
            <a:off x="777240" y="1965960"/>
            <a:ext cx="457200" cy="457200"/>
          </a:xfrm>
          <a:prstGeom prst="ellipse">
            <a:avLst/>
          </a:prstGeom>
          <a:solidFill>
            <a:schemeClr val="accent1"/>
          </a:solidFill>
          <a:ln/>
        </p:spPr>
      </p:sp>
      <p:pic>
        <p:nvPicPr>
          <p:cNvPr id="6" name="icon73" descr="preencoded.png">    </p:cNvPr>
          <p:cNvPicPr>
            <a:picLocks noChangeAspect="1"/>
          </p:cNvPicPr>
          <p:nvPr/>
        </p:nvPicPr>
        <p:blipFill>
          <a:blip r:embed="rId1"/>
          <a:stretch>
            <a:fillRect/>
          </a:stretch>
        </p:blipFill>
        <p:spPr>
          <a:xfrm>
            <a:off x="877824" y="2066544"/>
            <a:ext cx="256032" cy="256032"/>
          </a:xfrm>
          <a:prstGeom prst="rect">
            <a:avLst/>
          </a:prstGeom>
        </p:spPr>
      </p:pic>
      <p:sp>
        <p:nvSpPr>
          <p:cNvPr id="7" name="Text 4"/>
          <p:cNvSpPr txBox="1"/>
          <p:nvPr/>
        </p:nvSpPr>
        <p:spPr>
          <a:xfrm>
            <a:off x="1371600" y="2011680"/>
            <a:ext cx="4389120" cy="365760"/>
          </a:xfrm>
          <a:prstGeom prst="rect">
            <a:avLst/>
          </a:prstGeom>
          <a:noFill/>
          <a:ln/>
        </p:spPr>
        <p:txBody>
          <a:bodyPr wrap="square" lIns="0" tIns="0" rIns="0" bIns="0" rtlCol="0" anchor="t"/>
          <a:lstStyle/>
          <a:p>
            <a:pPr indent="0" marL="0">
              <a:buNone/>
            </a:pPr>
            <a:r>
              <a:rPr lang="en-US" sz="1800" b="1" dirty="0">
                <a:solidFill>
                  <a:srgbClr val="1C2A30"/>
                </a:solidFill>
                <a:latin typeface="Cambria" pitchFamily="34" charset="0"/>
                <a:ea typeface="Cambria" pitchFamily="34" charset="-122"/>
                <a:cs typeface="Cambria" pitchFamily="34" charset="-120"/>
              </a:rPr>
              <a:t>Data</a:t>
            </a:r>
            <a:endParaRPr lang="en-US" sz="1800" dirty="0"/>
          </a:p>
        </p:txBody>
      </p:sp>
      <p:sp>
        <p:nvSpPr>
          <p:cNvPr id="8" name="Text 5"/>
          <p:cNvSpPr txBox="1"/>
          <p:nvPr/>
        </p:nvSpPr>
        <p:spPr>
          <a:xfrm>
            <a:off x="822960" y="2514600"/>
            <a:ext cx="4983480" cy="123444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1C2A30"/>
                </a:solidFill>
                <a:latin typeface="Calibri" pitchFamily="34" charset="0"/>
                <a:ea typeface="Calibri" pitchFamily="34" charset="-122"/>
                <a:cs typeface="Calibri" pitchFamily="34" charset="-120"/>
              </a:rPr>
              <a:t>Synthetic, calibrated: stage times are the Presentation 3 ranges, not yet measured at TMH</a:t>
            </a:r>
            <a:endParaRPr lang="en-US" sz="1300" dirty="0"/>
          </a:p>
          <a:p>
            <a:pPr marL="342900" indent="-342900">
              <a:spcAft>
                <a:spcPts val="300"/>
              </a:spcAft>
              <a:buSzPct val="100000"/>
              <a:buChar char="•"/>
            </a:pPr>
            <a:r>
              <a:rPr lang="en-US" sz="1300" dirty="0">
                <a:solidFill>
                  <a:srgbClr val="1C2A30"/>
                </a:solidFill>
                <a:latin typeface="Calibri" pitchFamily="34" charset="0"/>
                <a:ea typeface="Calibri" pitchFamily="34" charset="-122"/>
                <a:cs typeface="Calibri" pitchFamily="34" charset="-120"/>
              </a:rPr>
              <a:t>Published figures taken from abstracts; full texts still to check</a:t>
            </a:r>
            <a:endParaRPr lang="en-US" sz="1300" dirty="0"/>
          </a:p>
          <a:p>
            <a:pPr marL="342900" indent="-342900">
              <a:spcAft>
                <a:spcPts val="300"/>
              </a:spcAft>
              <a:buSzPct val="100000"/>
              <a:buChar char="•"/>
            </a:pPr>
            <a:r>
              <a:rPr lang="en-US" sz="1300" dirty="0">
                <a:solidFill>
                  <a:srgbClr val="1C2A30"/>
                </a:solidFill>
                <a:latin typeface="Calibri" pitchFamily="34" charset="0"/>
                <a:ea typeface="Calibri" pitchFamily="34" charset="-122"/>
                <a:cs typeface="Calibri" pitchFamily="34" charset="-120"/>
              </a:rPr>
              <a:t>Infusion mix from one 55-patient clinic day</a:t>
            </a:r>
            <a:endParaRPr lang="en-US" sz="1300" dirty="0"/>
          </a:p>
        </p:txBody>
      </p:sp>
      <p:sp>
        <p:nvSpPr>
          <p:cNvPr id="9" name="card74"/>
          <p:cNvSpPr/>
          <p:nvPr/>
        </p:nvSpPr>
        <p:spPr>
          <a:xfrm>
            <a:off x="6172200" y="1737360"/>
            <a:ext cx="5440680" cy="2057400"/>
          </a:xfrm>
          <a:prstGeom prst="roundRect">
            <a:avLst>
              <a:gd name="adj" fmla="val 5333"/>
            </a:avLst>
          </a:prstGeom>
          <a:solidFill>
            <a:srgbClr val="EEF3F1"/>
          </a:solidFill>
          <a:ln/>
        </p:spPr>
      </p:sp>
      <p:sp>
        <p:nvSpPr>
          <p:cNvPr id="10" name="iconbg75"/>
          <p:cNvSpPr/>
          <p:nvPr/>
        </p:nvSpPr>
        <p:spPr>
          <a:xfrm>
            <a:off x="6400800" y="1965960"/>
            <a:ext cx="457200" cy="457200"/>
          </a:xfrm>
          <a:prstGeom prst="ellipse">
            <a:avLst/>
          </a:prstGeom>
          <a:solidFill>
            <a:schemeClr val="accent1"/>
          </a:solidFill>
          <a:ln/>
        </p:spPr>
      </p:sp>
      <p:pic>
        <p:nvPicPr>
          <p:cNvPr id="11" name="icon75" descr="preencoded.png">    </p:cNvPr>
          <p:cNvPicPr>
            <a:picLocks noChangeAspect="1"/>
          </p:cNvPicPr>
          <p:nvPr/>
        </p:nvPicPr>
        <p:blipFill>
          <a:blip r:embed="rId2"/>
          <a:stretch>
            <a:fillRect/>
          </a:stretch>
        </p:blipFill>
        <p:spPr>
          <a:xfrm>
            <a:off x="6501384" y="2066544"/>
            <a:ext cx="256032" cy="256032"/>
          </a:xfrm>
          <a:prstGeom prst="rect">
            <a:avLst/>
          </a:prstGeom>
        </p:spPr>
      </p:pic>
      <p:sp>
        <p:nvSpPr>
          <p:cNvPr id="12" name="Text 8"/>
          <p:cNvSpPr txBox="1"/>
          <p:nvPr/>
        </p:nvSpPr>
        <p:spPr>
          <a:xfrm>
            <a:off x="6995160" y="2011680"/>
            <a:ext cx="4389120" cy="365760"/>
          </a:xfrm>
          <a:prstGeom prst="rect">
            <a:avLst/>
          </a:prstGeom>
          <a:noFill/>
          <a:ln/>
        </p:spPr>
        <p:txBody>
          <a:bodyPr wrap="square" lIns="0" tIns="0" rIns="0" bIns="0" rtlCol="0" anchor="t"/>
          <a:lstStyle/>
          <a:p>
            <a:pPr indent="0" marL="0">
              <a:buNone/>
            </a:pPr>
            <a:r>
              <a:rPr lang="en-US" sz="1800" b="1" dirty="0">
                <a:solidFill>
                  <a:srgbClr val="1C2A30"/>
                </a:solidFill>
                <a:latin typeface="Cambria" pitchFamily="34" charset="0"/>
                <a:ea typeface="Cambria" pitchFamily="34" charset="-122"/>
                <a:cs typeface="Cambria" pitchFamily="34" charset="-120"/>
              </a:rPr>
              <a:t>Unit</a:t>
            </a:r>
            <a:endParaRPr lang="en-US" sz="1800" dirty="0"/>
          </a:p>
        </p:txBody>
      </p:sp>
      <p:sp>
        <p:nvSpPr>
          <p:cNvPr id="13" name="Text 9"/>
          <p:cNvSpPr txBox="1"/>
          <p:nvPr/>
        </p:nvSpPr>
        <p:spPr>
          <a:xfrm>
            <a:off x="6446520" y="2514600"/>
            <a:ext cx="4983480" cy="123444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1C2A30"/>
                </a:solidFill>
                <a:latin typeface="Calibri" pitchFamily="34" charset="0"/>
                <a:ea typeface="Calibri" pitchFamily="34" charset="-122"/>
                <a:cs typeface="Calibri" pitchFamily="34" charset="-120"/>
              </a:rPr>
              <a:t>Generic unit: 20 chairs, 8 nurses, 08:00–18:00, 60% of chair-hours booked</a:t>
            </a:r>
            <a:endParaRPr lang="en-US" sz="1300" dirty="0"/>
          </a:p>
          <a:p>
            <a:pPr marL="342900" indent="-342900">
              <a:spcAft>
                <a:spcPts val="300"/>
              </a:spcAft>
              <a:buSzPct val="100000"/>
              <a:buChar char="•"/>
            </a:pPr>
            <a:r>
              <a:rPr lang="en-US" sz="1300" dirty="0">
                <a:solidFill>
                  <a:srgbClr val="1C2A30"/>
                </a:solidFill>
                <a:latin typeface="Calibri" pitchFamily="34" charset="0"/>
                <a:ea typeface="Calibri" pitchFamily="34" charset="-122"/>
                <a:cs typeface="Calibri" pitchFamily="34" charset="-120"/>
              </a:rPr>
              <a:t>Presentation 3's 80% load is infeasible: 156 min overtime</a:t>
            </a:r>
            <a:endParaRPr lang="en-US" sz="1300" dirty="0"/>
          </a:p>
          <a:p>
            <a:pPr marL="342900" indent="-342900">
              <a:spcAft>
                <a:spcPts val="300"/>
              </a:spcAft>
              <a:buSzPct val="100000"/>
              <a:buChar char="•"/>
            </a:pPr>
            <a:r>
              <a:rPr lang="en-US" sz="1300" dirty="0">
                <a:solidFill>
                  <a:srgbClr val="1C2A30"/>
                </a:solidFill>
                <a:latin typeface="Calibri" pitchFamily="34" charset="0"/>
                <a:ea typeface="Calibri" pitchFamily="34" charset="-122"/>
                <a:cs typeface="Calibri" pitchFamily="34" charset="-120"/>
              </a:rPr>
              <a:t>TMH runs 24 h with walk-ins; walk-ins are outside the model</a:t>
            </a:r>
            <a:endParaRPr lang="en-US" sz="1300" dirty="0"/>
          </a:p>
        </p:txBody>
      </p:sp>
      <p:sp>
        <p:nvSpPr>
          <p:cNvPr id="14" name="card76"/>
          <p:cNvSpPr/>
          <p:nvPr/>
        </p:nvSpPr>
        <p:spPr>
          <a:xfrm>
            <a:off x="548640" y="3977640"/>
            <a:ext cx="5440680" cy="2057400"/>
          </a:xfrm>
          <a:prstGeom prst="roundRect">
            <a:avLst>
              <a:gd name="adj" fmla="val 5333"/>
            </a:avLst>
          </a:prstGeom>
          <a:solidFill>
            <a:srgbClr val="EEF3F1"/>
          </a:solidFill>
          <a:ln/>
        </p:spPr>
      </p:sp>
      <p:sp>
        <p:nvSpPr>
          <p:cNvPr id="15" name="iconbg77"/>
          <p:cNvSpPr/>
          <p:nvPr/>
        </p:nvSpPr>
        <p:spPr>
          <a:xfrm>
            <a:off x="777240" y="4206240"/>
            <a:ext cx="457200" cy="457200"/>
          </a:xfrm>
          <a:prstGeom prst="ellipse">
            <a:avLst/>
          </a:prstGeom>
          <a:solidFill>
            <a:schemeClr val="accent1"/>
          </a:solidFill>
          <a:ln/>
        </p:spPr>
      </p:sp>
      <p:pic>
        <p:nvPicPr>
          <p:cNvPr id="16" name="icon77" descr="preencoded.png">    </p:cNvPr>
          <p:cNvPicPr>
            <a:picLocks noChangeAspect="1"/>
          </p:cNvPicPr>
          <p:nvPr/>
        </p:nvPicPr>
        <p:blipFill>
          <a:blip r:embed="rId3"/>
          <a:stretch>
            <a:fillRect/>
          </a:stretch>
        </p:blipFill>
        <p:spPr>
          <a:xfrm>
            <a:off x="877824" y="4306824"/>
            <a:ext cx="256032" cy="256032"/>
          </a:xfrm>
          <a:prstGeom prst="rect">
            <a:avLst/>
          </a:prstGeom>
        </p:spPr>
      </p:pic>
      <p:sp>
        <p:nvSpPr>
          <p:cNvPr id="17" name="Text 12"/>
          <p:cNvSpPr txBox="1"/>
          <p:nvPr/>
        </p:nvSpPr>
        <p:spPr>
          <a:xfrm>
            <a:off x="1371600" y="4251960"/>
            <a:ext cx="4389120" cy="365760"/>
          </a:xfrm>
          <a:prstGeom prst="rect">
            <a:avLst/>
          </a:prstGeom>
          <a:noFill/>
          <a:ln/>
        </p:spPr>
        <p:txBody>
          <a:bodyPr wrap="square" lIns="0" tIns="0" rIns="0" bIns="0" rtlCol="0" anchor="t"/>
          <a:lstStyle/>
          <a:p>
            <a:pPr indent="0" marL="0">
              <a:buNone/>
            </a:pPr>
            <a:r>
              <a:rPr lang="en-US" sz="1800" b="1" dirty="0">
                <a:solidFill>
                  <a:srgbClr val="1C2A30"/>
                </a:solidFill>
                <a:latin typeface="Cambria" pitchFamily="34" charset="0"/>
                <a:ea typeface="Cambria" pitchFamily="34" charset="-122"/>
                <a:cs typeface="Cambria" pitchFamily="34" charset="-120"/>
              </a:rPr>
              <a:t>Behaviour</a:t>
            </a:r>
            <a:endParaRPr lang="en-US" sz="1800" dirty="0"/>
          </a:p>
        </p:txBody>
      </p:sp>
      <p:sp>
        <p:nvSpPr>
          <p:cNvPr id="18" name="Text 13"/>
          <p:cNvSpPr txBox="1"/>
          <p:nvPr/>
        </p:nvSpPr>
        <p:spPr>
          <a:xfrm>
            <a:off x="822960" y="4754880"/>
            <a:ext cx="4983480" cy="123444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1C2A30"/>
                </a:solidFill>
                <a:latin typeface="Calibri" pitchFamily="34" charset="0"/>
                <a:ea typeface="Calibri" pitchFamily="34" charset="-122"/>
                <a:cs typeface="Calibri" pitchFamily="34" charset="-120"/>
              </a:rPr>
              <a:t>A ready patient may start before the slot if a chair and nurse are free</a:t>
            </a:r>
            <a:endParaRPr lang="en-US" sz="1300" dirty="0"/>
          </a:p>
          <a:p>
            <a:pPr marL="342900" indent="-342900">
              <a:spcAft>
                <a:spcPts val="300"/>
              </a:spcAft>
              <a:buSzPct val="100000"/>
              <a:buChar char="•"/>
            </a:pPr>
            <a:r>
              <a:rPr lang="en-US" sz="1300" dirty="0">
                <a:solidFill>
                  <a:srgbClr val="1C2A30"/>
                </a:solidFill>
                <a:latin typeface="Calibri" pitchFamily="34" charset="0"/>
                <a:ea typeface="Calibri" pitchFamily="34" charset="-122"/>
                <a:cs typeface="Calibri" pitchFamily="34" charset="-120"/>
              </a:rPr>
              <a:t>Setup and takedown each need one whole nurse; one nurse watches 4 drips</a:t>
            </a:r>
            <a:endParaRPr lang="en-US" sz="1300" dirty="0"/>
          </a:p>
          <a:p>
            <a:pPr marL="342900" indent="-342900">
              <a:spcAft>
                <a:spcPts val="300"/>
              </a:spcAft>
              <a:buSzPct val="100000"/>
              <a:buChar char="•"/>
            </a:pPr>
            <a:r>
              <a:rPr lang="en-US" sz="1300" dirty="0">
                <a:solidFill>
                  <a:srgbClr val="1C2A30"/>
                </a:solidFill>
                <a:latin typeface="Calibri" pitchFamily="34" charset="0"/>
                <a:ea typeface="Calibri" pitchFamily="34" charset="-122"/>
                <a:cs typeface="Calibri" pitchFamily="34" charset="-120"/>
              </a:rPr>
              <a:t>Billing is an approval delay, not a queue; unfit 8%, no-show 5%</a:t>
            </a:r>
            <a:endParaRPr lang="en-US" sz="1300" dirty="0"/>
          </a:p>
        </p:txBody>
      </p:sp>
      <p:sp>
        <p:nvSpPr>
          <p:cNvPr id="19" name="card78"/>
          <p:cNvSpPr/>
          <p:nvPr/>
        </p:nvSpPr>
        <p:spPr>
          <a:xfrm>
            <a:off x="6172200" y="3977640"/>
            <a:ext cx="5440680" cy="2057400"/>
          </a:xfrm>
          <a:prstGeom prst="roundRect">
            <a:avLst>
              <a:gd name="adj" fmla="val 5333"/>
            </a:avLst>
          </a:prstGeom>
          <a:solidFill>
            <a:srgbClr val="EEF3F1"/>
          </a:solidFill>
          <a:ln/>
        </p:spPr>
      </p:sp>
      <p:sp>
        <p:nvSpPr>
          <p:cNvPr id="20" name="iconbg79"/>
          <p:cNvSpPr/>
          <p:nvPr/>
        </p:nvSpPr>
        <p:spPr>
          <a:xfrm>
            <a:off x="6400800" y="4206240"/>
            <a:ext cx="457200" cy="457200"/>
          </a:xfrm>
          <a:prstGeom prst="ellipse">
            <a:avLst/>
          </a:prstGeom>
          <a:solidFill>
            <a:schemeClr val="accent1"/>
          </a:solidFill>
          <a:ln/>
        </p:spPr>
      </p:sp>
      <p:pic>
        <p:nvPicPr>
          <p:cNvPr id="21" name="icon79" descr="preencoded.png">    </p:cNvPr>
          <p:cNvPicPr>
            <a:picLocks noChangeAspect="1"/>
          </p:cNvPicPr>
          <p:nvPr/>
        </p:nvPicPr>
        <p:blipFill>
          <a:blip r:embed="rId4"/>
          <a:stretch>
            <a:fillRect/>
          </a:stretch>
        </p:blipFill>
        <p:spPr>
          <a:xfrm>
            <a:off x="6501384" y="4306824"/>
            <a:ext cx="256032" cy="256032"/>
          </a:xfrm>
          <a:prstGeom prst="rect">
            <a:avLst/>
          </a:prstGeom>
        </p:spPr>
      </p:pic>
      <p:sp>
        <p:nvSpPr>
          <p:cNvPr id="22" name="Text 16"/>
          <p:cNvSpPr txBox="1"/>
          <p:nvPr/>
        </p:nvSpPr>
        <p:spPr>
          <a:xfrm>
            <a:off x="6995160" y="4251960"/>
            <a:ext cx="4389120" cy="365760"/>
          </a:xfrm>
          <a:prstGeom prst="rect">
            <a:avLst/>
          </a:prstGeom>
          <a:noFill/>
          <a:ln/>
        </p:spPr>
        <p:txBody>
          <a:bodyPr wrap="square" lIns="0" tIns="0" rIns="0" bIns="0" rtlCol="0" anchor="t"/>
          <a:lstStyle/>
          <a:p>
            <a:pPr indent="0" marL="0">
              <a:buNone/>
            </a:pPr>
            <a:r>
              <a:rPr lang="en-US" sz="1800" b="1" dirty="0">
                <a:solidFill>
                  <a:srgbClr val="1C2A30"/>
                </a:solidFill>
                <a:latin typeface="Cambria" pitchFamily="34" charset="0"/>
                <a:ea typeface="Cambria" pitchFamily="34" charset="-122"/>
                <a:cs typeface="Cambria" pitchFamily="34" charset="-120"/>
              </a:rPr>
              <a:t>Model</a:t>
            </a:r>
            <a:endParaRPr lang="en-US" sz="1800" dirty="0"/>
          </a:p>
        </p:txBody>
      </p:sp>
      <p:sp>
        <p:nvSpPr>
          <p:cNvPr id="23" name="Text 17"/>
          <p:cNvSpPr txBox="1"/>
          <p:nvPr/>
        </p:nvSpPr>
        <p:spPr>
          <a:xfrm>
            <a:off x="6446520" y="4754880"/>
            <a:ext cx="4983480" cy="123444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1C2A30"/>
                </a:solidFill>
                <a:latin typeface="Calibri" pitchFamily="34" charset="0"/>
                <a:ea typeface="Calibri" pitchFamily="34" charset="-122"/>
                <a:cs typeface="Calibri" pitchFamily="34" charset="-120"/>
              </a:rPr>
              <a:t>The MIP plans with mean durations; the simulation adds all randomness</a:t>
            </a:r>
            <a:endParaRPr lang="en-US" sz="1300" dirty="0"/>
          </a:p>
          <a:p>
            <a:pPr marL="342900" indent="-342900">
              <a:spcAft>
                <a:spcPts val="300"/>
              </a:spcAft>
              <a:buSzPct val="100000"/>
              <a:buChar char="•"/>
            </a:pPr>
            <a:r>
              <a:rPr lang="en-US" sz="1300" dirty="0">
                <a:solidFill>
                  <a:srgbClr val="1C2A30"/>
                </a:solidFill>
                <a:latin typeface="Calibri" pitchFamily="34" charset="0"/>
                <a:ea typeface="Calibri" pitchFamily="34" charset="-122"/>
                <a:cs typeface="Calibri" pitchFamily="34" charset="-120"/>
              </a:rPr>
              <a:t>15 s solver limit, 1% gap; greedy fallback if no solution</a:t>
            </a:r>
            <a:endParaRPr lang="en-US" sz="1300" dirty="0"/>
          </a:p>
          <a:p>
            <a:pPr marL="342900" indent="-342900">
              <a:spcAft>
                <a:spcPts val="300"/>
              </a:spcAft>
              <a:buSzPct val="100000"/>
              <a:buChar char="•"/>
            </a:pPr>
            <a:r>
              <a:rPr lang="en-US" sz="1300" dirty="0">
                <a:solidFill>
                  <a:srgbClr val="1C2A30"/>
                </a:solidFill>
                <a:latin typeface="Calibri" pitchFamily="34" charset="0"/>
                <a:ea typeface="Calibri" pitchFamily="34" charset="-122"/>
                <a:cs typeface="Calibri" pitchFamily="34" charset="-120"/>
              </a:rPr>
              <a:t>Buffers sized for a 60–120 min lab</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rgbClr val="9FC9C3"/>
                </a:solidFill>
              </a:rPr>
              <a:t>SUMMARY</a:t>
            </a: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Summary</a:t>
            </a:r>
            <a:endParaRPr lang="en-US" sz="3400" dirty="0"/>
          </a:p>
        </p:txBody>
      </p:sp>
      <p:sp>
        <p:nvSpPr>
          <p:cNvPr id="4" name="Text 2"/>
          <p:cNvSpPr txBox="1"/>
          <p:nvPr/>
        </p:nvSpPr>
        <p:spPr>
          <a:xfrm>
            <a:off x="548640" y="1691640"/>
            <a:ext cx="11064240" cy="603504"/>
          </a:xfrm>
          <a:prstGeom prst="rect">
            <a:avLst/>
          </a:prstGeom>
          <a:noFill/>
          <a:ln/>
        </p:spPr>
        <p:txBody>
          <a:bodyPr wrap="square" lIns="0" tIns="0" rIns="0" bIns="0" rtlCol="0" anchor="ctr"/>
          <a:lstStyle/>
          <a:p>
            <a:pPr indent="0" marL="0">
              <a:buNone/>
            </a:pPr>
            <a:r>
              <a:rPr lang="en-US" sz="1550" b="1" dirty="0">
                <a:solidFill>
                  <a:srgbClr val="7FD1C7"/>
                </a:solidFill>
                <a:latin typeface="Calibri" pitchFamily="34" charset="0"/>
                <a:ea typeface="Calibri" pitchFamily="34" charset="-122"/>
                <a:cs typeface="Calibri" pitchFamily="34" charset="-120"/>
              </a:rPr>
              <a:t>Problem</a:t>
            </a:r>
            <a:pPr indent="0" marL="0">
              <a:buNone/>
            </a:pPr>
            <a:r>
              <a:rPr lang="en-US" sz="1550" dirty="0">
                <a:solidFill>
                  <a:srgbClr val="FFFFFF"/>
                </a:solidFill>
                <a:latin typeface="Calibri" pitchFamily="34" charset="0"/>
                <a:ea typeface="Calibri" pitchFamily="34" charset="-122"/>
                <a:cs typeface="Calibri" pitchFamily="34" charset="-120"/>
              </a:rPr>
              <a:t>	Patients wait 3–4 h because same-day blood work makes them ready only around 11:00; 37% of chair-hours are lost to it.</a:t>
            </a:r>
            <a:endParaRPr lang="en-US" sz="1550" dirty="0"/>
          </a:p>
        </p:txBody>
      </p:sp>
      <p:sp>
        <p:nvSpPr>
          <p:cNvPr id="5" name="Text 3"/>
          <p:cNvSpPr txBox="1"/>
          <p:nvPr/>
        </p:nvSpPr>
        <p:spPr>
          <a:xfrm>
            <a:off x="548640" y="2350008"/>
            <a:ext cx="11064240" cy="603504"/>
          </a:xfrm>
          <a:prstGeom prst="rect">
            <a:avLst/>
          </a:prstGeom>
          <a:noFill/>
          <a:ln/>
        </p:spPr>
        <p:txBody>
          <a:bodyPr wrap="square" lIns="0" tIns="0" rIns="0" bIns="0" rtlCol="0" anchor="ctr"/>
          <a:lstStyle/>
          <a:p>
            <a:pPr indent="0" marL="0">
              <a:buNone/>
            </a:pPr>
            <a:r>
              <a:rPr lang="en-US" sz="1550" b="1" dirty="0">
                <a:solidFill>
                  <a:srgbClr val="7FD1C7"/>
                </a:solidFill>
                <a:latin typeface="Calibri" pitchFamily="34" charset="0"/>
                <a:ea typeface="Calibri" pitchFamily="34" charset="-122"/>
                <a:cs typeface="Calibri" pitchFamily="34" charset="-120"/>
              </a:rPr>
              <a:t>Proposal</a:t>
            </a:r>
            <a:pPr indent="0" marL="0">
              <a:buNone/>
            </a:pPr>
            <a:r>
              <a:rPr lang="en-US" sz="1550" dirty="0">
                <a:solidFill>
                  <a:srgbClr val="FFFFFF"/>
                </a:solidFill>
                <a:latin typeface="Calibri" pitchFamily="34" charset="0"/>
                <a:ea typeface="Calibri" pitchFamily="34" charset="-122"/>
                <a:cs typeface="Calibri" pitchFamily="34" charset="-120"/>
              </a:rPr>
              <a:t>	Two times per patient, arrival and chair, with chair = arrival + an 80% buffer (90 / 210 min), slots set by an integer programme.</a:t>
            </a:r>
            <a:endParaRPr lang="en-US" sz="1550" dirty="0"/>
          </a:p>
        </p:txBody>
      </p:sp>
      <p:sp>
        <p:nvSpPr>
          <p:cNvPr id="6" name="Text 4"/>
          <p:cNvSpPr txBox="1"/>
          <p:nvPr/>
        </p:nvSpPr>
        <p:spPr>
          <a:xfrm>
            <a:off x="548640" y="3008376"/>
            <a:ext cx="11064240" cy="603504"/>
          </a:xfrm>
          <a:prstGeom prst="rect">
            <a:avLst/>
          </a:prstGeom>
          <a:noFill/>
          <a:ln/>
        </p:spPr>
        <p:txBody>
          <a:bodyPr wrap="square" lIns="0" tIns="0" rIns="0" bIns="0" rtlCol="0" anchor="ctr"/>
          <a:lstStyle/>
          <a:p>
            <a:pPr indent="0" marL="0">
              <a:buNone/>
            </a:pPr>
            <a:r>
              <a:rPr lang="en-US" sz="1550" b="1" dirty="0">
                <a:solidFill>
                  <a:srgbClr val="7FD1C7"/>
                </a:solidFill>
                <a:latin typeface="Calibri" pitchFamily="34" charset="0"/>
                <a:ea typeface="Calibri" pitchFamily="34" charset="-122"/>
                <a:cs typeface="Calibri" pitchFamily="34" charset="-120"/>
              </a:rPr>
              <a:t>Evidence</a:t>
            </a:r>
            <a:pPr indent="0" marL="0">
              <a:buNone/>
            </a:pPr>
            <a:r>
              <a:rPr lang="en-US" sz="1550" dirty="0">
                <a:solidFill>
                  <a:srgbClr val="FFFFFF"/>
                </a:solidFill>
                <a:latin typeface="Calibri" pitchFamily="34" charset="0"/>
                <a:ea typeface="Calibri" pitchFamily="34" charset="-122"/>
                <a:cs typeface="Calibri" pitchFamily="34" charset="-120"/>
              </a:rPr>
              <a:t>	Calibrated dataset (23/23 checks), verified simulation (10/10), MIP matches brute force (6/6), 100 identical days per scenario.</a:t>
            </a:r>
            <a:endParaRPr lang="en-US" sz="1550" dirty="0"/>
          </a:p>
        </p:txBody>
      </p:sp>
      <p:sp>
        <p:nvSpPr>
          <p:cNvPr id="7" name="Text 5"/>
          <p:cNvSpPr txBox="1"/>
          <p:nvPr/>
        </p:nvSpPr>
        <p:spPr>
          <a:xfrm>
            <a:off x="548640" y="3666744"/>
            <a:ext cx="11064240" cy="603504"/>
          </a:xfrm>
          <a:prstGeom prst="rect">
            <a:avLst/>
          </a:prstGeom>
          <a:noFill/>
          <a:ln/>
        </p:spPr>
        <p:txBody>
          <a:bodyPr wrap="square" lIns="0" tIns="0" rIns="0" bIns="0" rtlCol="0" anchor="ctr"/>
          <a:lstStyle/>
          <a:p>
            <a:pPr indent="0" marL="0">
              <a:buNone/>
            </a:pPr>
            <a:r>
              <a:rPr lang="en-US" sz="1550" b="1" dirty="0">
                <a:solidFill>
                  <a:srgbClr val="7FD1C7"/>
                </a:solidFill>
                <a:latin typeface="Calibri" pitchFamily="34" charset="0"/>
                <a:ea typeface="Calibri" pitchFamily="34" charset="-122"/>
                <a:cs typeface="Calibri" pitchFamily="34" charset="-120"/>
              </a:rPr>
              <a:t>Result</a:t>
            </a:r>
            <a:pPr indent="0" marL="0">
              <a:buNone/>
            </a:pPr>
            <a:r>
              <a:rPr lang="en-US" sz="1550" dirty="0">
                <a:solidFill>
                  <a:srgbClr val="FFFFFF"/>
                </a:solidFill>
                <a:latin typeface="Calibri" pitchFamily="34" charset="0"/>
                <a:ea typeface="Calibri" pitchFamily="34" charset="-122"/>
                <a:cs typeface="Calibri" pitchFamily="34" charset="-120"/>
              </a:rPr>
              <a:t>	Booking alone: overtime −71%. With 60% pre-cleared and pre-compounding: wait 316 → 157 min, overtime 127 → 10 min.</a:t>
            </a:r>
            <a:endParaRPr lang="en-US" sz="1550" dirty="0"/>
          </a:p>
        </p:txBody>
      </p:sp>
      <p:sp>
        <p:nvSpPr>
          <p:cNvPr id="8" name="Text 6"/>
          <p:cNvSpPr txBox="1"/>
          <p:nvPr/>
        </p:nvSpPr>
        <p:spPr>
          <a:xfrm>
            <a:off x="548640" y="4325112"/>
            <a:ext cx="11064240" cy="603504"/>
          </a:xfrm>
          <a:prstGeom prst="rect">
            <a:avLst/>
          </a:prstGeom>
          <a:noFill/>
          <a:ln/>
        </p:spPr>
        <p:txBody>
          <a:bodyPr wrap="square" lIns="0" tIns="0" rIns="0" bIns="0" rtlCol="0" anchor="ctr"/>
          <a:lstStyle/>
          <a:p>
            <a:pPr indent="0" marL="0">
              <a:buNone/>
            </a:pPr>
            <a:r>
              <a:rPr lang="en-US" sz="1550" b="1" dirty="0">
                <a:solidFill>
                  <a:srgbClr val="7FD1C7"/>
                </a:solidFill>
                <a:latin typeface="Calibri" pitchFamily="34" charset="0"/>
                <a:ea typeface="Calibri" pitchFamily="34" charset="-122"/>
                <a:cs typeface="Calibri" pitchFamily="34" charset="-120"/>
              </a:rPr>
              <a:t>Next</a:t>
            </a:r>
            <a:pPr indent="0" marL="0">
              <a:buNone/>
            </a:pPr>
            <a:r>
              <a:rPr lang="en-US" sz="1550" dirty="0">
                <a:solidFill>
                  <a:srgbClr val="FFFFFF"/>
                </a:solidFill>
                <a:latin typeface="Calibri" pitchFamily="34" charset="0"/>
                <a:ea typeface="Calibri" pitchFamily="34" charset="-122"/>
                <a:cs typeface="Calibri" pitchFamily="34" charset="-120"/>
              </a:rPr>
              <a:t>	Measure TMH stage times, lab turnaround first, and refit every input.</a:t>
            </a:r>
            <a:endParaRPr lang="en-US" sz="1550" dirty="0"/>
          </a:p>
        </p:txBody>
      </p:sp>
      <p:sp>
        <p:nvSpPr>
          <p:cNvPr id="9" name="final80"/>
          <p:cNvSpPr/>
          <p:nvPr/>
        </p:nvSpPr>
        <p:spPr>
          <a:xfrm>
            <a:off x="548640" y="5120640"/>
            <a:ext cx="11064240" cy="914400"/>
          </a:xfrm>
          <a:prstGeom prst="roundRect">
            <a:avLst>
              <a:gd name="adj" fmla="val 12000"/>
            </a:avLst>
          </a:prstGeom>
          <a:solidFill>
            <a:srgbClr val="1C4541"/>
          </a:solidFill>
          <a:ln/>
        </p:spPr>
      </p:sp>
      <p:sp>
        <p:nvSpPr>
          <p:cNvPr id="10" name="Text 8"/>
          <p:cNvSpPr txBox="1"/>
          <p:nvPr/>
        </p:nvSpPr>
        <p:spPr>
          <a:xfrm>
            <a:off x="822960" y="5120640"/>
            <a:ext cx="10515600" cy="9144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Telling each patient two times, and clearing 60% of them the day before, halves the wait and nearly removes overtime, with no new chairs or staff.</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C9C3"/>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INFUCINQ Clinic">
  <a:themeElements>
    <a:clrScheme name="INFUCINQ Clinic">
      <a:dk1>
        <a:srgbClr val="1C2A30"/>
      </a:dk1>
      <a:lt1>
        <a:srgbClr val="FFFFFF"/>
      </a:lt1>
      <a:dk2>
        <a:srgbClr val="12302D"/>
      </a:dk2>
      <a:lt2>
        <a:srgbClr val="EEF3F1"/>
      </a:lt2>
      <a:accent1>
        <a:srgbClr val="0F766E"/>
      </a:accent1>
      <a:accent2>
        <a:srgbClr val="EB6834"/>
      </a:accent2>
      <a:accent3>
        <a:srgbClr val="2A78D6"/>
      </a:accent3>
      <a:accent4>
        <a:srgbClr val="EDA100"/>
      </a:accent4>
      <a:accent5>
        <a:srgbClr val="6250D6"/>
      </a:accent5>
      <a:accent6>
        <a:srgbClr val="1BAF7A"/>
      </a:accent6>
      <a:hlink>
        <a:srgbClr val="0F766E"/>
      </a:hlink>
      <a:folHlink>
        <a:srgbClr val="6250D6"/>
      </a:folHlink>
    </a:clrScheme>
    <a:fontScheme name="INFUCINQ Clini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IE301 Operations Analysis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Two times per patient</dc:title>
  <dc:subject>PptxGenJS Presentation</dc:subject>
  <dc:creator>Team INFUCINQ</dc:creator>
  <cp:lastModifiedBy>Team INFUCINQ</cp:lastModifiedBy>
  <cp:revision>1</cp:revision>
  <dcterms:created xsi:type="dcterms:W3CDTF">2026-10-27T10:54:51Z</dcterms:created>
  <dcterms:modified xsi:type="dcterms:W3CDTF">2026-10-27T10:54:51Z</dcterms:modified>
</cp:coreProperties>
</file>